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"/>
  </p:notesMasterIdLst>
  <p:sldIdLst>
    <p:sldId id="256" r:id="rId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2" Type="http://schemas.openxmlformats.org/officeDocument/2006/relationships/notesMaster" Target="notesMasters/notesMaster1.xml" /><Relationship Id="rId4" Type="http://schemas.openxmlformats.org/officeDocument/2006/relationships/tableStyles" Target="tableStyles.xml" /><Relationship Id="rId3" Type="http://schemas.openxmlformats.org/officeDocument/2006/relationships/presProps" Target="presProps.xml" /><Relationship Id="rId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'1280px', height: '720px', padding: 0, background: '#0B1E3F' }}&gt;&#10;  {/* Decorative accent shapes */}&#10;  &lt;Box style={{ position: 'absolute', top: 0, left: 0, width: '8px', height: '720px', background: 'linear-gradient(180deg, #06B6D4 0%, #2563EB 100%)' }} /&gt;&#10;  &lt;Box style={{ position: 'absolute', top: 80, right: 60, width: '320px', height: '320px', borderRadius: '50%', background: 'radial-gradient(circle, rgba(6,182,212,0.15) 0%, rgba(6,182,212,0) 70%)' }} /&gt;&#10;  &lt;Box style={{ position: 'absolute', bottom: 40, right: 120, width: '180px', height: '180px', borderRadius: '50%', background: 'radial-gradient(circle, rgba(37,99,235,0.2) 0%, rgba(37,99,235,0) 70%)' }} /&gt;&#10;&#10;  {/* Top badge bar */}&#10;  &lt;Box style={{ position: 'absolute', top: 40, left: 60, flexDirection: 'row', alignItems: 'center', gap: 12 }}&gt;&#10;    &lt;Box style={{ width: 12, height: 12, borderRadius: '50%', background: '#06B6D4' }} /&gt;&#10;    &lt;Text style={{ fontSize: 14, color: '#06B6D4', fontWeight: 600, letterSpacing: 2 }}&gt;DORMATHON 2026 · TRACK 2&lt;/Text&gt;&#10;  &lt;/Box&gt;&#10;&#10;  &lt;Box style={{ position: 'absolute', top: 40, right: 60, padding: '6px 16px', borderRadius: 20, background: 'rgba(239,68,68,0.18)', border: '1px solid rgba(239,68,68,0.5)' }}&gt;&#10;    &lt;Text style={{ fontSize: 12, color: '#FCA5A5', fontWeight: 700, letterSpacing: 1 }}&gt;SIMULATED HISTORICAL DATA&lt;/Text&gt;&#10;  &lt;/Box&gt;&#10;&#10;  {/* Main title block */}&#10;  &lt;Box style={{ position: 'absolute', top: 180, left: 60, width: '900px' }}&gt;&#10;    &lt;Text style={{ fontSize: 18, color: '#06B6D4', fontWeight: 600, letterSpacing: 3, marginBottom: 16 }}&gt;AGENTIC SOLUTIONS&lt;/Text&gt;&#10;    &lt;Text style={{ fontSize: 64, color: '#FFFFFF', fontWeight: 800, lineHeight: 1.1, marginBottom: 8 }}&gt;&#10;      GenBuddy&#10;    &lt;/Text&gt;&#10;    &lt;Text style={{ fontSize: 32, color: '#FFFFFF', fontWeight: 500, lineHeight: 1.3, marginBottom: 24 }}&gt;&#10;      AI-Powered Backup Generator&#10;      &lt;br /&gt;&#10;      Maintenance Assistant&#10;    &lt;/Text&gt;&#10;    &lt;Text style={{ fontSize: 16, color: '#94A3B8', lineHeight: 1.5 }}&gt;&#10;      Turn generator telemetry, ATS events, and maintenance records&#10;      &lt;br /&gt;&#10;      into actionable readiness assessments — with a WorkBuddy AI agent&#10;      &lt;br /&gt;&#10;      that plans, investigates, and reasons on its own.&#10;    &lt;/Text&gt;&#10;  &lt;/Box&gt;&#10;&#10;  {/* Hero metric strip */}&#10;  &lt;Box style={{ position: 'absolute', bottom: 110, left: 60, flexDirection: 'row', gap: 56 }}&gt;&#10;    &lt;Box&gt;&#10;      &lt;Text style={{ fontSize: 36, color: '#06B6D4', fontWeight: 800, lineHeight: 1 }}&gt;356&lt;/Text&gt;&#10;      &lt;Text style={{ fontSize: 12, color: '#94A3B8', marginTop: 4 }}&gt;Telemetry records&lt;/Text&gt;&#10;    &lt;/Box&gt;&#10;    &lt;Box&gt;&#10;      &lt;Text style={{ fontSize: 36, color: '#06B6D4', fontWeight: 800, lineHeight: 1 }}&gt;3&lt;/Text&gt;&#10;      &lt;Text style={{ fontSize: 12, color: '#94A3B8', marginTop: 4 }}&gt;AI investigations&lt;/Text&gt;&#10;    &lt;/Box&gt;&#10;    &lt;Box&gt;&#10;      &lt;Text style={{ fontSize: 36, color: '#06B6D4', fontWeight: 800, lineHeight: 1 }}&gt;7&lt;/Text&gt;&#10;      &lt;Text style={{ fontSize: 12, color: '#94A3B8', marginTop: 4 }}&gt;Agent reports&lt;/Text&gt;&#10;    &lt;/Box&gt;&#10;    &lt;Box&gt;&#10;      &lt;Text style={{ fontSize: 36, color: '#06B6D4', fontWeight: 800, lineHeight: 1 }}&gt;13&lt;/Text&gt;&#10;      &lt;Text style={{ fontSize: 12, color: '#94A3B8', marginTop: 4 }}&gt;Planned steps (Inv 1)&lt;/Text&gt;&#10;    &lt;/Box&gt;&#10;  &lt;/Box&gt;&#10;&#10;  {/* Footer */}&#10;  &lt;Box style={{ position: 'absolute', bottom: 32, left: 60, right: 60, flexDirection: 'row', justifyContent: 'space-between', alignItems: 'center' }}&gt;&#10;    &lt;Text style={{ fontSize: 12, color: '#64748B' }}&gt;DORMATHON 2026 · Track 2: Agentic Solutions&lt;/Text&gt;&#10;    &lt;Text style={{ fontSize: 12, color: '#64748B' }}&gt;01 / 10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E3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76200" cy="6858000"/>
          </a:xfrm>
          <a:prstGeom prst="rect">
            <a:avLst/>
          </a:prstGeom>
          <a:gradFill>
            <a:gsLst>
              <a:gs pos="0">
                <a:srgbClr val="06B6D4"/>
              </a:gs>
              <a:gs pos="100000">
                <a:srgbClr val="2563EB"/>
              </a:gs>
            </a:gsLst>
            <a:lin ang="5400000" scaled="1"/>
          </a:gra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8572500" y="762000"/>
            <a:ext cx="3048000" cy="3048000"/>
          </a:xfrm>
          <a:custGeom>
            <a:pathLst>
              <a:path w="320" h="320">
                <a:moveTo>
                  <a:pt x="160" y="0"/>
                </a:moveTo>
                <a:lnTo>
                  <a:pt x="160" y="0"/>
                </a:lnTo>
                <a:cubicBezTo>
                  <a:pt x="248" y="0"/>
                  <a:pt x="320" y="72"/>
                  <a:pt x="320" y="160"/>
                </a:cubicBezTo>
                <a:lnTo>
                  <a:pt x="320" y="160"/>
                </a:lnTo>
                <a:cubicBezTo>
                  <a:pt x="320" y="248"/>
                  <a:pt x="248" y="320"/>
                  <a:pt x="160" y="320"/>
                </a:cubicBezTo>
                <a:lnTo>
                  <a:pt x="160" y="320"/>
                </a:lnTo>
                <a:cubicBezTo>
                  <a:pt x="72" y="320"/>
                  <a:pt x="0" y="248"/>
                  <a:pt x="0" y="160"/>
                </a:cubicBezTo>
                <a:lnTo>
                  <a:pt x="0" y="160"/>
                </a:lnTo>
                <a:cubicBezTo>
                  <a:pt x="0" y="72"/>
                  <a:pt x="72" y="0"/>
                  <a:pt x="160" y="0"/>
                </a:cubicBezTo>
                <a:close/>
              </a:path>
            </a:pathLst>
          </a:custGeom>
          <a:gradFill>
            <a:gsLst>
              <a:gs pos="0">
                <a:srgbClr val="06B6D4">
                  <a:alpha val="15000"/>
                </a:srgbClr>
              </a:gs>
              <a:gs pos="7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9334500" y="4762500"/>
            <a:ext cx="1714500" cy="1714500"/>
          </a:xfrm>
          <a:custGeom>
            <a:pathLst>
              <a:path w="180" h="180">
                <a:moveTo>
                  <a:pt x="90" y="0"/>
                </a:moveTo>
                <a:lnTo>
                  <a:pt x="90" y="0"/>
                </a:lnTo>
                <a:cubicBezTo>
                  <a:pt x="140" y="0"/>
                  <a:pt x="180" y="40"/>
                  <a:pt x="180" y="90"/>
                </a:cubicBezTo>
                <a:lnTo>
                  <a:pt x="180" y="90"/>
                </a:lnTo>
                <a:cubicBezTo>
                  <a:pt x="180" y="140"/>
                  <a:pt x="140" y="180"/>
                  <a:pt x="90" y="180"/>
                </a:cubicBezTo>
                <a:lnTo>
                  <a:pt x="90" y="180"/>
                </a:lnTo>
                <a:cubicBezTo>
                  <a:pt x="40" y="180"/>
                  <a:pt x="0" y="140"/>
                  <a:pt x="0" y="90"/>
                </a:cubicBezTo>
                <a:lnTo>
                  <a:pt x="0" y="90"/>
                </a:lnTo>
                <a:cubicBezTo>
                  <a:pt x="0" y="40"/>
                  <a:pt x="40" y="0"/>
                  <a:pt x="90" y="0"/>
                </a:cubicBezTo>
                <a:close/>
              </a:path>
            </a:pathLst>
          </a:custGeom>
          <a:gradFill>
            <a:gsLst>
              <a:gs pos="0">
                <a:srgbClr val="2563EB">
                  <a:alpha val="20000"/>
                </a:srgbClr>
              </a:gs>
              <a:gs pos="70000">
                <a:srgbClr val="2563E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p/>
        </p:txBody>
      </p:sp>
      <p:sp>
        <p:nvSpPr>
          <p:cNvPr id="6" name=""/>
          <p:cNvSpPr/>
          <p:nvPr/>
        </p:nvSpPr>
        <p:spPr>
          <a:xfrm rot="0" flipH="0" flipV="0">
            <a:off x="571500" y="409575"/>
            <a:ext cx="114300" cy="114300"/>
          </a:xfrm>
          <a:custGeom>
            <a:pathLst>
              <a:path w="12" h="12">
                <a:moveTo>
                  <a:pt x="6" y="0"/>
                </a:moveTo>
                <a:lnTo>
                  <a:pt x="6" y="0"/>
                </a:lnTo>
                <a:cubicBezTo>
                  <a:pt x="9" y="0"/>
                  <a:pt x="12" y="3"/>
                  <a:pt x="12" y="6"/>
                </a:cubicBezTo>
                <a:lnTo>
                  <a:pt x="12" y="6"/>
                </a:lnTo>
                <a:cubicBezTo>
                  <a:pt x="12" y="9"/>
                  <a:pt x="9" y="12"/>
                  <a:pt x="6" y="12"/>
                </a:cubicBezTo>
                <a:lnTo>
                  <a:pt x="6" y="12"/>
                </a:lnTo>
                <a:cubicBezTo>
                  <a:pt x="3" y="12"/>
                  <a:pt x="0" y="9"/>
                  <a:pt x="0" y="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800100" y="381000"/>
            <a:ext cx="2514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 spc="150">
                <a:solidFill>
                  <a:srgbClr val="06B6D4"/>
                </a:solidFill>
                <a:latin typeface="Microsoft YaHei"/>
                <a:ea typeface="Microsoft YaHei"/>
              </a:rPr>
              <a:t>DORMATHON 2026 · TRACK 2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9267825" y="381000"/>
            <a:ext cx="2352675" cy="257175"/>
          </a:xfrm>
          <a:prstGeom prst="roundRect">
            <a:avLst>
              <a:gd name="adj" fmla="val 74074"/>
            </a:avLst>
          </a:prstGeom>
          <a:solidFill>
            <a:srgbClr val="EF4444">
              <a:alpha val="18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9420225" y="438150"/>
            <a:ext cx="2047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FCA5A5"/>
                </a:solidFill>
                <a:latin typeface="Microsoft YaHei"/>
                <a:ea typeface="Microsoft YaHei"/>
              </a:rPr>
              <a:t>SIMULATED HISTORICAL DATA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571500" y="1714500"/>
            <a:ext cx="8572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 spc="225">
                <a:solidFill>
                  <a:srgbClr val="06B6D4"/>
                </a:solidFill>
                <a:latin typeface="Microsoft YaHei"/>
                <a:ea typeface="Microsoft YaHei"/>
              </a:rPr>
              <a:t>AGENTIC SOLUTIONS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571500" y="2076450"/>
            <a:ext cx="8572500" cy="8096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800" b="1">
                <a:solidFill>
                  <a:srgbClr val="FFFFFF"/>
                </a:solidFill>
                <a:latin typeface="Microsoft YaHei"/>
                <a:ea typeface="Microsoft YaHei"/>
              </a:rPr>
              <a:t>GenBuddy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571500" y="2962275"/>
            <a:ext cx="8572500" cy="9525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400">
                <a:solidFill>
                  <a:srgbClr val="FFFFFF"/>
                </a:solidFill>
                <a:latin typeface="Microsoft YaHei"/>
                <a:ea typeface="Microsoft YaHei"/>
              </a:rPr>
              <a:t>AI-Powered Backup Generator</a:t>
            </a:r>
            <a:endParaRPr/>
          </a:p>
          <a:p>
            <a:pPr>
              <a:lnSpc>
                <a:spcPct val="130000"/>
              </a:lnSpc>
            </a:pPr>
            <a:r>
              <a:rPr lang="en-US" sz="2400">
                <a:solidFill>
                  <a:srgbClr val="FFFFFF"/>
                </a:solidFill>
                <a:latin typeface="Microsoft YaHei"/>
                <a:ea typeface="Microsoft YaHei"/>
              </a:rPr>
              <a:t>Maintenance Assistant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571500" y="4143375"/>
            <a:ext cx="8572500" cy="828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Turn generator telemetry, ATS events, and maintenance records</a:t>
            </a:r>
            <a:endParaRPr/>
          </a:p>
          <a:p>
            <a:pPr>
              <a:lnSpc>
                <a:spcPct val="15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into actionable readiness assessments — with a WorkBuddy AI agent</a:t>
            </a:r>
            <a:endParaRPr/>
          </a:p>
          <a:p>
            <a:pPr>
              <a:lnSpc>
                <a:spcPct val="15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that plans, investigates, and reasons on its own.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571500" y="5210175"/>
            <a:ext cx="9810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06B6D4"/>
                </a:solidFill>
                <a:latin typeface="Microsoft YaHei"/>
                <a:ea typeface="Microsoft YaHei"/>
              </a:rPr>
              <a:t>356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571500" y="5667375"/>
            <a:ext cx="981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Telemetry records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2085975" y="5210175"/>
            <a:ext cx="9048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06B6D4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2085975" y="5667375"/>
            <a:ext cx="904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AI investigations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524250" y="5210175"/>
            <a:ext cx="762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06B6D4"/>
                </a:solidFill>
                <a:latin typeface="Microsoft YaHei"/>
                <a:ea typeface="Microsoft YaHei"/>
              </a:rPr>
              <a:t>7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3524250" y="5667375"/>
            <a:ext cx="762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Agent reports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4819650" y="5210175"/>
            <a:ext cx="1143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06B6D4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4819650" y="5667375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Planned steps (Inv 1)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571500" y="6410325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DORMATHON 2026 · Track 2: Agentic Solutions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112299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01 / 10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2026-10-10T20:17:49Z</dcterms:created>
  <dcterms:modified xsi:type="dcterms:W3CDTF">2026-10-10T20:17:49Z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{"AIGC":{"Label":"1","ContentProducer":"00119111010856365494821B355","ProduceID":"01a125bcadd07e36829a40eefc5e7708","ReservedCode1":"","ContentPropagator":"00119111010856365494821B355","PropagateID":"01a125bcadd07e36829a40eefc5e7708","ReservedCode2":""}}</vt:lpwstr>
  </property>
</Properties>
</file>