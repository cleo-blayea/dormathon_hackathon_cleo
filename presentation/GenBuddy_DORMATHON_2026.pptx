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86008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308264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000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0B1E3F' }}&gt;&#10;  {/* Decorative accent shapes */}&#10;  &lt;Box style={{ position: 'absolute', top: 0, left: 0, width: '8px', height: '720px', background: 'linear-gradient(180deg, #06B6D4 0%, #2563EB 100%)' }} /&gt;&#10;  &lt;Box style={{ position: 'absolute', top: 80, right: 60, width: '320px', height: '320px', borderRadius: '50%', background: 'radial-gradient(circle, rgba(6,182,212,0.15) 0%, rgba(6,182,212,0) 70%)' }} /&gt;&#10;  &lt;Box style={{ position: 'absolute', bottom: 40, right: 120, width: '180px', height: '180px', borderRadius: '50%', background: 'radial-gradient(circle, rgba(37,99,235,0.2) 0%, rgba(37,99,235,0) 70%)' }} /&gt;&#10;&#10;  {/* Top badge bar */}&#10;  &lt;Box style={{ position: 'absolute', top: 40, left: 60, flexDirection: 'row', alignItems: 'center', gap: 12 }}&gt;&#10;    &lt;Box style={{ width: 12, height: 12, borderRadius: '50%', background: '#06B6D4' }} /&gt;&#10;    &lt;Text style={{ fontSize: 14, color: '#06B6D4', fontWeight: 600, letterSpacing: 2 }}&gt;DORMATHON 2026 · TRACK 2&lt;/Text&gt;&#10;  &lt;/Box&gt;&#10;&#10;  &lt;Box style={{ position: 'absolute', top: 40, right: 60, padding: '6px 16px', borderRadius: 20, background: 'rgba(239,68,68,0.18)', border: '1px solid rgba(239,68,68,0.5)' }}&gt;&#10;    &lt;Text style={{ fontSize: 12, color: '#FCA5A5', fontWeight: 700, letterSpacing: 1 }}&gt;SIMULATED HISTORICAL DATA&lt;/Text&gt;&#10;  &lt;/Box&gt;&#10;&#10;  {/* Main title block */}&#10;  &lt;Box style={{ position: 'absolute', top: 180, left: 60, width: '900px' }}&gt;&#10;    &lt;Text style={{ fontSize: 18, color: '#06B6D4', fontWeight: 600, letterSpacing: 3, marginBottom: 16 }}&gt;AGENTIC SOLUTIONS&lt;/Text&gt;&#10;    &lt;Text style={{ fontSize: 64, color: '#FFFFFF', fontWeight: 800, lineHeight: 1.1, marginBottom: 8 }}&gt;&#10;      GenBuddy&#10;    &lt;/Text&gt;&#10;    &lt;Text style={{ fontSize: 32, color: '#FFFFFF', fontWeight: 500, lineHeight: 1.3, marginBottom: 24 }}&gt;&#10;      AI-Powered Backup Generator&#10;      &lt;br /&gt;&#10;      Maintenance Assistant&#10;    &lt;/Text&gt;&#10;    &lt;Text style={{ fontSize: 16, color: '#94A3B8', lineHeight: 1.5 }}&gt;&#10;      Turn generator telemetry, ATS events, and maintenance records&#10;      &lt;br /&gt;&#10;      into actionable readiness assessments — with a WorkBuddy AI agent&#10;      &lt;br /&gt;&#10;      that plans, investigates, and reasons on its own.&#10;    &lt;/Text&gt;&#10;  &lt;/Box&gt;&#10;&#10;  {/* Hero metric strip */}&#10;  &lt;Box style={{ position: 'absolute', bottom: 110, left: 60, flexDirection: 'row', gap: 56 }}&gt;&#10;    &lt;Box&gt;&#10;      &lt;Text style={{ fontSize: 36, color: '#06B6D4', fontWeight: 800, lineHeight: 1 }}&gt;356&lt;/Text&gt;&#10;      &lt;Text style={{ fontSize: 12, color: '#94A3B8', marginTop: 4 }}&gt;Dataset records&lt;/Text&gt;&#10;    &lt;/Box&gt;&#10;    &lt;Box&gt;&#10;      &lt;Text style={{ fontSize: 36, color: '#06B6D4', fontWeight: 800, lineHeight: 1 }}&gt;3&lt;/Text&gt;&#10;      &lt;Text style={{ fontSize: 12, color: '#94A3B8', marginTop: 4 }}&gt;AI investigations&lt;/Text&gt;&#10;    &lt;/Box&gt;&#10;    &lt;Box&gt;&#10;      &lt;Text style={{ fontSize: 36, color: '#06B6D4', fontWeight: 800, lineHeight: 1 }}&gt;7&lt;/Text&gt;&#10;      &lt;Text style={{ fontSize: 12, color: '#94A3B8', marginTop: 4 }}&gt;Agent reports&lt;/Text&gt;&#10;    &lt;/Box&gt;&#10;    &lt;Box&gt;&#10;      &lt;Text style={{ fontSize: 36, color: '#06B6D4', fontWeight: 800, lineHeight: 1 }}&gt;13&lt;/Text&gt;&#10;      &lt;Text style={{ fontSize: 12, color: '#94A3B8', marginTop: 4 }}&gt;Planned steps (Inv 1)&lt;/Text&gt;&#10;    &lt;/Box&gt;&#10;  &lt;/Box&gt;&#10;&#10;  {/* Footer */}&#10;  &lt;Box style={{ position: 'absolute', bottom: 32, left: 60, right: 60, flexDirection: 'row', justifyContent: 'space-between', alignItems: 'center' }}&gt;&#10;    &lt;Text style={{ fontSize: 12, color: '#64748B' }}&gt;DORMATHON 2026 · Track 2: Agentic Solutions&lt;/Text&gt;&#10;    &lt;Text style={{ fontSize: 12, color: '#64748B' }}&gt;01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6B6D4"/>
              </a:gs>
              <a:gs pos="100000">
                <a:srgbClr val="2563EB"/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" name="Freeform: Shape 3"/>
          <p:cNvSpPr/>
          <p:nvPr/>
        </p:nvSpPr>
        <p:spPr>
          <a:xfrm>
            <a:off x="8572500" y="762000"/>
            <a:ext cx="3048000" cy="3048000"/>
          </a:xfrm>
          <a:custGeom>
            <a:avLst/>
            <a:gdLst/>
            <a:ahLst/>
            <a:cxnLst/>
            <a:rect l="0" t="0" r="0" b="0"/>
            <a:pathLst>
              <a:path w="320" h="320">
                <a:moveTo>
                  <a:pt x="160" y="0"/>
                </a:moveTo>
                <a:lnTo>
                  <a:pt x="160" y="0"/>
                </a:lnTo>
                <a:cubicBezTo>
                  <a:pt x="248" y="0"/>
                  <a:pt x="320" y="72"/>
                  <a:pt x="320" y="160"/>
                </a:cubicBezTo>
                <a:lnTo>
                  <a:pt x="320" y="160"/>
                </a:lnTo>
                <a:cubicBezTo>
                  <a:pt x="320" y="248"/>
                  <a:pt x="248" y="320"/>
                  <a:pt x="160" y="320"/>
                </a:cubicBezTo>
                <a:lnTo>
                  <a:pt x="160" y="320"/>
                </a:lnTo>
                <a:cubicBezTo>
                  <a:pt x="72" y="320"/>
                  <a:pt x="0" y="248"/>
                  <a:pt x="0" y="160"/>
                </a:cubicBezTo>
                <a:lnTo>
                  <a:pt x="0" y="160"/>
                </a:lnTo>
                <a:cubicBezTo>
                  <a:pt x="0" y="72"/>
                  <a:pt x="72" y="0"/>
                  <a:pt x="160" y="0"/>
                </a:cubicBezTo>
                <a:close/>
              </a:path>
            </a:pathLst>
          </a:custGeom>
          <a:gradFill>
            <a:gsLst>
              <a:gs pos="0">
                <a:srgbClr val="06B6D4">
                  <a:alpha val="15000"/>
                </a:srgbClr>
              </a:gs>
              <a:gs pos="70000">
                <a:srgbClr val="06B6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/>
          </a:p>
        </p:txBody>
      </p:sp>
      <p:sp>
        <p:nvSpPr>
          <p:cNvPr id="5" name="Freeform: Shape 4"/>
          <p:cNvSpPr/>
          <p:nvPr/>
        </p:nvSpPr>
        <p:spPr>
          <a:xfrm>
            <a:off x="9334500" y="4762500"/>
            <a:ext cx="1714500" cy="1714500"/>
          </a:xfrm>
          <a:custGeom>
            <a:avLst/>
            <a:gdLst/>
            <a:ahLst/>
            <a:cxnLst/>
            <a:rect l="0" t="0" r="0" b="0"/>
            <a:pathLst>
              <a:path w="180" h="180">
                <a:moveTo>
                  <a:pt x="90" y="0"/>
                </a:moveTo>
                <a:lnTo>
                  <a:pt x="90" y="0"/>
                </a:lnTo>
                <a:cubicBezTo>
                  <a:pt x="140" y="0"/>
                  <a:pt x="180" y="40"/>
                  <a:pt x="180" y="90"/>
                </a:cubicBezTo>
                <a:lnTo>
                  <a:pt x="180" y="90"/>
                </a:lnTo>
                <a:cubicBezTo>
                  <a:pt x="180" y="140"/>
                  <a:pt x="140" y="180"/>
                  <a:pt x="90" y="180"/>
                </a:cubicBezTo>
                <a:lnTo>
                  <a:pt x="90" y="180"/>
                </a:lnTo>
                <a:cubicBezTo>
                  <a:pt x="40" y="180"/>
                  <a:pt x="0" y="140"/>
                  <a:pt x="0" y="90"/>
                </a:cubicBezTo>
                <a:lnTo>
                  <a:pt x="0" y="90"/>
                </a:lnTo>
                <a:cubicBezTo>
                  <a:pt x="0" y="40"/>
                  <a:pt x="40" y="0"/>
                  <a:pt x="90" y="0"/>
                </a:cubicBezTo>
                <a:close/>
              </a:path>
            </a:pathLst>
          </a:custGeom>
          <a:gradFill>
            <a:gsLst>
              <a:gs pos="0">
                <a:srgbClr val="2563EB">
                  <a:alpha val="20000"/>
                </a:srgbClr>
              </a:gs>
              <a:gs pos="70000">
                <a:srgbClr val="2563EB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/>
          </a:p>
        </p:txBody>
      </p:sp>
      <p:sp>
        <p:nvSpPr>
          <p:cNvPr id="6" name="Freeform: Shape 5"/>
          <p:cNvSpPr/>
          <p:nvPr/>
        </p:nvSpPr>
        <p:spPr>
          <a:xfrm>
            <a:off x="571500" y="409575"/>
            <a:ext cx="114300" cy="114300"/>
          </a:xfrm>
          <a:custGeom>
            <a:avLst/>
            <a:gdLst/>
            <a:ahLst/>
            <a:cxnLst/>
            <a:rect l="0" t="0" r="0" b="0"/>
            <a:pathLst>
              <a:path w="12" h="12">
                <a:moveTo>
                  <a:pt x="6" y="0"/>
                </a:moveTo>
                <a:lnTo>
                  <a:pt x="6" y="0"/>
                </a:lnTo>
                <a:cubicBezTo>
                  <a:pt x="9" y="0"/>
                  <a:pt x="12" y="3"/>
                  <a:pt x="12" y="6"/>
                </a:cubicBezTo>
                <a:lnTo>
                  <a:pt x="12" y="6"/>
                </a:lnTo>
                <a:cubicBezTo>
                  <a:pt x="12" y="9"/>
                  <a:pt x="9" y="12"/>
                  <a:pt x="6" y="12"/>
                </a:cubicBezTo>
                <a:lnTo>
                  <a:pt x="6" y="12"/>
                </a:lnTo>
                <a:cubicBezTo>
                  <a:pt x="3" y="12"/>
                  <a:pt x="0" y="9"/>
                  <a:pt x="0" y="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Box 6" descr="{&quot;isTemplate&quot;:true,&quot;type&quot;:&quot;text&quot;}"/>
          <p:cNvSpPr txBox="1"/>
          <p:nvPr/>
        </p:nvSpPr>
        <p:spPr>
          <a:xfrm>
            <a:off x="800100" y="381000"/>
            <a:ext cx="25146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06B6D4"/>
                </a:solidFill>
                <a:latin typeface="Microsoft YaHei"/>
                <a:ea typeface="Microsoft YaHei"/>
              </a:rPr>
              <a:t>DORMATHON 2026 · TRACK 2</a:t>
            </a:r>
            <a:endParaRPr/>
          </a:p>
        </p:txBody>
      </p:sp>
      <p:sp>
        <p:nvSpPr>
          <p:cNvPr id="8" name="Rectangle: Rounded Corners 7"/>
          <p:cNvSpPr/>
          <p:nvPr/>
        </p:nvSpPr>
        <p:spPr>
          <a:xfrm>
            <a:off x="9267825" y="381000"/>
            <a:ext cx="2352675" cy="257175"/>
          </a:xfrm>
          <a:prstGeom prst="roundRect">
            <a:avLst>
              <a:gd name="adj" fmla="val 74074"/>
            </a:avLst>
          </a:prstGeom>
          <a:solidFill>
            <a:srgbClr val="EF4444">
              <a:alpha val="18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Box 8" descr="{&quot;isTemplate&quot;:true,&quot;type&quot;:&quot;text&quot;}"/>
          <p:cNvSpPr txBox="1"/>
          <p:nvPr/>
        </p:nvSpPr>
        <p:spPr>
          <a:xfrm>
            <a:off x="9420225" y="438150"/>
            <a:ext cx="20478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FCA5A5"/>
                </a:solidFill>
                <a:latin typeface="Microsoft YaHei"/>
                <a:ea typeface="Microsoft YaHei"/>
              </a:rPr>
              <a:t>SIMULATED HISTORICAL DATA</a:t>
            </a:r>
            <a:endParaRPr/>
          </a:p>
        </p:txBody>
      </p:sp>
      <p:sp>
        <p:nvSpPr>
          <p:cNvPr id="10" name="TextBox 9" descr="{&quot;isTemplate&quot;:true,&quot;type&quot;:&quot;text&quot;}"/>
          <p:cNvSpPr txBox="1"/>
          <p:nvPr/>
        </p:nvSpPr>
        <p:spPr>
          <a:xfrm>
            <a:off x="571500" y="1714500"/>
            <a:ext cx="8572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 spc="225">
                <a:solidFill>
                  <a:srgbClr val="06B6D4"/>
                </a:solidFill>
                <a:latin typeface="Microsoft YaHei"/>
                <a:ea typeface="Microsoft YaHei"/>
              </a:rPr>
              <a:t>AGENTIC SOLUTIONS</a:t>
            </a:r>
            <a:endParaRPr/>
          </a:p>
        </p:txBody>
      </p:sp>
      <p:sp>
        <p:nvSpPr>
          <p:cNvPr id="11" name="TextBox 10" descr="{&quot;isTemplate&quot;:true,&quot;type&quot;:&quot;text&quot;}"/>
          <p:cNvSpPr txBox="1"/>
          <p:nvPr/>
        </p:nvSpPr>
        <p:spPr>
          <a:xfrm>
            <a:off x="571500" y="2076450"/>
            <a:ext cx="8572500" cy="809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>GenBuddy</a:t>
            </a:r>
            <a:endParaRPr/>
          </a:p>
        </p:txBody>
      </p:sp>
      <p:sp>
        <p:nvSpPr>
          <p:cNvPr id="12" name="TextBox 11" descr="{&quot;isTemplate&quot;:true,&quot;type&quot;:&quot;text&quot;}"/>
          <p:cNvSpPr txBox="1"/>
          <p:nvPr/>
        </p:nvSpPr>
        <p:spPr>
          <a:xfrm>
            <a:off x="571500" y="2962275"/>
            <a:ext cx="8572500" cy="952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2400">
                <a:solidFill>
                  <a:srgbClr val="FFFFFF"/>
                </a:solidFill>
                <a:latin typeface="Microsoft YaHei"/>
                <a:ea typeface="Microsoft YaHei"/>
              </a:rPr>
              <a:t>AI-Powered Backup Generator</a:t>
            </a:r>
            <a:endParaRPr/>
          </a:p>
          <a:p>
            <a:pPr>
              <a:lnSpc>
                <a:spcPct val="130000"/>
              </a:lnSpc>
            </a:pPr>
            <a:r>
              <a:rPr lang="en-US" sz="2400">
                <a:solidFill>
                  <a:srgbClr val="FFFFFF"/>
                </a:solidFill>
                <a:latin typeface="Microsoft YaHei"/>
                <a:ea typeface="Microsoft YaHei"/>
              </a:rPr>
              <a:t>Maintenance Assistant</a:t>
            </a:r>
            <a:endParaRPr/>
          </a:p>
        </p:txBody>
      </p:sp>
      <p:sp>
        <p:nvSpPr>
          <p:cNvPr id="13" name="TextBox 12" descr="{&quot;isTemplate&quot;:true,&quot;type&quot;:&quot;text&quot;}"/>
          <p:cNvSpPr txBox="1"/>
          <p:nvPr/>
        </p:nvSpPr>
        <p:spPr>
          <a:xfrm>
            <a:off x="571500" y="4143375"/>
            <a:ext cx="8572500" cy="8286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Turn generator telemetry, ATS events, and maintenance records</a:t>
            </a:r>
            <a:endParaRPr/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into actionable readiness assessments — with a WorkBuddy AI agent</a:t>
            </a:r>
            <a:endParaRPr/>
          </a:p>
          <a:p>
            <a:pPr>
              <a:lnSpc>
                <a:spcPct val="15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that plans, investigates, and reasons on its own.</a:t>
            </a:r>
            <a:endParaRPr/>
          </a:p>
        </p:txBody>
      </p:sp>
      <p:sp>
        <p:nvSpPr>
          <p:cNvPr id="14" name="TextBox 13" descr="{&quot;isTemplate&quot;:true,&quot;type&quot;:&quot;text&quot;}"/>
          <p:cNvSpPr txBox="1"/>
          <p:nvPr/>
        </p:nvSpPr>
        <p:spPr>
          <a:xfrm>
            <a:off x="571500" y="5210175"/>
            <a:ext cx="85725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6B6D4"/>
                </a:solidFill>
                <a:latin typeface="Microsoft YaHei"/>
                <a:ea typeface="Microsoft YaHei"/>
              </a:rPr>
              <a:t>356</a:t>
            </a:r>
            <a:endParaRPr/>
          </a:p>
        </p:txBody>
      </p:sp>
      <p:sp>
        <p:nvSpPr>
          <p:cNvPr id="15" name="TextBox 14" descr="{&quot;isTemplate&quot;:true,&quot;type&quot;:&quot;text&quot;}"/>
          <p:cNvSpPr txBox="1"/>
          <p:nvPr/>
        </p:nvSpPr>
        <p:spPr>
          <a:xfrm>
            <a:off x="571500" y="5667375"/>
            <a:ext cx="8572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Dataset records</a:t>
            </a:r>
            <a:endParaRPr/>
          </a:p>
        </p:txBody>
      </p:sp>
      <p:sp>
        <p:nvSpPr>
          <p:cNvPr id="16" name="TextBox 15" descr="{&quot;isTemplate&quot;:true,&quot;type&quot;:&quot;text&quot;}"/>
          <p:cNvSpPr txBox="1"/>
          <p:nvPr/>
        </p:nvSpPr>
        <p:spPr>
          <a:xfrm>
            <a:off x="1962150" y="5210175"/>
            <a:ext cx="904875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6B6D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7" name="TextBox 16" descr="{&quot;isTemplate&quot;:true,&quot;type&quot;:&quot;text&quot;}"/>
          <p:cNvSpPr txBox="1"/>
          <p:nvPr/>
        </p:nvSpPr>
        <p:spPr>
          <a:xfrm>
            <a:off x="1962150" y="5667375"/>
            <a:ext cx="9048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AI investigations</a:t>
            </a:r>
            <a:endParaRPr/>
          </a:p>
        </p:txBody>
      </p:sp>
      <p:sp>
        <p:nvSpPr>
          <p:cNvPr id="18" name="TextBox 17" descr="{&quot;isTemplate&quot;:true,&quot;type&quot;:&quot;text&quot;}"/>
          <p:cNvSpPr txBox="1"/>
          <p:nvPr/>
        </p:nvSpPr>
        <p:spPr>
          <a:xfrm>
            <a:off x="3400425" y="5210175"/>
            <a:ext cx="7620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6B6D4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19" name="TextBox 18" descr="{&quot;isTemplate&quot;:true,&quot;type&quot;:&quot;text&quot;}"/>
          <p:cNvSpPr txBox="1"/>
          <p:nvPr/>
        </p:nvSpPr>
        <p:spPr>
          <a:xfrm>
            <a:off x="3400425" y="5667375"/>
            <a:ext cx="7620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Agent reports</a:t>
            </a:r>
            <a:endParaRPr/>
          </a:p>
        </p:txBody>
      </p:sp>
      <p:sp>
        <p:nvSpPr>
          <p:cNvPr id="20" name="TextBox 19" descr="{&quot;isTemplate&quot;:true,&quot;type&quot;:&quot;text&quot;}"/>
          <p:cNvSpPr txBox="1"/>
          <p:nvPr/>
        </p:nvSpPr>
        <p:spPr>
          <a:xfrm>
            <a:off x="4695825" y="5210175"/>
            <a:ext cx="11430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06B6D4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21" name="TextBox 20" descr="{&quot;isTemplate&quot;:true,&quot;type&quot;:&quot;text&quot;}"/>
          <p:cNvSpPr txBox="1"/>
          <p:nvPr/>
        </p:nvSpPr>
        <p:spPr>
          <a:xfrm>
            <a:off x="4695825" y="5667375"/>
            <a:ext cx="11430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Planned steps (Inv 1)</a:t>
            </a:r>
            <a:endParaRPr/>
          </a:p>
        </p:txBody>
      </p:sp>
      <p:sp>
        <p:nvSpPr>
          <p:cNvPr id="22" name="TextBox 21" descr="{&quot;isTemplate&quot;:true,&quot;type&quot;:&quot;text&quot;}"/>
          <p:cNvSpPr txBox="1"/>
          <p:nvPr/>
        </p:nvSpPr>
        <p:spPr>
          <a:xfrm>
            <a:off x="571500" y="6410325"/>
            <a:ext cx="25812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DORMATHON 2026 · Track 2: Agentic Solutions</a:t>
            </a:r>
            <a:endParaRPr/>
          </a:p>
        </p:txBody>
      </p:sp>
      <p:sp>
        <p:nvSpPr>
          <p:cNvPr id="23" name="TextBox 22" descr="{&quot;isTemplate&quot;:true,&quot;type&quot;:&quot;text&quot;}"/>
          <p:cNvSpPr txBox="1"/>
          <p:nvPr/>
        </p:nvSpPr>
        <p:spPr>
          <a:xfrm>
            <a:off x="11229975" y="641032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01 / 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8FAFC' }}&gt;&#10;  {/* Top accent bar */}&#10;  &lt;Box style={{ position: 'absolute', top: 0, left: 0, width: '1280px', height: 6, background: 'linear-gradient(90deg, #0B1E3F 0%, #2563EB 100%)' }} /&gt;&#10;&#10;  {/* Section tag */}&#10;  &lt;Box style={{ position: 'absolute', top: 32, left: 60, padding: '4px 12px', borderRadius: 4, background: '#0B1E3F' }}&gt;&#10;    &lt;Text style={{ fontSize: 11, color: '#FFFFFF', fontWeight: 700, letterSpacing: 1.5 }}&gt;02 / BUSINESS PROBLEM&lt;/Text&gt;&#10;  &lt;/Box&gt;&#10;&#10;  {/* Title */}&#10;  &lt;Box style={{ position: 'absolute', top: 64, left: 60, width: 1160 }}&gt;&#10;    &lt;Text style={{ fontSize: 30, color: '#0B1E3F', fontWeight: 700, lineHeight: 1.2 }}&gt;&#10;      A dark building is the first sign of trouble&#10;    &lt;/Text&gt;&#10;  &lt;/Box&gt;&#10;&#10;  {/* Hero illustration card - small supermarket scenario */}&#10;  &lt;Box style={{ position: 'absolute', top: 140, left: 60, width: 360, height: 250, borderRadius: 12, background: '#0B1E3F', padding: 20 }}&gt;&#10;    &lt;Text style={{ fontSize: 11, color: '#06B6D4', fontWeight: 700, letterSpacing: 1.5, marginBottom: 8 }}&gt;ILLUSTRATIVE SCENARIO&lt;/Text&gt;&#10;    &lt;Text style={{ fontSize: 20, color: '#FFFFFF', fontWeight: 700, marginBottom: 12 }}&gt;Neighborhood Supermarket&lt;/Text&gt;&#10;    &lt;Text style={{ fontSize: 13, color: '#CBD5E1', lineHeight: 1.5 }}&gt;&#10;      A 250 m² store with two refrigerator cases, six freezer units, and a small backup generator in the back.&#10;      &lt;br /&gt;&lt;br /&gt;&#10;      &lt;Text style={{ color: '#F59E0B', fontWeight: 700 }}&gt;No on-site electrician.&lt;/Text&gt; Visual inspections every quarter. ATS assumed to work.&#10;    &lt;/Text&gt;&#10;  &lt;/Box&gt;&#10;&#10;  {/* Right side - three failure modes */}&#10;  &lt;Box style={{ position: 'absolute', top: 140, left: 440, width: 780 }}&gt;&#10;    &lt;Text style={{ fontSize: 16, color: '#0B1E3F', fontWeight: 700, marginBottom: 12 }}&gt;What can go wrong between quarterly inspections?&lt;/Text&gt;&#10;&#10;    &lt;Box style={{ flexDirection: 'column', gap: 12 }}&gt;&#10;      {/* Card 1 */}&#10;      &lt;Box style={{ flexDirection: 'row', alignItems: 'center', padding: 14, borderRadius: 8, background: '#FFFFFF', border: '1px solid #E2E8F0' }}&gt;&#10;        &lt;Box style={{ width: 44, height: 44, borderRadius: 22, background: '#FEE2E2', alignItems: 'center', justifyContent: 'center' }}&gt;&#10;          &lt;Text style={{ fontSize: 20, fontWeight: 800, color: '#EF4444' }}&gt;!&lt;/Text&gt;&#10;        &lt;/Box&gt;&#10;        &lt;Box style={{ marginLeft: 16, flex: 1 }}&gt;&#10;          &lt;Text style={{ fontSize: 16, color: '#0F172A', fontWeight: 700 }}&gt;Generator fails to start&lt;/Text&gt;&#10;          &lt;Text style={{ fontSize: 13, color: '#64748B', marginTop: 2 }}&gt;Battery, fuel, or controller fault. Discovered only during the outage.&lt;/Text&gt;&#10;        &lt;/Box&gt;&#10;      &lt;/Box&gt;&#10;&#10;      {/* Card 2 */}&#10;      &lt;Box style={{ flexDirection: 'row', alignItems: 'center', padding: 14, borderRadius: 8, background: '#FFFFFF', border: '1px solid #E2E8F0' }}&gt;&#10;        &lt;Box style={{ width: 44, height: 44, borderRadius: 22, background: '#FEF3C7', alignItems: 'center', justifyContent: 'center' }}&gt;&#10;          &lt;Text style={{ fontSize: 20, fontWeight: 800, color: '#F59E0B' }}&gt;→&lt;/Text&gt;&#10;        &lt;/Box&gt;&#10;        &lt;Box style={{ marginLeft: 16, flex: 1 }}&gt;&#10;          &lt;Text style={{ fontSize: 16, color: '#0F172A', fontWeight: 700 }}&gt;Generator starts but ATS does not transfer&lt;/Text&gt;&#10;          &lt;Text style={{ fontSize: 13, color: '#64748B', marginTop: 2 }}&gt;Contactor or sensor fault. Generator runs but the building stays dark.&lt;/Text&gt;&#10;        &lt;/Box&gt;&#10;      &lt;/Box&gt;&#10;&#10;      {/* Card 3 */}&#10;      &lt;Box style={{ flexDirection: 'row', alignItems: 'center', padding: 14, borderRadius: 8, background: '#FFFFFF', border: '1px solid #E2E8F0' }}&gt;&#10;        &lt;Box style={{ width: 44, height: 44, borderRadius: 22, background: '#DBEAFE', alignItems: 'center', justifyContent: 'center' }}&gt;&#10;          &lt;Text style={{ fontSize: 20, fontWeight: 800, color: '#2563EB' }}&gt;~&lt;/Text&gt;&#10;        &lt;/Box&gt;&#10;        &lt;Box style={{ marginLeft: 16, flex: 1 }}&gt;&#10;          &lt;Text style={{ fontSize: 16, color: '#0F172A', fontWeight: 700 }}&gt;Generator overheats under sustained load&lt;/Text&gt;&#10;          &lt;Text style={{ fontSize: 13, color: '#64748B', marginTop: 2 }}&gt;Marginal cooling capacity. Shuts down mid-outage.&lt;/Text&gt;&#10;        &lt;/Box&gt;&#10;      &lt;/Box&gt;&#10;    &lt;/Box&gt;&#10;  &lt;/Box&gt;&#10;&#10;  {/* Bottom pain points strip */}&#10;  &lt;Box style={{ position: 'absolute', bottom: 110, left: 60, right: 60, padding: 18, borderRadius: 12, background: '#0B1E3F' }}&gt;&#10;    &lt;Box style={{ flexDirection: 'row', justifyContent: 'space-between', alignItems: 'center' }}&gt;&#10;      &lt;Box style={{ flex: 1 }}&gt;&#10;        &lt;Text style={{ fontSize: 11, color: '#06B6D4', fontWeight: 700, letterSpacing: 1.5, marginBottom: 4 }}&gt;THE GAP&lt;/Text&gt;&#10;        &lt;Text style={{ fontSize: 16, color: '#FFFFFF', fontWeight: 700, lineHeight: 1.4 }}&gt;&#10;          SMEs have generators. They don't have engineers to interpret what the telemetry is telling them.&#10;        &lt;/Text&gt;&#10;      &lt;/Box&gt;&#10;      &lt;Box style={{ flexDirection: 'row', gap: 32, marginLeft: 24 }}&gt;&#10;        &lt;Box style={{ alignItems: 'center' }}&gt;&#10;          &lt;Text style={{ fontSize: 28, color: '#06B6D4', fontWeight: 800, lineHeight: 1 }}&gt;0&lt;/Text&gt;&#10;          &lt;Text style={{ fontSize: 11, color: '#94A3B8', marginTop: 4 }}&gt;Telemetry reviews&lt;/Text&gt;&#10;        &lt;/Box&gt;&#10;        &lt;Box style={{ alignItems: 'center' }}&gt;&#10;          &lt;Text style={{ fontSize: 28, color: '#06B6D4', fontWeight: 800, lineHeight: 1 }}&gt;0&lt;/Text&gt;&#10;          &lt;Text style={{ fontSize: 11, color: '#94A3B8', marginTop: 4 }}&gt;ATS load tests&lt;/Text&gt;&#10;        &lt;/Box&gt;&#10;      &lt;/Box&gt;&#10;    &lt;/Box&gt;&#10;  &lt;/Box&gt;&#10;&#10;  {/* Footer */}&#10;  &lt;Box style={{ position: 'absolute', bottom: 32, left: 60, right: 60, flexDirection: 'row', justifyContent: 'space-between', alignItems: 'center' }}&gt;&#10;    &lt;Text style={{ fontSize: 12, color: '#64748B' }}&gt;GenBuddy · DORMATHON 2026 · Track 2: Agentic Solutions&lt;/Text&gt;&#10;    &lt;Text style={{ fontSize: 12, color: '#64748B' }}&gt;02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1E3F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59" name="Rectangle: Rounded Corners 58"/>
          <p:cNvSpPr/>
          <p:nvPr/>
        </p:nvSpPr>
        <p:spPr>
          <a:xfrm>
            <a:off x="571500" y="304800"/>
            <a:ext cx="1857375" cy="209550"/>
          </a:xfrm>
          <a:prstGeom prst="roundRect">
            <a:avLst>
              <a:gd name="adj" fmla="val 18182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Box 59" descr="{&quot;isTemplate&quot;:true,&quot;type&quot;:&quot;text&quot;}"/>
          <p:cNvSpPr txBox="1"/>
          <p:nvPr/>
        </p:nvSpPr>
        <p:spPr>
          <a:xfrm>
            <a:off x="685800" y="342900"/>
            <a:ext cx="16287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FFFFFF"/>
                </a:solidFill>
                <a:latin typeface="Microsoft YaHei"/>
                <a:ea typeface="Microsoft YaHei"/>
              </a:rPr>
              <a:t>02 / BUSINESS PROBLEM</a:t>
            </a:r>
            <a:endParaRPr/>
          </a:p>
        </p:txBody>
      </p:sp>
      <p:sp>
        <p:nvSpPr>
          <p:cNvPr id="61" name="TextBox 60" descr="{&quot;isTemplate&quot;:true,&quot;type&quot;:&quot;text&quot;}"/>
          <p:cNvSpPr txBox="1"/>
          <p:nvPr/>
        </p:nvSpPr>
        <p:spPr>
          <a:xfrm>
            <a:off x="571500" y="609600"/>
            <a:ext cx="110490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0B1E3F"/>
                </a:solidFill>
                <a:latin typeface="Microsoft YaHei"/>
                <a:ea typeface="Microsoft YaHei"/>
              </a:rPr>
              <a:t>A dark building is the first sign of trouble</a:t>
            </a:r>
            <a:endParaRPr/>
          </a:p>
        </p:txBody>
      </p:sp>
      <p:sp>
        <p:nvSpPr>
          <p:cNvPr id="62" name="Rectangle: Rounded Corners 61"/>
          <p:cNvSpPr/>
          <p:nvPr/>
        </p:nvSpPr>
        <p:spPr>
          <a:xfrm>
            <a:off x="571500" y="1333500"/>
            <a:ext cx="3429000" cy="2381250"/>
          </a:xfrm>
          <a:prstGeom prst="roundRect">
            <a:avLst>
              <a:gd name="adj" fmla="val 4800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TextBox 62" descr="{&quot;isTemplate&quot;:true,&quot;type&quot;:&quot;text&quot;}"/>
          <p:cNvSpPr txBox="1"/>
          <p:nvPr/>
        </p:nvSpPr>
        <p:spPr>
          <a:xfrm>
            <a:off x="762000" y="1524000"/>
            <a:ext cx="30480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ILLUSTRATIVE SCENARIO</a:t>
            </a:r>
            <a:endParaRPr/>
          </a:p>
        </p:txBody>
      </p:sp>
      <p:sp>
        <p:nvSpPr>
          <p:cNvPr id="64" name="TextBox 63" descr="{&quot;isTemplate&quot;:true,&quot;type&quot;:&quot;text&quot;}"/>
          <p:cNvSpPr txBox="1"/>
          <p:nvPr/>
        </p:nvSpPr>
        <p:spPr>
          <a:xfrm>
            <a:off x="762000" y="1733550"/>
            <a:ext cx="3048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Neighborhood Supermarket</a:t>
            </a:r>
            <a:endParaRPr/>
          </a:p>
        </p:txBody>
      </p:sp>
      <p:sp>
        <p:nvSpPr>
          <p:cNvPr id="65" name="TextBox 64" descr="{&quot;isTemplate&quot;:true,&quot;type&quot;:&quot;text&quot;}"/>
          <p:cNvSpPr txBox="1"/>
          <p:nvPr/>
        </p:nvSpPr>
        <p:spPr>
          <a:xfrm>
            <a:off x="762000" y="2076450"/>
            <a:ext cx="3048000" cy="1343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A 250 m² store with two refrigerator cases, six freezer units, and a small backup generator in the back.</a:t>
            </a:r>
            <a:endParaRPr/>
          </a:p>
          <a:p>
            <a:pPr>
              <a:lnSpc>
                <a:spcPct val="150000"/>
              </a:lnSpc>
            </a:pPr>
            <a:r>
              <a:rPr sz="975">
                <a:solidFill>
                  <a:srgbClr val="CBD5E1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50000"/>
              </a:lnSpc>
            </a:pP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No on-site electrician. Visual inspections every quarter. ATS assumed to work.</a:t>
            </a:r>
            <a:endParaRPr/>
          </a:p>
        </p:txBody>
      </p:sp>
      <p:sp>
        <p:nvSpPr>
          <p:cNvPr id="66" name="TextBox 65" descr="{&quot;isTemplate&quot;:true,&quot;type&quot;:&quot;text&quot;}"/>
          <p:cNvSpPr txBox="1"/>
          <p:nvPr/>
        </p:nvSpPr>
        <p:spPr>
          <a:xfrm>
            <a:off x="4191000" y="1333500"/>
            <a:ext cx="7429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B1E3F"/>
                </a:solidFill>
                <a:latin typeface="Microsoft YaHei"/>
                <a:ea typeface="Microsoft YaHei"/>
              </a:rPr>
              <a:t>What can go wrong between quarterly inspections?</a:t>
            </a:r>
            <a:endParaRPr/>
          </a:p>
        </p:txBody>
      </p:sp>
      <p:sp>
        <p:nvSpPr>
          <p:cNvPr id="67" name="Rectangle: Rounded Corners 66"/>
          <p:cNvSpPr/>
          <p:nvPr/>
        </p:nvSpPr>
        <p:spPr>
          <a:xfrm>
            <a:off x="4191000" y="1638300"/>
            <a:ext cx="7429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Rectangle: Rounded Corners 67"/>
          <p:cNvSpPr/>
          <p:nvPr/>
        </p:nvSpPr>
        <p:spPr>
          <a:xfrm>
            <a:off x="4324350" y="1771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Box 68" descr="{&quot;isTemplate&quot;:true,&quot;type&quot;:&quot;text&quot;}"/>
          <p:cNvSpPr txBox="1"/>
          <p:nvPr/>
        </p:nvSpPr>
        <p:spPr>
          <a:xfrm>
            <a:off x="4505325" y="1866900"/>
            <a:ext cx="666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F4444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70" name="TextBox 69" descr="{&quot;isTemplate&quot;:true,&quot;type&quot;:&quot;text&quot;}"/>
          <p:cNvSpPr txBox="1"/>
          <p:nvPr/>
        </p:nvSpPr>
        <p:spPr>
          <a:xfrm>
            <a:off x="4895850" y="1800225"/>
            <a:ext cx="65913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Generator fails to start</a:t>
            </a:r>
            <a:endParaRPr/>
          </a:p>
        </p:txBody>
      </p:sp>
      <p:sp>
        <p:nvSpPr>
          <p:cNvPr id="71" name="TextBox 70" descr="{&quot;isTemplate&quot;:true,&quot;type&quot;:&quot;text&quot;}"/>
          <p:cNvSpPr txBox="1"/>
          <p:nvPr/>
        </p:nvSpPr>
        <p:spPr>
          <a:xfrm>
            <a:off x="4895850" y="2009775"/>
            <a:ext cx="6591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Battery, fuel, or controller fault. Discovered only during the outage.</a:t>
            </a:r>
            <a:endParaRPr/>
          </a:p>
        </p:txBody>
      </p:sp>
      <p:sp>
        <p:nvSpPr>
          <p:cNvPr id="72" name="Rectangle: Rounded Corners 71"/>
          <p:cNvSpPr/>
          <p:nvPr/>
        </p:nvSpPr>
        <p:spPr>
          <a:xfrm>
            <a:off x="4191000" y="2438400"/>
            <a:ext cx="7429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Rectangle: Rounded Corners 72"/>
          <p:cNvSpPr/>
          <p:nvPr/>
        </p:nvSpPr>
        <p:spPr>
          <a:xfrm>
            <a:off x="4324350" y="25717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4" name="TextBox 73" descr="{&quot;isTemplate&quot;:true,&quot;type&quot;:&quot;text&quot;}"/>
          <p:cNvSpPr txBox="1"/>
          <p:nvPr/>
        </p:nvSpPr>
        <p:spPr>
          <a:xfrm>
            <a:off x="4438650" y="2667000"/>
            <a:ext cx="190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75" name="TextBox 74" descr="{&quot;isTemplate&quot;:true,&quot;type&quot;:&quot;text&quot;}"/>
          <p:cNvSpPr txBox="1"/>
          <p:nvPr/>
        </p:nvSpPr>
        <p:spPr>
          <a:xfrm>
            <a:off x="4895850" y="2600325"/>
            <a:ext cx="65913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Generator starts but ATS does not transfer</a:t>
            </a:r>
            <a:endParaRPr/>
          </a:p>
        </p:txBody>
      </p:sp>
      <p:sp>
        <p:nvSpPr>
          <p:cNvPr id="76" name="TextBox 75" descr="{&quot;isTemplate&quot;:true,&quot;type&quot;:&quot;text&quot;}"/>
          <p:cNvSpPr txBox="1"/>
          <p:nvPr/>
        </p:nvSpPr>
        <p:spPr>
          <a:xfrm>
            <a:off x="4895850" y="2809875"/>
            <a:ext cx="6591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Contactor or sensor fault. Generator runs but the building stays dark.</a:t>
            </a:r>
            <a:endParaRPr/>
          </a:p>
        </p:txBody>
      </p:sp>
      <p:sp>
        <p:nvSpPr>
          <p:cNvPr id="77" name="Rectangle: Rounded Corners 76"/>
          <p:cNvSpPr/>
          <p:nvPr/>
        </p:nvSpPr>
        <p:spPr>
          <a:xfrm>
            <a:off x="4191000" y="3238500"/>
            <a:ext cx="74295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Rectangle: Rounded Corners 77"/>
          <p:cNvSpPr/>
          <p:nvPr/>
        </p:nvSpPr>
        <p:spPr>
          <a:xfrm>
            <a:off x="4324350" y="33718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TextBox 78" descr="{&quot;isTemplate&quot;:true,&quot;type&quot;:&quot;text&quot;}"/>
          <p:cNvSpPr txBox="1"/>
          <p:nvPr/>
        </p:nvSpPr>
        <p:spPr>
          <a:xfrm>
            <a:off x="4457700" y="3467100"/>
            <a:ext cx="1524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563EB"/>
                </a:solidFill>
                <a:latin typeface="Microsoft YaHei"/>
                <a:ea typeface="Microsoft YaHei"/>
              </a:rPr>
              <a:t>~</a:t>
            </a:r>
            <a:endParaRPr/>
          </a:p>
        </p:txBody>
      </p:sp>
      <p:sp>
        <p:nvSpPr>
          <p:cNvPr id="80" name="TextBox 79" descr="{&quot;isTemplate&quot;:true,&quot;type&quot;:&quot;text&quot;}"/>
          <p:cNvSpPr txBox="1"/>
          <p:nvPr/>
        </p:nvSpPr>
        <p:spPr>
          <a:xfrm>
            <a:off x="4895850" y="3400425"/>
            <a:ext cx="65913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Generator overheats under sustained load</a:t>
            </a:r>
            <a:endParaRPr/>
          </a:p>
        </p:txBody>
      </p:sp>
      <p:sp>
        <p:nvSpPr>
          <p:cNvPr id="81" name="TextBox 80" descr="{&quot;isTemplate&quot;:true,&quot;type&quot;:&quot;text&quot;}"/>
          <p:cNvSpPr txBox="1"/>
          <p:nvPr/>
        </p:nvSpPr>
        <p:spPr>
          <a:xfrm>
            <a:off x="4895850" y="3609975"/>
            <a:ext cx="6591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Marginal cooling capacity. Shuts down mid-outage.</a:t>
            </a:r>
            <a:endParaRPr/>
          </a:p>
        </p:txBody>
      </p:sp>
      <p:sp>
        <p:nvSpPr>
          <p:cNvPr id="82" name="Rectangle: Rounded Corners 81"/>
          <p:cNvSpPr/>
          <p:nvPr/>
        </p:nvSpPr>
        <p:spPr>
          <a:xfrm>
            <a:off x="571500" y="4972050"/>
            <a:ext cx="11049000" cy="838200"/>
          </a:xfrm>
          <a:prstGeom prst="roundRect">
            <a:avLst>
              <a:gd name="adj" fmla="val 13636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Box 82" descr="{&quot;isTemplate&quot;:true,&quot;type&quot;:&quot;text&quot;}"/>
          <p:cNvSpPr txBox="1"/>
          <p:nvPr/>
        </p:nvSpPr>
        <p:spPr>
          <a:xfrm>
            <a:off x="742950" y="5181600"/>
            <a:ext cx="85725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THE GAP</a:t>
            </a:r>
            <a:endParaRPr/>
          </a:p>
        </p:txBody>
      </p:sp>
      <p:sp>
        <p:nvSpPr>
          <p:cNvPr id="84" name="TextBox 83" descr="{&quot;isTemplate&quot;:true,&quot;type&quot;:&quot;text&quot;}"/>
          <p:cNvSpPr txBox="1"/>
          <p:nvPr/>
        </p:nvSpPr>
        <p:spPr>
          <a:xfrm>
            <a:off x="742950" y="5353050"/>
            <a:ext cx="8572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SMEs have generators. They don't have engineers to interpret what the telemetry is telling them.</a:t>
            </a:r>
            <a:endParaRPr/>
          </a:p>
        </p:txBody>
      </p:sp>
      <p:sp>
        <p:nvSpPr>
          <p:cNvPr id="85" name="TextBox 84" descr="{&quot;isTemplate&quot;:true,&quot;type&quot;:&quot;text&quot;}"/>
          <p:cNvSpPr txBox="1"/>
          <p:nvPr/>
        </p:nvSpPr>
        <p:spPr>
          <a:xfrm>
            <a:off x="9906000" y="5143500"/>
            <a:ext cx="1714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86" name="TextBox 85" descr="{&quot;isTemplate&quot;:true,&quot;type&quot;:&quot;text&quot;}"/>
          <p:cNvSpPr txBox="1"/>
          <p:nvPr/>
        </p:nvSpPr>
        <p:spPr>
          <a:xfrm>
            <a:off x="9544050" y="5505450"/>
            <a:ext cx="895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Telemetry reviews</a:t>
            </a:r>
            <a:endParaRPr/>
          </a:p>
        </p:txBody>
      </p:sp>
      <p:sp>
        <p:nvSpPr>
          <p:cNvPr id="87" name="TextBox 86" descr="{&quot;isTemplate&quot;:true,&quot;type&quot;:&quot;text&quot;}"/>
          <p:cNvSpPr txBox="1"/>
          <p:nvPr/>
        </p:nvSpPr>
        <p:spPr>
          <a:xfrm>
            <a:off x="11010900" y="5143500"/>
            <a:ext cx="1714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Microsoft YaHei"/>
                <a:ea typeface="Microsoft YaHei"/>
              </a:rPr>
              <a:t>0</a:t>
            </a:r>
            <a:endParaRPr/>
          </a:p>
        </p:txBody>
      </p:sp>
      <p:sp>
        <p:nvSpPr>
          <p:cNvPr id="88" name="TextBox 87" descr="{&quot;isTemplate&quot;:true,&quot;type&quot;:&quot;text&quot;}"/>
          <p:cNvSpPr txBox="1"/>
          <p:nvPr/>
        </p:nvSpPr>
        <p:spPr>
          <a:xfrm>
            <a:off x="10744200" y="5505450"/>
            <a:ext cx="7048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ATS load tests</a:t>
            </a:r>
            <a:endParaRPr/>
          </a:p>
        </p:txBody>
      </p:sp>
      <p:sp>
        <p:nvSpPr>
          <p:cNvPr id="89" name="TextBox 88" descr="{&quot;isTemplate&quot;:true,&quot;type&quot;:&quot;text&quot;}"/>
          <p:cNvSpPr txBox="1"/>
          <p:nvPr/>
        </p:nvSpPr>
        <p:spPr>
          <a:xfrm>
            <a:off x="571500" y="6410325"/>
            <a:ext cx="32480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GenBuddy · DORMATHON 2026 · Track 2: Agentic Solutions</a:t>
            </a:r>
            <a:endParaRPr/>
          </a:p>
        </p:txBody>
      </p:sp>
      <p:sp>
        <p:nvSpPr>
          <p:cNvPr id="90" name="TextBox 89" descr="{&quot;isTemplate&quot;:true,&quot;type&quot;:&quot;text&quot;}"/>
          <p:cNvSpPr txBox="1"/>
          <p:nvPr/>
        </p:nvSpPr>
        <p:spPr>
          <a:xfrm>
            <a:off x="11229975" y="641032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02 / 10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8FAFC' }}&gt;&#10;  {/* Top accent bar */}&#10;  &lt;Box style={{ position: 'absolute', top: 0, left: 0, width: '1280px', height: 6, background: 'linear-gradient(90deg, #0B1E3F 0%, #2563EB 100%)' }} /&gt;&#10;&#10;  {/* Section tag */}&#10;  &lt;Box style={{ position: 'absolute', top: 32, left: 60, padding: '4px 12px', borderRadius: 4, background: '#0B1E3F' }}&gt;&#10;    &lt;Text style={{ fontSize: 11, color: '#FFFFFF', fontWeight: 700, letterSpacing: 1.5 }}&gt;03 / OUR SOLUTION&lt;/Text&gt;&#10;  &lt;/Box&gt;&#10;&#10;  {/* Title */}&#10;  &lt;Box style={{ position: 'absolute', top: 64, left: 60, width: 1160 }}&gt;&#10;    &lt;Text style={{ fontSize: 30, color: '#0B1E3F', fontWeight: 700, lineHeight: 1.2 }}&gt;&#10;      GenBuddy turns raw signals into readiness and action&#10;    &lt;/Text&gt;&#10;  &lt;/Box&gt;&#10;&#10;  {/* Three-step horizontal flow */}&#10;  &lt;Box style={{ position: 'absolute', top: 140, left: 60, right: 60, flexDirection: 'row', alignItems: 'stretch', gap: 16 }}&gt;&#10;    {/* Step 1 - INPUTS */}&#10;    &lt;Box style={{ flex: 1, padding: 20, borderRadius: 12, background: '#FFFFFF', border: '1px solid #E2E8F0' }}&gt;&#10;      &lt;Box style={{ flexDirection: 'row', alignItems: 'center', marginBottom: 16 }}&gt;&#10;        &lt;Box style={{ width: 32, height: 32, borderRadius: 16, background: '#0B1E3F', alignItems: 'center', justifyContent: 'center' }}&gt;&#10;          &lt;Text style={{ fontSize: 14, color: '#FFFFFF', fontWeight: 700 }}&gt;1&lt;/Text&gt;&#10;        &lt;/Box&gt;&#10;        &lt;Text style={{ fontSize: 11, color: '#06B6D4', fontWeight: 700, letterSpacing: 1.5, marginLeft: 12 }}&gt;INPUTS&lt;/Text&gt;&#10;      &lt;/Box&gt;&#10;      &lt;Text style={{ fontSize: 18, color: '#0F172A', fontWeight: 700, marginBottom: 12 }}&gt;Existing generator data&lt;/Text&gt;&#10;      &lt;Box style={{ flexDirection: 'column', gap: 8 }}&gt;&#10;        &lt;Text style={{ fontSize: 13, color: '#475569' }}&gt;&#10;          &lt;span style={{ color: '#2563EB', fontWeight: 700 }}&gt;·&lt;/span&gt; Telemetry (176 records, 13 params)&#10;        &lt;/Text&gt;&#10;        &lt;Text style={{ fontSize: 13, color: '#475569' }}&gt;&#10;          &lt;span style={{ color: '#2563EB', fontWeight: 700 }}&gt;·&lt;/span&gt; ATS event log (176 records)&#10;        &lt;/Text&gt;&#10;        &lt;Text style={{ fontSize: 13, color: '#475569' }}&gt;&#10;          &lt;span style={{ color: '#2563EB', fontWeight: 700 }}&gt;·&lt;/span&gt; Maintenance history (4 records)&#10;        &lt;/Text&gt;&#10;      &lt;/Box&gt;&#10;    &lt;/Box&gt;&#10;&#10;    {/* Arrow 1 */}&#10;    &lt;Box style={{ width: 32, alignItems: 'center', justifyContent: 'center' }}&gt;&#10;      &lt;Text style={{ fontSize: 32, color: '#2563EB', fontWeight: 700 }}&gt;→&lt;/Text&gt;&#10;    &lt;/Box&gt;&#10;&#10;    {/* Step 2 - GENBUDDY AI */}&#10;    &lt;Box style={{ flex: 1.3, padding: 20, borderRadius: 12, background: 'linear-gradient(135deg, #0B1E3F 0%, #1E40AF 100%)' }}&gt;&#10;      &lt;Box style={{ flexDirection: 'row', alignItems: 'center', marginBottom: 16 }}&gt;&#10;        &lt;Box style={{ width: 32, height: 32, borderRadius: 16, background: '#06B6D4', alignItems: 'center', justifyContent: 'center' }}&gt;&#10;          &lt;Text style={{ fontSize: 14, color: '#0B1E3F', fontWeight: 700 }}&gt;2&lt;/Text&gt;&#10;        &lt;/Box&gt;&#10;        &lt;Text style={{ fontSize: 11, color: '#06B6D4', fontWeight: 700, letterSpacing: 1.5, marginLeft: 12 }}&gt;AI INVESTIGATION&lt;/Text&gt;&#10;      &lt;/Box&gt;&#10;      &lt;Text style={{ fontSize: 18, color: '#FFFFFF', fontWeight: 700, marginBottom: 12 }}&gt;WorkBuddy LLM agent&lt;/Text&gt;&#10;      &lt;Box style={{ flexDirection: 'column', gap: 6 }}&gt;&#10;        &lt;Text style={{ fontSize: 13, color: '#CBD5E1' }}&gt;&#10;          &lt;span style={{ color: '#06B6D4', fontWeight: 700 }}&gt;·&lt;/span&gt; Plans a multi-step investigation&#10;        &lt;/Text&gt;&#10;        &lt;Text style={{ fontSize: 13, color: '#CBD5E1' }}&gt;&#10;          &lt;span style={{ color: '#06B6D4', fontWeight: 700 }}&gt;·&lt;/span&gt; Runs engineering tools&#10;        &lt;/Text&gt;&#10;        &lt;Text style={{ fontSize: 13, color: '#CBD5E1' }}&gt;&#10;          &lt;span style={{ color: '#06B6D4', fontWeight: 700 }}&gt;·&lt;/span&gt; Reads raw data independently&#10;        &lt;/Text&gt;&#10;        &lt;Text style={{ fontSize: 13, color: '#CBD5E1' }}&gt;&#10;          &lt;span style={{ color: '#06B6D4', fontWeight: 700 }}&gt;·&lt;/span&gt; Reasons about uncertainties&#10;        &lt;/Text&gt;&#10;        &lt;Text style={{ fontSize: 13, color: '#CBD5E1' }}&gt;&#10;          &lt;span style={{ color: '#06B6D4', fontWeight: 700 }}&gt;·&lt;/span&gt; Writes structured reports&#10;        &lt;/Text&gt;&#10;      &lt;/Box&gt;&#10;    &lt;/Box&gt;&#10;&#10;    {/* Arrow 2 */}&#10;    &lt;Box style={{ width: 32, alignItems: 'center', justifyContent: 'center' }}&gt;&#10;      &lt;Text style={{ fontSize: 32, color: '#2563EB', fontWeight: 700 }}&gt;→&lt;/Text&gt;&#10;    &lt;/Box&gt;&#10;&#10;    {/* Step 3 - OUTPUTS */}&#10;    &lt;Box style={{ flex: 1, padding: 20, borderRadius: 12, background: '#FFFFFF', border: '1px solid #E2E8F0' }}&gt;&#10;      &lt;Box style={{ flexDirection: 'row', alignItems: 'center', marginBottom: 16 }}&gt;&#10;        &lt;Box style={{ width: 32, height: 32, borderRadius: 16, background: '#06B6D4', alignItems: 'center', justifyContent: 'center' }}&gt;&#10;          &lt;Text style={{ fontSize: 14, color: '#0B1E3F', fontWeight: 700 }}&gt;3&lt;/Text&gt;&#10;        &lt;/Box&gt;&#10;        &lt;Text style={{ fontSize: 11, color: '#06B6D4', fontWeight: 700, letterSpacing: 1.5, marginLeft: 12 }}&gt;OUTPUTS&lt;/Text&gt;&#10;      &lt;/Box&gt;&#10;      &lt;Text style={{ fontSize: 18, color: '#0F172A', fontWeight: 700, marginBottom: 12 }}&gt;Actionable insights&lt;/Text&gt;&#10;      &lt;Box style={{ flexDirection: 'column', gap: 8 }}&gt;&#10;        &lt;Text style={{ fontSize: 13, color: '#475569' }}&gt;&#10;          &lt;span style={{ color: '#2563EB', fontWeight: 700 }}&gt;·&lt;/span&gt; Readiness verdict (READY / NOT READY)&#10;        &lt;/Text&gt;&#10;        &lt;Text style={{ fontSize: 13, color: '#475569' }}&gt;&#10;          &lt;span style={{ color: '#2563EB', fontWeight: 700 }}&gt;·&lt;/span&gt; Prioritized work orders&#10;        &lt;/Text&gt;&#10;        &lt;Text style={{ fontSize: 13, color: '#475569' }}&gt;&#10;          &lt;span style={{ color: '#2563EB', fontWeight: 700 }}&gt;·&lt;/span&gt; Root-cause timelines&#10;        &lt;/Text&gt;&#10;        &lt;Text style={{ fontSize: 13, color: '#475569' }}&gt;&#10;          &lt;span style={{ color: '#2563EB', fontWeight: 700 }}&gt;·&lt;/span&gt; Contractor briefings&#10;        &lt;/Text&gt;&#10;      &lt;/Box&gt;&#10;    &lt;/Box&gt;&#10;  &lt;/Box&gt;&#10;&#10;  {/* Key benefit statement */}&#10;  &lt;Box style={{ position: 'absolute', bottom: 110, left: 60, right: 60, padding: 18, borderRadius: 12, background: '#FFFFFF', border: '1px solid #E2E8F0', borderLeft: '4px solid #06B6D4' }}&gt;&#10;    &lt;Text style={{ fontSize: 14, color: '#94A3B8', fontWeight: 700, letterSpacing: 1.5, marginBottom: 6 }}&gt;BUSINESS OUTCOME&lt;/Text&gt;&#10;    &lt;Text style={{ fontSize: 18, color: '#0F172A', fontWeight: 600, lineHeight: 1.5 }}&gt;&#10;      A small business owner asks a plain-English question, and the agent returns a prioritized maintenance plan with evidence — ready for a qualified specialist to act on.&#10;    &lt;/Text&gt;&#10;  &lt;/Box&gt;&#10;&#10;  {/* Footer */}&#10;  &lt;Box style={{ position: 'absolute', bottom: 32, left: 60, right: 60, flexDirection: 'row', justifyContent: 'space-between', alignItems: 'center' }}&gt;&#10;    &lt;Text style={{ fontSize: 12, color: '#64748B' }}&gt;GenBuddy · DORMATHON 2026 · Track 2: Agentic Solutions&lt;/Text&gt;&#10;    &lt;Text style={{ fontSize: 12, color: '#64748B' }}&gt;03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1E3F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94" name="Rectangle: Rounded Corners 93"/>
          <p:cNvSpPr/>
          <p:nvPr/>
        </p:nvSpPr>
        <p:spPr>
          <a:xfrm>
            <a:off x="571500" y="304800"/>
            <a:ext cx="1552575" cy="209550"/>
          </a:xfrm>
          <a:prstGeom prst="roundRect">
            <a:avLst>
              <a:gd name="adj" fmla="val 18182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5" name="TextBox 94" descr="{&quot;isTemplate&quot;:true,&quot;type&quot;:&quot;text&quot;}"/>
          <p:cNvSpPr txBox="1"/>
          <p:nvPr/>
        </p:nvSpPr>
        <p:spPr>
          <a:xfrm>
            <a:off x="685800" y="342900"/>
            <a:ext cx="13239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FFFFFF"/>
                </a:solidFill>
                <a:latin typeface="Microsoft YaHei"/>
                <a:ea typeface="Microsoft YaHei"/>
              </a:rPr>
              <a:t>03 / OUR SOLUTION</a:t>
            </a:r>
            <a:endParaRPr/>
          </a:p>
        </p:txBody>
      </p:sp>
      <p:sp>
        <p:nvSpPr>
          <p:cNvPr id="96" name="TextBox 95" descr="{&quot;isTemplate&quot;:true,&quot;type&quot;:&quot;text&quot;}"/>
          <p:cNvSpPr txBox="1"/>
          <p:nvPr/>
        </p:nvSpPr>
        <p:spPr>
          <a:xfrm>
            <a:off x="571500" y="609600"/>
            <a:ext cx="110490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0B1E3F"/>
                </a:solidFill>
                <a:latin typeface="Microsoft YaHei"/>
                <a:ea typeface="Microsoft YaHei"/>
              </a:rPr>
              <a:t>GenBuddy turns raw signals into readiness and action</a:t>
            </a:r>
            <a:endParaRPr/>
          </a:p>
        </p:txBody>
      </p:sp>
      <p:sp>
        <p:nvSpPr>
          <p:cNvPr id="97" name="Rectangle: Rounded Corners 96"/>
          <p:cNvSpPr/>
          <p:nvPr/>
        </p:nvSpPr>
        <p:spPr>
          <a:xfrm>
            <a:off x="571500" y="1333500"/>
            <a:ext cx="2981325" cy="215265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Rectangle: Rounded Corners 97"/>
          <p:cNvSpPr/>
          <p:nvPr/>
        </p:nvSpPr>
        <p:spPr>
          <a:xfrm>
            <a:off x="762000" y="1524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" name="TextBox 98" descr="{&quot;isTemplate&quot;:true,&quot;type&quot;:&quot;text&quot;}"/>
          <p:cNvSpPr txBox="1"/>
          <p:nvPr/>
        </p:nvSpPr>
        <p:spPr>
          <a:xfrm>
            <a:off x="876300" y="1600200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0" name="TextBox 99" descr="{&quot;isTemplate&quot;:true,&quot;type&quot;:&quot;text&quot;}"/>
          <p:cNvSpPr txBox="1"/>
          <p:nvPr/>
        </p:nvSpPr>
        <p:spPr>
          <a:xfrm>
            <a:off x="1181100" y="1609725"/>
            <a:ext cx="4953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INPUTS</a:t>
            </a:r>
            <a:endParaRPr/>
          </a:p>
        </p:txBody>
      </p:sp>
      <p:sp>
        <p:nvSpPr>
          <p:cNvPr id="101" name="TextBox 100" descr="{&quot;isTemplate&quot;:true,&quot;type&quot;:&quot;text&quot;}"/>
          <p:cNvSpPr txBox="1"/>
          <p:nvPr/>
        </p:nvSpPr>
        <p:spPr>
          <a:xfrm>
            <a:off x="762000" y="1981200"/>
            <a:ext cx="26003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Existing generator data</a:t>
            </a:r>
            <a:endParaRPr/>
          </a:p>
        </p:txBody>
      </p:sp>
      <p:sp>
        <p:nvSpPr>
          <p:cNvPr id="102" name="TextBox 101" descr="{&quot;isTemplate&quot;:true,&quot;type&quot;:&quot;text&quot;}"/>
          <p:cNvSpPr txBox="1"/>
          <p:nvPr/>
        </p:nvSpPr>
        <p:spPr>
          <a:xfrm>
            <a:off x="762000" y="230505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</a:rPr>
              <a:t>·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Telemetry (176 records, 13 params)</a:t>
            </a:r>
            <a:endParaRPr/>
          </a:p>
        </p:txBody>
      </p:sp>
      <p:sp>
        <p:nvSpPr>
          <p:cNvPr id="103" name="TextBox 102" descr="{&quot;isTemplate&quot;:true,&quot;type&quot;:&quot;text&quot;}"/>
          <p:cNvSpPr txBox="1"/>
          <p:nvPr/>
        </p:nvSpPr>
        <p:spPr>
          <a:xfrm>
            <a:off x="762000" y="253365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</a:rPr>
              <a:t>·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ATS event log (176 records)</a:t>
            </a:r>
            <a:endParaRPr/>
          </a:p>
        </p:txBody>
      </p:sp>
      <p:sp>
        <p:nvSpPr>
          <p:cNvPr id="104" name="TextBox 103" descr="{&quot;isTemplate&quot;:true,&quot;type&quot;:&quot;text&quot;}"/>
          <p:cNvSpPr txBox="1"/>
          <p:nvPr/>
        </p:nvSpPr>
        <p:spPr>
          <a:xfrm>
            <a:off x="762000" y="276225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</a:rPr>
              <a:t>·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Maintenance history (4 records)</a:t>
            </a:r>
            <a:endParaRPr/>
          </a:p>
        </p:txBody>
      </p:sp>
      <p:sp>
        <p:nvSpPr>
          <p:cNvPr id="105" name="TextBox 104" descr="{&quot;isTemplate&quot;:true,&quot;type&quot;:&quot;text&quot;}"/>
          <p:cNvSpPr txBox="1"/>
          <p:nvPr/>
        </p:nvSpPr>
        <p:spPr>
          <a:xfrm>
            <a:off x="3705225" y="2228850"/>
            <a:ext cx="3048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6" name="Rectangle: Rounded Corners 105"/>
          <p:cNvSpPr/>
          <p:nvPr/>
        </p:nvSpPr>
        <p:spPr>
          <a:xfrm>
            <a:off x="4162425" y="1333500"/>
            <a:ext cx="3867150" cy="2152650"/>
          </a:xfrm>
          <a:prstGeom prst="roundRect">
            <a:avLst>
              <a:gd name="adj" fmla="val 5310"/>
            </a:avLst>
          </a:prstGeom>
          <a:gradFill>
            <a:gsLst>
              <a:gs pos="0">
                <a:srgbClr val="0B1E3F"/>
              </a:gs>
              <a:gs pos="100000">
                <a:srgbClr val="1E40AF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07" name="Rectangle: Rounded Corners 106"/>
          <p:cNvSpPr/>
          <p:nvPr/>
        </p:nvSpPr>
        <p:spPr>
          <a:xfrm>
            <a:off x="4352925" y="1524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" name="TextBox 107" descr="{&quot;isTemplate&quot;:true,&quot;type&quot;:&quot;text&quot;}"/>
          <p:cNvSpPr txBox="1"/>
          <p:nvPr/>
        </p:nvSpPr>
        <p:spPr>
          <a:xfrm>
            <a:off x="4467225" y="1600200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E3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9" name="TextBox 108" descr="{&quot;isTemplate&quot;:true,&quot;type&quot;:&quot;text&quot;}"/>
          <p:cNvSpPr txBox="1"/>
          <p:nvPr/>
        </p:nvSpPr>
        <p:spPr>
          <a:xfrm>
            <a:off x="4772025" y="160972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AI INVESTIGATION</a:t>
            </a:r>
            <a:endParaRPr/>
          </a:p>
        </p:txBody>
      </p:sp>
      <p:sp>
        <p:nvSpPr>
          <p:cNvPr id="110" name="TextBox 109" descr="{&quot;isTemplate&quot;:true,&quot;type&quot;:&quot;text&quot;}"/>
          <p:cNvSpPr txBox="1"/>
          <p:nvPr/>
        </p:nvSpPr>
        <p:spPr>
          <a:xfrm>
            <a:off x="4352925" y="1981200"/>
            <a:ext cx="34861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WorkBuddy LLM agent</a:t>
            </a:r>
            <a:endParaRPr/>
          </a:p>
        </p:txBody>
      </p:sp>
      <p:sp>
        <p:nvSpPr>
          <p:cNvPr id="111" name="TextBox 110" descr="{&quot;isTemplate&quot;:true,&quot;type&quot;:&quot;text&quot;}"/>
          <p:cNvSpPr txBox="1"/>
          <p:nvPr/>
        </p:nvSpPr>
        <p:spPr>
          <a:xfrm>
            <a:off x="4352925" y="2305050"/>
            <a:ext cx="3486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06B6D4"/>
                </a:solidFill>
                <a:latin typeface="Microsoft YaHei"/>
                <a:ea typeface="Microsoft YaHei"/>
              </a:rPr>
              <a:t>·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Plans a multi-step investigation</a:t>
            </a:r>
            <a:endParaRPr/>
          </a:p>
        </p:txBody>
      </p:sp>
      <p:sp>
        <p:nvSpPr>
          <p:cNvPr id="112" name="TextBox 111" descr="{&quot;isTemplate&quot;:true,&quot;type&quot;:&quot;text&quot;}"/>
          <p:cNvSpPr txBox="1"/>
          <p:nvPr/>
        </p:nvSpPr>
        <p:spPr>
          <a:xfrm>
            <a:off x="4352925" y="2514600"/>
            <a:ext cx="3486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06B6D4"/>
                </a:solidFill>
                <a:latin typeface="Microsoft YaHei"/>
                <a:ea typeface="Microsoft YaHei"/>
              </a:rPr>
              <a:t>·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Runs engineering tools</a:t>
            </a:r>
            <a:endParaRPr/>
          </a:p>
        </p:txBody>
      </p:sp>
      <p:sp>
        <p:nvSpPr>
          <p:cNvPr id="113" name="TextBox 112" descr="{&quot;isTemplate&quot;:true,&quot;type&quot;:&quot;text&quot;}"/>
          <p:cNvSpPr txBox="1"/>
          <p:nvPr/>
        </p:nvSpPr>
        <p:spPr>
          <a:xfrm>
            <a:off x="4352925" y="2724150"/>
            <a:ext cx="3486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06B6D4"/>
                </a:solidFill>
                <a:latin typeface="Microsoft YaHei"/>
                <a:ea typeface="Microsoft YaHei"/>
              </a:rPr>
              <a:t>·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Reads raw data independently</a:t>
            </a:r>
            <a:endParaRPr/>
          </a:p>
        </p:txBody>
      </p:sp>
      <p:sp>
        <p:nvSpPr>
          <p:cNvPr id="114" name="TextBox 113" descr="{&quot;isTemplate&quot;:true,&quot;type&quot;:&quot;text&quot;}"/>
          <p:cNvSpPr txBox="1"/>
          <p:nvPr/>
        </p:nvSpPr>
        <p:spPr>
          <a:xfrm>
            <a:off x="4352925" y="2933700"/>
            <a:ext cx="3486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06B6D4"/>
                </a:solidFill>
                <a:latin typeface="Microsoft YaHei"/>
                <a:ea typeface="Microsoft YaHei"/>
              </a:rPr>
              <a:t>·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Reasons about uncertainties</a:t>
            </a:r>
            <a:endParaRPr/>
          </a:p>
        </p:txBody>
      </p:sp>
      <p:sp>
        <p:nvSpPr>
          <p:cNvPr id="115" name="TextBox 114" descr="{&quot;isTemplate&quot;:true,&quot;type&quot;:&quot;text&quot;}"/>
          <p:cNvSpPr txBox="1"/>
          <p:nvPr/>
        </p:nvSpPr>
        <p:spPr>
          <a:xfrm>
            <a:off x="4352925" y="3143250"/>
            <a:ext cx="3486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06B6D4"/>
                </a:solidFill>
                <a:latin typeface="Microsoft YaHei"/>
                <a:ea typeface="Microsoft YaHei"/>
              </a:rPr>
              <a:t>·</a:t>
            </a:r>
            <a:r>
              <a:rPr lang="en-US" sz="975">
                <a:solidFill>
                  <a:srgbClr val="CBD5E1"/>
                </a:solidFill>
                <a:latin typeface="Microsoft YaHei"/>
                <a:ea typeface="Microsoft YaHei"/>
              </a:rPr>
              <a:t> Writes structured reports</a:t>
            </a:r>
            <a:endParaRPr/>
          </a:p>
        </p:txBody>
      </p:sp>
      <p:sp>
        <p:nvSpPr>
          <p:cNvPr id="116" name="TextBox 115" descr="{&quot;isTemplate&quot;:true,&quot;type&quot;:&quot;text&quot;}"/>
          <p:cNvSpPr txBox="1"/>
          <p:nvPr/>
        </p:nvSpPr>
        <p:spPr>
          <a:xfrm>
            <a:off x="8181975" y="2228850"/>
            <a:ext cx="3048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400" b="1">
                <a:solidFill>
                  <a:srgbClr val="2563E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17" name="Rectangle: Rounded Corners 116"/>
          <p:cNvSpPr/>
          <p:nvPr/>
        </p:nvSpPr>
        <p:spPr>
          <a:xfrm>
            <a:off x="8639175" y="1333500"/>
            <a:ext cx="2981325" cy="215265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8" name="Rectangle: Rounded Corners 117"/>
          <p:cNvSpPr/>
          <p:nvPr/>
        </p:nvSpPr>
        <p:spPr>
          <a:xfrm>
            <a:off x="8829675" y="15240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" name="TextBox 118" descr="{&quot;isTemplate&quot;:true,&quot;type&quot;:&quot;text&quot;}"/>
          <p:cNvSpPr txBox="1"/>
          <p:nvPr/>
        </p:nvSpPr>
        <p:spPr>
          <a:xfrm>
            <a:off x="8943975" y="1600200"/>
            <a:ext cx="857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E3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0" name="TextBox 119" descr="{&quot;isTemplate&quot;:true,&quot;type&quot;:&quot;text&quot;}"/>
          <p:cNvSpPr txBox="1"/>
          <p:nvPr/>
        </p:nvSpPr>
        <p:spPr>
          <a:xfrm>
            <a:off x="9248775" y="1609725"/>
            <a:ext cx="6191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OUTPUTS</a:t>
            </a:r>
            <a:endParaRPr/>
          </a:p>
        </p:txBody>
      </p:sp>
      <p:sp>
        <p:nvSpPr>
          <p:cNvPr id="121" name="TextBox 120" descr="{&quot;isTemplate&quot;:true,&quot;type&quot;:&quot;text&quot;}"/>
          <p:cNvSpPr txBox="1"/>
          <p:nvPr/>
        </p:nvSpPr>
        <p:spPr>
          <a:xfrm>
            <a:off x="8829675" y="1981200"/>
            <a:ext cx="26003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Actionable insights</a:t>
            </a:r>
            <a:endParaRPr/>
          </a:p>
        </p:txBody>
      </p:sp>
      <p:sp>
        <p:nvSpPr>
          <p:cNvPr id="122" name="TextBox 121" descr="{&quot;isTemplate&quot;:true,&quot;type&quot;:&quot;text&quot;}"/>
          <p:cNvSpPr txBox="1"/>
          <p:nvPr/>
        </p:nvSpPr>
        <p:spPr>
          <a:xfrm>
            <a:off x="8829675" y="230505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</a:rPr>
              <a:t>·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Readiness verdict (READY / NOT READY)</a:t>
            </a:r>
            <a:endParaRPr/>
          </a:p>
        </p:txBody>
      </p:sp>
      <p:sp>
        <p:nvSpPr>
          <p:cNvPr id="123" name="TextBox 122" descr="{&quot;isTemplate&quot;:true,&quot;type&quot;:&quot;text&quot;}"/>
          <p:cNvSpPr txBox="1"/>
          <p:nvPr/>
        </p:nvSpPr>
        <p:spPr>
          <a:xfrm>
            <a:off x="8829675" y="253365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</a:rPr>
              <a:t>·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Prioritized work orders</a:t>
            </a:r>
            <a:endParaRPr/>
          </a:p>
        </p:txBody>
      </p:sp>
      <p:sp>
        <p:nvSpPr>
          <p:cNvPr id="124" name="TextBox 123" descr="{&quot;isTemplate&quot;:true,&quot;type&quot;:&quot;text&quot;}"/>
          <p:cNvSpPr txBox="1"/>
          <p:nvPr/>
        </p:nvSpPr>
        <p:spPr>
          <a:xfrm>
            <a:off x="8829675" y="276225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</a:rPr>
              <a:t>·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Root-cause timelines</a:t>
            </a:r>
            <a:endParaRPr/>
          </a:p>
        </p:txBody>
      </p:sp>
      <p:sp>
        <p:nvSpPr>
          <p:cNvPr id="125" name="TextBox 124" descr="{&quot;isTemplate&quot;:true,&quot;type&quot;:&quot;text&quot;}"/>
          <p:cNvSpPr txBox="1"/>
          <p:nvPr/>
        </p:nvSpPr>
        <p:spPr>
          <a:xfrm>
            <a:off x="8829675" y="2990850"/>
            <a:ext cx="26003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975" b="1">
                <a:solidFill>
                  <a:srgbClr val="2563EB"/>
                </a:solidFill>
                <a:latin typeface="Microsoft YaHei"/>
                <a:ea typeface="Microsoft YaHei"/>
              </a:rPr>
              <a:t>·</a:t>
            </a:r>
            <a:r>
              <a:rPr lang="en-US" sz="975">
                <a:solidFill>
                  <a:srgbClr val="475569"/>
                </a:solidFill>
                <a:latin typeface="Microsoft YaHei"/>
                <a:ea typeface="Microsoft YaHei"/>
              </a:rPr>
              <a:t> Contractor briefings</a:t>
            </a:r>
            <a:endParaRPr/>
          </a:p>
        </p:txBody>
      </p:sp>
      <p:sp>
        <p:nvSpPr>
          <p:cNvPr id="126" name="Rectangle: Rounded Corners 125"/>
          <p:cNvSpPr/>
          <p:nvPr/>
        </p:nvSpPr>
        <p:spPr>
          <a:xfrm>
            <a:off x="609600" y="4629150"/>
            <a:ext cx="1104900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7" name="Freeform: Shape 126"/>
          <p:cNvSpPr/>
          <p:nvPr/>
        </p:nvSpPr>
        <p:spPr>
          <a:xfrm>
            <a:off x="609600" y="4629150"/>
            <a:ext cx="11049000" cy="1181100"/>
          </a:xfrm>
          <a:custGeom>
            <a:avLst/>
            <a:gdLst/>
            <a:ahLst/>
            <a:cxnLst/>
            <a:rect l="0" t="0" r="0" b="0"/>
            <a:pathLst>
              <a:path w="1160" h="12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6"/>
                </a:lnTo>
                <a:cubicBezTo>
                  <a:pt x="4" y="120"/>
                  <a:pt x="7" y="123"/>
                  <a:pt x="10" y="124"/>
                </a:cubicBezTo>
                <a:cubicBezTo>
                  <a:pt x="4" y="123"/>
                  <a:pt x="0" y="118"/>
                  <a:pt x="0" y="11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8" name="TextBox 127" descr="{&quot;isTemplate&quot;:true,&quot;type&quot;:&quot;text&quot;}"/>
          <p:cNvSpPr txBox="1"/>
          <p:nvPr/>
        </p:nvSpPr>
        <p:spPr>
          <a:xfrm>
            <a:off x="781050" y="4800600"/>
            <a:ext cx="106680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13">
                <a:solidFill>
                  <a:srgbClr val="94A3B8"/>
                </a:solidFill>
                <a:latin typeface="Microsoft YaHei"/>
                <a:ea typeface="Microsoft YaHei"/>
              </a:rPr>
              <a:t>BUSINESS OUTCOME</a:t>
            </a:r>
            <a:endParaRPr/>
          </a:p>
        </p:txBody>
      </p:sp>
      <p:sp>
        <p:nvSpPr>
          <p:cNvPr id="129" name="TextBox 128" descr="{&quot;isTemplate&quot;:true,&quot;type&quot;:&quot;text&quot;}"/>
          <p:cNvSpPr txBox="1"/>
          <p:nvPr/>
        </p:nvSpPr>
        <p:spPr>
          <a:xfrm>
            <a:off x="781050" y="5019675"/>
            <a:ext cx="1066800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A small business owner asks a plain-English question, and the agent returns a prioritized maintenance plan with evidence — ready for a qualified specialist to act on.</a:t>
            </a:r>
            <a:endParaRPr/>
          </a:p>
        </p:txBody>
      </p:sp>
      <p:sp>
        <p:nvSpPr>
          <p:cNvPr id="130" name="TextBox 129" descr="{&quot;isTemplate&quot;:true,&quot;type&quot;:&quot;text&quot;}"/>
          <p:cNvSpPr txBox="1"/>
          <p:nvPr/>
        </p:nvSpPr>
        <p:spPr>
          <a:xfrm>
            <a:off x="571500" y="6410325"/>
            <a:ext cx="32480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GenBuddy · DORMATHON 2026 · Track 2: Agentic Solutions</a:t>
            </a:r>
            <a:endParaRPr/>
          </a:p>
        </p:txBody>
      </p:sp>
      <p:sp>
        <p:nvSpPr>
          <p:cNvPr id="131" name="TextBox 130" descr="{&quot;isTemplate&quot;:true,&quot;type&quot;:&quot;text&quot;}"/>
          <p:cNvSpPr txBox="1"/>
          <p:nvPr/>
        </p:nvSpPr>
        <p:spPr>
          <a:xfrm>
            <a:off x="11229975" y="641032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03 / 10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8FAFC' }}&gt;&#10;  {/* Top accent bar */}&#10;  &lt;Box style={{ position: 'absolute', top: 0, left: 0, width: '1280px', height: 6, background: 'linear-gradient(90deg, #0B1E3F 0%, #2563EB 100%)' }} /&gt;&#10;&#10;  {/* Section tag */}&#10;  &lt;Box style={{ position: 'absolute', top: 32, left: 60, padding: '4px 12px', borderRadius: 4, background: '#0B1E3F' }}&gt;&#10;    &lt;Text style={{ fontSize: 11, color: '#FFFFFF', fontWeight: 700, letterSpacing: 1.5 }}&gt;04 / ARCHITECTURE&lt;/Text&gt;&#10;  &lt;/Box&gt;&#10;&#10;  {/* Title */}&#10;  &lt;Box style={{ position: 'absolute', top: 64, left: 60, width: 1160 }}&gt;&#10;    &lt;Text style={{ fontSize: 28, color: '#0B1E3F', fontWeight: 700, lineHeight: 1.2 }}&gt;&#10;      System architecture: deterministic engineering meets AI reasoning&#10;    &lt;/Text&gt;&#10;  &lt;/Box&gt;&#10;&#10;  {/* Two-column split */}&#10;  &lt;Box style={{ position: 'absolute', top: 140, left: 60, right: 60, flexDirection: 'row', gap: 16 }}&gt;&#10;    {/* LEFT - Deterministic Engineering */}&#10;    &lt;Box style={{ flex: 1, padding: 16, borderRadius: 12, background: '#FFFFFF', border: '1px solid #E2E8F0' }}&gt;&#10;      &lt;Box style={{ flexDirection: 'row', alignItems: 'center', marginBottom: 12 }}&gt;&#10;        &lt;Box style={{ width: 28, height: 28, borderRadius: 6, background: '#2563EB', alignItems: 'center', justifyContent: 'center' }}&gt;&#10;          &lt;Text style={{ fontSize: 12, color: '#FFFFFF', fontWeight: 700 }}&gt;E&lt;/Text&gt;&#10;        &lt;/Box&gt;&#10;        &lt;Text style={{ fontSize: 11, color: '#2563EB', fontWeight: 700, letterSpacing: 1.5, marginLeft: 8 }}&gt;DETERMINISTIC ENGINEERING&lt;/Text&gt;&#10;      &lt;/Box&gt;&#10;&#10;      &lt;Box style={{ flexDirection: 'column', gap: 8 }}&gt;&#10;        {/* Flask Dashboard */}&#10;        &lt;Box style={{ padding: 10, borderRadius: 6, background: '#F1F5F9', borderLeft: '3px solid #2563EB' }}&gt;&#10;          &lt;Text style={{ fontSize: 13, color: '#0F172A', fontWeight: 700 }}&gt;Flask Dashboard&lt;/Text&gt;&#10;          &lt;Text style={{ fontSize: 11, color: '#64748B', marginTop: 2 }}&gt;app.py · 12 API endpoints · templates/index.html&lt;/Text&gt;&#10;        &lt;/Box&gt;&#10;&#10;        {/* Scripts */}&#10;        &lt;Box style={{ padding: 10, borderRadius: 6, background: '#F1F5F9', borderLeft: '3px solid #2563EB' }}&gt;&#10;          &lt;Text style={{ fontSize: 13, color: '#0F172A', fontWeight: 700 }}&gt;Engineering Scripts&lt;/Text&gt;&#10;          &lt;Text style={{ fontSize: 11, color: '#64748B', marginTop: 2 }}&gt;validate_data.py (13 checks) · fault_investigation.py&lt;/Text&gt;&#10;        &lt;/Box&gt;&#10;&#10;        {/* Data Files */}&#10;        &lt;Box style={{ padding: 10, borderRadius: 6, background: '#F1F5F9', borderLeft: '3px solid #2563EB' }}&gt;&#10;          &lt;Text style={{ fontSize: 13, color: '#0F172A', fontWeight: 700 }}&gt;CSV Data Sources&lt;/Text&gt;&#10;          &lt;Text style={{ fontSize: 11, color: '#64748B', marginTop: 2 }}&gt;generator_data.csv · ats_events.csv · maintenance_history.csv&lt;/Text&gt;&#10;        &lt;/Box&gt;&#10;&#10;        {/* Request System */}&#10;        &lt;Box style={{ padding: 10, borderRadius: 6, background: '#F1F5F9', borderLeft: '3px solid #2563EB' }}&gt;&#10;          &lt;Text style={{ fontSize: 13, color: '#0F172A', fontWeight: 700 }}&gt;Request / Output&lt;/Text&gt;&#10;          &lt;Text style={{ fontSize: 11, color: '#64748B', marginTop: 2 }}&gt;JSON files in requests/ · reports in outputs/&lt;/Text&gt;&#10;        &lt;/Box&gt;&#10;      &lt;/Box&gt;&#10;&#10;      &lt;Box style={{ marginTop: 12, padding: 8, borderRadius: 6, background: '#DBEAFE' }}&gt;&#10;        &lt;Text style={{ fontSize: 11, color: '#1E40AF', fontWeight: 600 }}&gt;&#10;          ✓ Reproducible · testable · version-controlled&#10;        &lt;/Text&gt;&#10;      &lt;/Box&gt;&#10;    &lt;/Box&gt;&#10;&#10;    {/* RIGHT - WorkBuddy AI Agent */}&#10;    &lt;Box style={{ flex: 1, padding: 16, borderRadius: 12, background: 'linear-gradient(135deg, #0B1E3F 0%, #1E3A8A 100%)' }}&gt;&#10;      &lt;Box style={{ flexDirection: 'row', alignItems: 'center', marginBottom: 12 }}&gt;&#10;        &lt;Box style={{ width: 28, height: 28, borderRadius: 6, background: '#06B6D4', alignItems: 'center', justifyContent: 'center' }}&gt;&#10;          &lt;Text style={{ fontSize: 12, color: '#0B1E3F', fontWeight: 700 }}&gt;AI&lt;/Text&gt;&#10;        &lt;/Box&gt;&#10;        &lt;Text style={{ fontSize: 11, color: '#06B6D4', fontWeight: 700, letterSpacing: 1.5, marginLeft: 8 }}&gt;WORKBUDDY LLM AGENT&lt;/Text&gt;&#10;      &lt;/Box&gt;&#10;&#10;      &lt;Box style={{ flexDirection: 'column', gap: 8 }}&gt;&#10;        &lt;Box style={{ padding: 10, borderRadius: 6, background: 'rgba(6,182,212,0.12)', borderLeft: '3px solid #06B6D4' }}&gt;&#10;          &lt;Text style={{ fontSize: 13, color: '#FFFFFF', fontWeight: 700 }}&gt;Plan&lt;/Text&gt;&#10;          &lt;Text style={{ fontSize: 11, color: '#CBD5E1', marginTop: 2 }}&gt;Builds a multi-step plan before executing&lt;/Text&gt;&#10;        &lt;/Box&gt;&#10;&#10;        &lt;Box style={{ padding: 10, borderRadius: 6, background: 'rgba(6,182,212,0.12)', borderLeft: '3px solid #06B6D4' }}&gt;&#10;          &lt;Text style={{ fontSize: 13, color: '#FFFFFF', fontWeight: 700 }}&gt;Execute Tools&lt;/Text&gt;&#10;          &lt;Text style={{ fontSize: 11, color: '#CBD5E1', marginTop: 2 }}&gt;Runs scripts, reads CSVs, queries API&lt;/Text&gt;&#10;        &lt;/Box&gt;&#10;&#10;        &lt;Box style={{ padding: 10, borderRadius: 6, background: 'rgba(6,182,212,0.12)', borderLeft: '3px solid #06B6D4' }}&gt;&#10;          &lt;Text style={{ fontSize: 13, color: '#FFFFFF', fontWeight: 700 }}&gt;Reason&lt;/Text&gt;&#10;          &lt;Text style={{ fontSize: 11, color: '#CBD5E1', marginTop: 2 }}&gt;Distinguishes observed facts from suspected causes&lt;/Text&gt;&#10;        &lt;/Box&gt;&#10;&#10;        &lt;Box style={{ padding: 10, borderRadius: 6, background: 'rgba(6,182,212,0.12)', borderLeft: '3px solid #06B6D4' }}&gt;&#10;          &lt;Text style={{ fontSize: 13, color: '#FFFFFF', fontWeight: 700 }}&gt;Write Reports&lt;/Text&gt;&#10;          &lt;Text style={{ fontSize: 11, color: '#CBD5E1', marginTop: 2 }}&gt;Outputs structured Markdown files for review&lt;/Text&gt;&#10;        &lt;/Box&gt;&#10;      &lt;/Box&gt;&#10;&#10;      &lt;Box style={{ marginTop: 12, padding: 8, borderRadius: 6, background: 'rgba(6,182,212,0.18)' }}&gt;&#10;        &lt;Text style={{ fontSize: 11, color: '#06B6D4', fontWeight: 600 }}&gt;&#10;          ✓ Adaptive · investigative · auditable&#10;        &lt;/Text&gt;&#10;      &lt;/Box&gt;&#10;    &lt;/Box&gt;&#10;  &lt;/Box&gt;&#10;&#10;  {/* Bottom flow */}&#10;  &lt;Box style={{ position: 'absolute', bottom: 80, left: 60, right: 60, padding: 12, borderRadius: 12, background: '#0B1E3F' }}&gt;&#10;    &lt;Box style={{ flexDirection: 'row', alignItems: 'center', justifyContent: 'space-between' }}&gt;&#10;      &lt;Box style={{ alignItems: 'center' }}&gt;&#10;        &lt;Text style={{ fontSize: 11, color: '#06B6D4', fontWeight: 700, letterSpacing: 1.5 }}&gt;FLOW&lt;/Text&gt;&#10;        &lt;Text style={{ fontSize: 14, color: '#FFFFFF', fontWeight: 700, marginTop: 4 }}&gt;User question&lt;/Text&gt;&#10;      &lt;/Box&gt;&#10;      &lt;Text style={{ fontSize: 24, color: '#06B6D4' }}&gt;→&lt;/Text&gt;&#10;      &lt;Box style={{ alignItems: 'center' }}&gt;&#10;        &lt;Text style={{ fontSize: 11, color: '#06B6D4', fontWeight: 700, letterSpacing: 1.5 }}&gt;FILE&lt;/Text&gt;&#10;        &lt;Text style={{ fontSize: 14, color: '#FFFFFF', fontWeight: 700, marginTop: 4 }}&gt;JSON request&lt;/Text&gt;&#10;      &lt;/Box&gt;&#10;      &lt;Text style={{ fontSize: 24, color: '#06B6D4' }}&gt;→&lt;/Text&gt;&#10;      &lt;Box style={{ alignItems: 'center' }}&gt;&#10;        &lt;Text style={{ fontSize: 11, color: '#06B6D4', fontWeight: 700, letterSpacing: 1.5 }}&gt;MANUAL&lt;/Text&gt;&#10;        &lt;Text style={{ fontSize: 14, color: '#FFFFFF', fontWeight: 700, marginTop: 4 }}&gt;Paste to WorkBuddy&lt;/Text&gt;&#10;      &lt;/Box&gt;&#10;      &lt;Text style={{ fontSize: 24, color: '#06B6D4' }}&gt;→&lt;/Text&gt;&#10;      &lt;Box style={{ alignItems: 'center' }}&gt;&#10;        &lt;Text style={{ fontSize: 11, color: '#06B6D4', fontWeight: 700, letterSpacing: 1.5 }}&gt;AGENT&lt;/Text&gt;&#10;        &lt;Text style={{ fontSize: 14, color: '#FFFFFF', fontWeight: 700, marginTop: 4 }}&gt;Plan + investigate&lt;/Text&gt;&#10;      &lt;/Box&gt;&#10;      &lt;Text style={{ fontSize: 24, color: '#06B6D4' }}&gt;→&lt;/Text&gt;&#10;      &lt;Box style={{ alignItems: 'center' }}&gt;&#10;        &lt;Text style={{ fontSize: 11, color: '#06B6D4', fontWeight: 700, letterSpacing: 1.5 }}&gt;OUTPUT&lt;/Text&gt;&#10;        &lt;Text style={{ fontSize: 14, color: '#FFFFFF', fontWeight: 700, marginTop: 4 }}&gt;Reports in dashboard&lt;/Text&gt;&#10;      &lt;/Box&gt;&#10;    &lt;/Box&gt;&#10;  &lt;/Box&gt;&#10;&#10;  {/* Footer */}&#10;  &lt;Box style={{ position: 'absolute', bottom: 32, left: 60, right: 60, flexDirection: 'row', justifyContent: 'space-between', alignItems: 'center' }}&gt;&#10;    &lt;Text style={{ fontSize: 12, color: '#64748B' }}&gt;GenBuddy · DORMATHON 2026 · Track 2: Agentic Solutions&lt;/Text&gt;&#10;    &lt;Text style={{ fontSize: 12, color: '#64748B' }}&gt;04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1E3F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35" name="Rectangle: Rounded Corners 134"/>
          <p:cNvSpPr/>
          <p:nvPr/>
        </p:nvSpPr>
        <p:spPr>
          <a:xfrm>
            <a:off x="571500" y="304800"/>
            <a:ext cx="1533525" cy="209550"/>
          </a:xfrm>
          <a:prstGeom prst="roundRect">
            <a:avLst>
              <a:gd name="adj" fmla="val 18182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6" name="TextBox 135" descr="{&quot;isTemplate&quot;:true,&quot;type&quot;:&quot;text&quot;}"/>
          <p:cNvSpPr txBox="1"/>
          <p:nvPr/>
        </p:nvSpPr>
        <p:spPr>
          <a:xfrm>
            <a:off x="685800" y="342900"/>
            <a:ext cx="13049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FFFFFF"/>
                </a:solidFill>
                <a:latin typeface="Microsoft YaHei"/>
                <a:ea typeface="Microsoft YaHei"/>
              </a:rPr>
              <a:t>04 / ARCHITECTURE</a:t>
            </a:r>
            <a:endParaRPr/>
          </a:p>
        </p:txBody>
      </p:sp>
      <p:sp>
        <p:nvSpPr>
          <p:cNvPr id="137" name="TextBox 136" descr="{&quot;isTemplate&quot;:true,&quot;type&quot;:&quot;text&quot;}"/>
          <p:cNvSpPr txBox="1"/>
          <p:nvPr/>
        </p:nvSpPr>
        <p:spPr>
          <a:xfrm>
            <a:off x="571500" y="609600"/>
            <a:ext cx="110490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0B1E3F"/>
                </a:solidFill>
                <a:latin typeface="Microsoft YaHei"/>
                <a:ea typeface="Microsoft YaHei"/>
              </a:rPr>
              <a:t>System architecture: deterministic engineering meets AI reasoning</a:t>
            </a:r>
            <a:endParaRPr/>
          </a:p>
        </p:txBody>
      </p:sp>
      <p:sp>
        <p:nvSpPr>
          <p:cNvPr id="138" name="Rectangle: Rounded Corners 137"/>
          <p:cNvSpPr/>
          <p:nvPr/>
        </p:nvSpPr>
        <p:spPr>
          <a:xfrm>
            <a:off x="571500" y="1333500"/>
            <a:ext cx="5448300" cy="3295650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9" name="Rectangle: Rounded Corners 138"/>
          <p:cNvSpPr/>
          <p:nvPr/>
        </p:nvSpPr>
        <p:spPr>
          <a:xfrm>
            <a:off x="723900" y="14859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0" name="TextBox 139" descr="{&quot;isTemplate&quot;:true,&quot;type&quot;:&quot;text&quot;}"/>
          <p:cNvSpPr txBox="1"/>
          <p:nvPr/>
        </p:nvSpPr>
        <p:spPr>
          <a:xfrm>
            <a:off x="828675" y="1552575"/>
            <a:ext cx="666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E</a:t>
            </a:r>
            <a:endParaRPr/>
          </a:p>
        </p:txBody>
      </p:sp>
      <p:sp>
        <p:nvSpPr>
          <p:cNvPr id="141" name="TextBox 140" descr="{&quot;isTemplate&quot;:true,&quot;type&quot;:&quot;text&quot;}"/>
          <p:cNvSpPr txBox="1"/>
          <p:nvPr/>
        </p:nvSpPr>
        <p:spPr>
          <a:xfrm>
            <a:off x="1066800" y="1552575"/>
            <a:ext cx="19812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2563EB"/>
                </a:solidFill>
                <a:latin typeface="Microsoft YaHei"/>
                <a:ea typeface="Microsoft YaHei"/>
              </a:rPr>
              <a:t>DETERMINISTIC ENGINEERING</a:t>
            </a:r>
            <a:endParaRPr/>
          </a:p>
        </p:txBody>
      </p:sp>
      <p:sp>
        <p:nvSpPr>
          <p:cNvPr id="142" name="Rectangle: Rounded Corners 141"/>
          <p:cNvSpPr/>
          <p:nvPr/>
        </p:nvSpPr>
        <p:spPr>
          <a:xfrm>
            <a:off x="752475" y="1866900"/>
            <a:ext cx="5143500" cy="49530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3" name="Freeform: Shape 142"/>
          <p:cNvSpPr/>
          <p:nvPr/>
        </p:nvSpPr>
        <p:spPr>
          <a:xfrm>
            <a:off x="752475" y="1866900"/>
            <a:ext cx="5143500" cy="495300"/>
          </a:xfrm>
          <a:custGeom>
            <a:avLst/>
            <a:gdLst/>
            <a:ahLst/>
            <a:cxnLst/>
            <a:rect l="0" t="0" r="0" b="0"/>
            <a:pathLst>
              <a:path w="540" h="5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9"/>
                </a:lnTo>
                <a:cubicBezTo>
                  <a:pt x="3" y="50"/>
                  <a:pt x="4" y="52"/>
                  <a:pt x="5" y="52"/>
                </a:cubicBezTo>
                <a:cubicBezTo>
                  <a:pt x="2" y="52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4" name="TextBox 143" descr="{&quot;isTemplate&quot;:true,&quot;type&quot;:&quot;text&quot;}"/>
          <p:cNvSpPr txBox="1"/>
          <p:nvPr/>
        </p:nvSpPr>
        <p:spPr>
          <a:xfrm>
            <a:off x="847725" y="1962150"/>
            <a:ext cx="4924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Flask Dashboard</a:t>
            </a:r>
            <a:endParaRPr/>
          </a:p>
        </p:txBody>
      </p:sp>
      <p:sp>
        <p:nvSpPr>
          <p:cNvPr id="145" name="TextBox 144" descr="{&quot;isTemplate&quot;:true,&quot;type&quot;:&quot;text&quot;}"/>
          <p:cNvSpPr txBox="1"/>
          <p:nvPr/>
        </p:nvSpPr>
        <p:spPr>
          <a:xfrm>
            <a:off x="847725" y="2133600"/>
            <a:ext cx="49244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app.py · 12 API endpoints · templates/index.html</a:t>
            </a:r>
            <a:endParaRPr/>
          </a:p>
        </p:txBody>
      </p:sp>
      <p:sp>
        <p:nvSpPr>
          <p:cNvPr id="146" name="Rectangle: Rounded Corners 145"/>
          <p:cNvSpPr/>
          <p:nvPr/>
        </p:nvSpPr>
        <p:spPr>
          <a:xfrm>
            <a:off x="752475" y="2438400"/>
            <a:ext cx="5143500" cy="49530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" name="Freeform: Shape 146"/>
          <p:cNvSpPr/>
          <p:nvPr/>
        </p:nvSpPr>
        <p:spPr>
          <a:xfrm>
            <a:off x="752475" y="2438400"/>
            <a:ext cx="5143500" cy="495300"/>
          </a:xfrm>
          <a:custGeom>
            <a:avLst/>
            <a:gdLst/>
            <a:ahLst/>
            <a:cxnLst/>
            <a:rect l="0" t="0" r="0" b="0"/>
            <a:pathLst>
              <a:path w="540" h="5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9"/>
                </a:lnTo>
                <a:cubicBezTo>
                  <a:pt x="3" y="50"/>
                  <a:pt x="4" y="52"/>
                  <a:pt x="5" y="52"/>
                </a:cubicBezTo>
                <a:cubicBezTo>
                  <a:pt x="2" y="52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8" name="TextBox 147" descr="{&quot;isTemplate&quot;:true,&quot;type&quot;:&quot;text&quot;}"/>
          <p:cNvSpPr txBox="1"/>
          <p:nvPr/>
        </p:nvSpPr>
        <p:spPr>
          <a:xfrm>
            <a:off x="847725" y="2533650"/>
            <a:ext cx="4924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Engineering Scripts</a:t>
            </a:r>
            <a:endParaRPr/>
          </a:p>
        </p:txBody>
      </p:sp>
      <p:sp>
        <p:nvSpPr>
          <p:cNvPr id="149" name="TextBox 148" descr="{&quot;isTemplate&quot;:true,&quot;type&quot;:&quot;text&quot;}"/>
          <p:cNvSpPr txBox="1"/>
          <p:nvPr/>
        </p:nvSpPr>
        <p:spPr>
          <a:xfrm>
            <a:off x="847725" y="2705100"/>
            <a:ext cx="49244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validate_data.py (13 checks) · fault_investigation.py</a:t>
            </a:r>
            <a:endParaRPr/>
          </a:p>
        </p:txBody>
      </p:sp>
      <p:sp>
        <p:nvSpPr>
          <p:cNvPr id="150" name="Rectangle: Rounded Corners 149"/>
          <p:cNvSpPr/>
          <p:nvPr/>
        </p:nvSpPr>
        <p:spPr>
          <a:xfrm>
            <a:off x="752475" y="3009900"/>
            <a:ext cx="5143500" cy="49530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1" name="Freeform: Shape 150"/>
          <p:cNvSpPr/>
          <p:nvPr/>
        </p:nvSpPr>
        <p:spPr>
          <a:xfrm>
            <a:off x="752475" y="3009900"/>
            <a:ext cx="5143500" cy="495300"/>
          </a:xfrm>
          <a:custGeom>
            <a:avLst/>
            <a:gdLst/>
            <a:ahLst/>
            <a:cxnLst/>
            <a:rect l="0" t="0" r="0" b="0"/>
            <a:pathLst>
              <a:path w="540" h="5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9"/>
                </a:lnTo>
                <a:cubicBezTo>
                  <a:pt x="3" y="50"/>
                  <a:pt x="4" y="52"/>
                  <a:pt x="5" y="52"/>
                </a:cubicBezTo>
                <a:cubicBezTo>
                  <a:pt x="2" y="52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2" name="TextBox 151" descr="{&quot;isTemplate&quot;:true,&quot;type&quot;:&quot;text&quot;}"/>
          <p:cNvSpPr txBox="1"/>
          <p:nvPr/>
        </p:nvSpPr>
        <p:spPr>
          <a:xfrm>
            <a:off x="847725" y="3105150"/>
            <a:ext cx="4924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CSV Data Sources</a:t>
            </a:r>
            <a:endParaRPr/>
          </a:p>
        </p:txBody>
      </p:sp>
      <p:sp>
        <p:nvSpPr>
          <p:cNvPr id="153" name="TextBox 152" descr="{&quot;isTemplate&quot;:true,&quot;type&quot;:&quot;text&quot;}"/>
          <p:cNvSpPr txBox="1"/>
          <p:nvPr/>
        </p:nvSpPr>
        <p:spPr>
          <a:xfrm>
            <a:off x="847725" y="3276600"/>
            <a:ext cx="49244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generator_data.csv · ats_events.csv · maintenance_history.csv</a:t>
            </a:r>
            <a:endParaRPr/>
          </a:p>
        </p:txBody>
      </p:sp>
      <p:sp>
        <p:nvSpPr>
          <p:cNvPr id="154" name="Rectangle: Rounded Corners 153"/>
          <p:cNvSpPr/>
          <p:nvPr/>
        </p:nvSpPr>
        <p:spPr>
          <a:xfrm>
            <a:off x="752475" y="3581400"/>
            <a:ext cx="5143500" cy="495300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" name="Freeform: Shape 154"/>
          <p:cNvSpPr/>
          <p:nvPr/>
        </p:nvSpPr>
        <p:spPr>
          <a:xfrm>
            <a:off x="752475" y="3581400"/>
            <a:ext cx="5143500" cy="495300"/>
          </a:xfrm>
          <a:custGeom>
            <a:avLst/>
            <a:gdLst/>
            <a:ahLst/>
            <a:cxnLst/>
            <a:rect l="0" t="0" r="0" b="0"/>
            <a:pathLst>
              <a:path w="540" h="5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9"/>
                </a:lnTo>
                <a:cubicBezTo>
                  <a:pt x="3" y="50"/>
                  <a:pt x="4" y="52"/>
                  <a:pt x="5" y="52"/>
                </a:cubicBezTo>
                <a:cubicBezTo>
                  <a:pt x="2" y="52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6" name="TextBox 155" descr="{&quot;isTemplate&quot;:true,&quot;type&quot;:&quot;text&quot;}"/>
          <p:cNvSpPr txBox="1"/>
          <p:nvPr/>
        </p:nvSpPr>
        <p:spPr>
          <a:xfrm>
            <a:off x="847725" y="3676650"/>
            <a:ext cx="4924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Request / Output</a:t>
            </a:r>
            <a:endParaRPr/>
          </a:p>
        </p:txBody>
      </p:sp>
      <p:sp>
        <p:nvSpPr>
          <p:cNvPr id="157" name="TextBox 156" descr="{&quot;isTemplate&quot;:true,&quot;type&quot;:&quot;text&quot;}"/>
          <p:cNvSpPr txBox="1"/>
          <p:nvPr/>
        </p:nvSpPr>
        <p:spPr>
          <a:xfrm>
            <a:off x="847725" y="3848100"/>
            <a:ext cx="49244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JSON files in requests/ · reports in outputs/</a:t>
            </a:r>
            <a:endParaRPr/>
          </a:p>
        </p:txBody>
      </p:sp>
      <p:sp>
        <p:nvSpPr>
          <p:cNvPr id="158" name="Rectangle: Rounded Corners 157"/>
          <p:cNvSpPr/>
          <p:nvPr/>
        </p:nvSpPr>
        <p:spPr>
          <a:xfrm>
            <a:off x="723900" y="4191000"/>
            <a:ext cx="5143500" cy="28575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9" name="TextBox 158" descr="{&quot;isTemplate&quot;:true,&quot;type&quot;:&quot;text&quot;}"/>
          <p:cNvSpPr txBox="1"/>
          <p:nvPr/>
        </p:nvSpPr>
        <p:spPr>
          <a:xfrm>
            <a:off x="800100" y="4267200"/>
            <a:ext cx="4991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E40AF"/>
                </a:solidFill>
                <a:latin typeface="Microsoft YaHei"/>
                <a:ea typeface="Microsoft YaHei"/>
              </a:rPr>
              <a:t>✓ Reproducible · testable · version-controlled</a:t>
            </a:r>
            <a:endParaRPr/>
          </a:p>
        </p:txBody>
      </p:sp>
      <p:sp>
        <p:nvSpPr>
          <p:cNvPr id="160" name="Rectangle: Rounded Corners 159"/>
          <p:cNvSpPr/>
          <p:nvPr/>
        </p:nvSpPr>
        <p:spPr>
          <a:xfrm>
            <a:off x="6172200" y="1333500"/>
            <a:ext cx="5448300" cy="3295650"/>
          </a:xfrm>
          <a:prstGeom prst="roundRect">
            <a:avLst>
              <a:gd name="adj" fmla="val 3468"/>
            </a:avLst>
          </a:prstGeom>
          <a:gradFill>
            <a:gsLst>
              <a:gs pos="0">
                <a:srgbClr val="0B1E3F"/>
              </a:gs>
              <a:gs pos="100000">
                <a:srgbClr val="1E3A8A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61" name="Rectangle: Rounded Corners 160"/>
          <p:cNvSpPr/>
          <p:nvPr/>
        </p:nvSpPr>
        <p:spPr>
          <a:xfrm>
            <a:off x="6324600" y="148590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2" name="TextBox 161" descr="{&quot;isTemplate&quot;:true,&quot;type&quot;:&quot;text&quot;}"/>
          <p:cNvSpPr txBox="1"/>
          <p:nvPr/>
        </p:nvSpPr>
        <p:spPr>
          <a:xfrm>
            <a:off x="6391275" y="1552575"/>
            <a:ext cx="13335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0B1E3F"/>
                </a:solidFill>
                <a:latin typeface="Microsoft YaHei"/>
                <a:ea typeface="Microsoft YaHei"/>
              </a:rPr>
              <a:t>AI</a:t>
            </a:r>
            <a:endParaRPr/>
          </a:p>
        </p:txBody>
      </p:sp>
      <p:sp>
        <p:nvSpPr>
          <p:cNvPr id="163" name="TextBox 162" descr="{&quot;isTemplate&quot;:true,&quot;type&quot;:&quot;text&quot;}"/>
          <p:cNvSpPr txBox="1"/>
          <p:nvPr/>
        </p:nvSpPr>
        <p:spPr>
          <a:xfrm>
            <a:off x="6667500" y="1552575"/>
            <a:ext cx="16668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WORKBUDDY LLM AGENT</a:t>
            </a:r>
            <a:endParaRPr/>
          </a:p>
        </p:txBody>
      </p:sp>
      <p:sp>
        <p:nvSpPr>
          <p:cNvPr id="164" name="Rectangle: Rounded Corners 163"/>
          <p:cNvSpPr/>
          <p:nvPr/>
        </p:nvSpPr>
        <p:spPr>
          <a:xfrm>
            <a:off x="6353175" y="1866900"/>
            <a:ext cx="5143500" cy="495300"/>
          </a:xfrm>
          <a:prstGeom prst="roundRect">
            <a:avLst>
              <a:gd name="adj" fmla="val 11538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5" name="Freeform: Shape 164"/>
          <p:cNvSpPr/>
          <p:nvPr/>
        </p:nvSpPr>
        <p:spPr>
          <a:xfrm>
            <a:off x="6353175" y="1866900"/>
            <a:ext cx="5143500" cy="495300"/>
          </a:xfrm>
          <a:custGeom>
            <a:avLst/>
            <a:gdLst/>
            <a:ahLst/>
            <a:cxnLst/>
            <a:rect l="0" t="0" r="0" b="0"/>
            <a:pathLst>
              <a:path w="540" h="5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9"/>
                </a:lnTo>
                <a:cubicBezTo>
                  <a:pt x="3" y="50"/>
                  <a:pt x="4" y="52"/>
                  <a:pt x="5" y="52"/>
                </a:cubicBezTo>
                <a:cubicBezTo>
                  <a:pt x="2" y="52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6" name="TextBox 165" descr="{&quot;isTemplate&quot;:true,&quot;type&quot;:&quot;text&quot;}"/>
          <p:cNvSpPr txBox="1"/>
          <p:nvPr/>
        </p:nvSpPr>
        <p:spPr>
          <a:xfrm>
            <a:off x="6448425" y="1962150"/>
            <a:ext cx="4924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Plan</a:t>
            </a:r>
            <a:endParaRPr/>
          </a:p>
        </p:txBody>
      </p:sp>
      <p:sp>
        <p:nvSpPr>
          <p:cNvPr id="167" name="TextBox 166" descr="{&quot;isTemplate&quot;:true,&quot;type&quot;:&quot;text&quot;}"/>
          <p:cNvSpPr txBox="1"/>
          <p:nvPr/>
        </p:nvSpPr>
        <p:spPr>
          <a:xfrm>
            <a:off x="6448425" y="2133600"/>
            <a:ext cx="49244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CBD5E1"/>
                </a:solidFill>
                <a:latin typeface="Microsoft YaHei"/>
                <a:ea typeface="Microsoft YaHei"/>
              </a:rPr>
              <a:t>Builds a multi-step plan before executing</a:t>
            </a:r>
            <a:endParaRPr/>
          </a:p>
        </p:txBody>
      </p:sp>
      <p:sp>
        <p:nvSpPr>
          <p:cNvPr id="168" name="Rectangle: Rounded Corners 167"/>
          <p:cNvSpPr/>
          <p:nvPr/>
        </p:nvSpPr>
        <p:spPr>
          <a:xfrm>
            <a:off x="6353175" y="2438400"/>
            <a:ext cx="5143500" cy="495300"/>
          </a:xfrm>
          <a:prstGeom prst="roundRect">
            <a:avLst>
              <a:gd name="adj" fmla="val 11538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9" name="Freeform: Shape 168"/>
          <p:cNvSpPr/>
          <p:nvPr/>
        </p:nvSpPr>
        <p:spPr>
          <a:xfrm>
            <a:off x="6353175" y="2438400"/>
            <a:ext cx="5143500" cy="495300"/>
          </a:xfrm>
          <a:custGeom>
            <a:avLst/>
            <a:gdLst/>
            <a:ahLst/>
            <a:cxnLst/>
            <a:rect l="0" t="0" r="0" b="0"/>
            <a:pathLst>
              <a:path w="540" h="5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9"/>
                </a:lnTo>
                <a:cubicBezTo>
                  <a:pt x="3" y="50"/>
                  <a:pt x="4" y="52"/>
                  <a:pt x="5" y="52"/>
                </a:cubicBezTo>
                <a:cubicBezTo>
                  <a:pt x="2" y="52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0" name="TextBox 169" descr="{&quot;isTemplate&quot;:true,&quot;type&quot;:&quot;text&quot;}"/>
          <p:cNvSpPr txBox="1"/>
          <p:nvPr/>
        </p:nvSpPr>
        <p:spPr>
          <a:xfrm>
            <a:off x="6448425" y="2533650"/>
            <a:ext cx="4924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Execute Tools</a:t>
            </a:r>
            <a:endParaRPr/>
          </a:p>
        </p:txBody>
      </p:sp>
      <p:sp>
        <p:nvSpPr>
          <p:cNvPr id="171" name="TextBox 170" descr="{&quot;isTemplate&quot;:true,&quot;type&quot;:&quot;text&quot;}"/>
          <p:cNvSpPr txBox="1"/>
          <p:nvPr/>
        </p:nvSpPr>
        <p:spPr>
          <a:xfrm>
            <a:off x="6448425" y="2705100"/>
            <a:ext cx="49244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CBD5E1"/>
                </a:solidFill>
                <a:latin typeface="Microsoft YaHei"/>
                <a:ea typeface="Microsoft YaHei"/>
              </a:rPr>
              <a:t>Runs scripts, reads CSVs, queries API</a:t>
            </a:r>
            <a:endParaRPr/>
          </a:p>
        </p:txBody>
      </p:sp>
      <p:sp>
        <p:nvSpPr>
          <p:cNvPr id="172" name="Rectangle: Rounded Corners 171"/>
          <p:cNvSpPr/>
          <p:nvPr/>
        </p:nvSpPr>
        <p:spPr>
          <a:xfrm>
            <a:off x="6353175" y="3009900"/>
            <a:ext cx="5143500" cy="495300"/>
          </a:xfrm>
          <a:prstGeom prst="roundRect">
            <a:avLst>
              <a:gd name="adj" fmla="val 11538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3" name="Freeform: Shape 172"/>
          <p:cNvSpPr/>
          <p:nvPr/>
        </p:nvSpPr>
        <p:spPr>
          <a:xfrm>
            <a:off x="6353175" y="3009900"/>
            <a:ext cx="5143500" cy="495300"/>
          </a:xfrm>
          <a:custGeom>
            <a:avLst/>
            <a:gdLst/>
            <a:ahLst/>
            <a:cxnLst/>
            <a:rect l="0" t="0" r="0" b="0"/>
            <a:pathLst>
              <a:path w="540" h="5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9"/>
                </a:lnTo>
                <a:cubicBezTo>
                  <a:pt x="3" y="50"/>
                  <a:pt x="4" y="52"/>
                  <a:pt x="5" y="52"/>
                </a:cubicBezTo>
                <a:cubicBezTo>
                  <a:pt x="2" y="52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4" name="TextBox 173" descr="{&quot;isTemplate&quot;:true,&quot;type&quot;:&quot;text&quot;}"/>
          <p:cNvSpPr txBox="1"/>
          <p:nvPr/>
        </p:nvSpPr>
        <p:spPr>
          <a:xfrm>
            <a:off x="6448425" y="3105150"/>
            <a:ext cx="4924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Reason</a:t>
            </a:r>
            <a:endParaRPr/>
          </a:p>
        </p:txBody>
      </p:sp>
      <p:sp>
        <p:nvSpPr>
          <p:cNvPr id="175" name="TextBox 174" descr="{&quot;isTemplate&quot;:true,&quot;type&quot;:&quot;text&quot;}"/>
          <p:cNvSpPr txBox="1"/>
          <p:nvPr/>
        </p:nvSpPr>
        <p:spPr>
          <a:xfrm>
            <a:off x="6448425" y="3276600"/>
            <a:ext cx="49244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CBD5E1"/>
                </a:solidFill>
                <a:latin typeface="Microsoft YaHei"/>
                <a:ea typeface="Microsoft YaHei"/>
              </a:rPr>
              <a:t>Distinguishes observed facts from suspected causes</a:t>
            </a:r>
            <a:endParaRPr/>
          </a:p>
        </p:txBody>
      </p:sp>
      <p:sp>
        <p:nvSpPr>
          <p:cNvPr id="176" name="Rectangle: Rounded Corners 175"/>
          <p:cNvSpPr/>
          <p:nvPr/>
        </p:nvSpPr>
        <p:spPr>
          <a:xfrm>
            <a:off x="6353175" y="3581400"/>
            <a:ext cx="5143500" cy="495300"/>
          </a:xfrm>
          <a:prstGeom prst="roundRect">
            <a:avLst>
              <a:gd name="adj" fmla="val 11538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7" name="Freeform: Shape 176"/>
          <p:cNvSpPr/>
          <p:nvPr/>
        </p:nvSpPr>
        <p:spPr>
          <a:xfrm>
            <a:off x="6353175" y="3581400"/>
            <a:ext cx="5143500" cy="495300"/>
          </a:xfrm>
          <a:custGeom>
            <a:avLst/>
            <a:gdLst/>
            <a:ahLst/>
            <a:cxnLst/>
            <a:rect l="0" t="0" r="0" b="0"/>
            <a:pathLst>
              <a:path w="540" h="5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49"/>
                </a:lnTo>
                <a:cubicBezTo>
                  <a:pt x="3" y="50"/>
                  <a:pt x="4" y="52"/>
                  <a:pt x="5" y="52"/>
                </a:cubicBezTo>
                <a:cubicBezTo>
                  <a:pt x="2" y="52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8" name="TextBox 177" descr="{&quot;isTemplate&quot;:true,&quot;type&quot;:&quot;text&quot;}"/>
          <p:cNvSpPr txBox="1"/>
          <p:nvPr/>
        </p:nvSpPr>
        <p:spPr>
          <a:xfrm>
            <a:off x="6448425" y="3676650"/>
            <a:ext cx="49244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Write Reports</a:t>
            </a:r>
            <a:endParaRPr/>
          </a:p>
        </p:txBody>
      </p:sp>
      <p:sp>
        <p:nvSpPr>
          <p:cNvPr id="179" name="TextBox 178" descr="{&quot;isTemplate&quot;:true,&quot;type&quot;:&quot;text&quot;}"/>
          <p:cNvSpPr txBox="1"/>
          <p:nvPr/>
        </p:nvSpPr>
        <p:spPr>
          <a:xfrm>
            <a:off x="6448425" y="3848100"/>
            <a:ext cx="49244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CBD5E1"/>
                </a:solidFill>
                <a:latin typeface="Microsoft YaHei"/>
                <a:ea typeface="Microsoft YaHei"/>
              </a:rPr>
              <a:t>Outputs structured Markdown files for review</a:t>
            </a:r>
            <a:endParaRPr/>
          </a:p>
        </p:txBody>
      </p:sp>
      <p:sp>
        <p:nvSpPr>
          <p:cNvPr id="180" name="Rectangle: Rounded Corners 179"/>
          <p:cNvSpPr/>
          <p:nvPr/>
        </p:nvSpPr>
        <p:spPr>
          <a:xfrm>
            <a:off x="6324600" y="4191000"/>
            <a:ext cx="5143500" cy="285750"/>
          </a:xfrm>
          <a:prstGeom prst="roundRect">
            <a:avLst>
              <a:gd name="adj" fmla="val 20000"/>
            </a:avLst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1" name="TextBox 180" descr="{&quot;isTemplate&quot;:true,&quot;type&quot;:&quot;text&quot;}"/>
          <p:cNvSpPr txBox="1"/>
          <p:nvPr/>
        </p:nvSpPr>
        <p:spPr>
          <a:xfrm>
            <a:off x="6400800" y="4267200"/>
            <a:ext cx="4991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6B6D4"/>
                </a:solidFill>
                <a:latin typeface="Microsoft YaHei"/>
                <a:ea typeface="Microsoft YaHei"/>
              </a:rPr>
              <a:t>✓ Adaptive · investigative · auditable</a:t>
            </a:r>
            <a:endParaRPr/>
          </a:p>
        </p:txBody>
      </p:sp>
      <p:sp>
        <p:nvSpPr>
          <p:cNvPr id="182" name="Rectangle: Rounded Corners 181"/>
          <p:cNvSpPr/>
          <p:nvPr/>
        </p:nvSpPr>
        <p:spPr>
          <a:xfrm>
            <a:off x="571500" y="5534025"/>
            <a:ext cx="11049000" cy="561975"/>
          </a:xfrm>
          <a:prstGeom prst="roundRect">
            <a:avLst>
              <a:gd name="adj" fmla="val 20339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TextBox 182" descr="{&quot;isTemplate&quot;:true,&quot;type&quot;:&quot;text&quot;}"/>
          <p:cNvSpPr txBox="1"/>
          <p:nvPr/>
        </p:nvSpPr>
        <p:spPr>
          <a:xfrm>
            <a:off x="971550" y="5648325"/>
            <a:ext cx="3714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FLOW</a:t>
            </a:r>
            <a:endParaRPr/>
          </a:p>
        </p:txBody>
      </p:sp>
      <p:sp>
        <p:nvSpPr>
          <p:cNvPr id="184" name="TextBox 183" descr="{&quot;isTemplate&quot;:true,&quot;type&quot;:&quot;text&quot;}"/>
          <p:cNvSpPr txBox="1"/>
          <p:nvPr/>
        </p:nvSpPr>
        <p:spPr>
          <a:xfrm>
            <a:off x="685800" y="5819775"/>
            <a:ext cx="9334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User question</a:t>
            </a:r>
            <a:endParaRPr/>
          </a:p>
        </p:txBody>
      </p:sp>
      <p:sp>
        <p:nvSpPr>
          <p:cNvPr id="185" name="TextBox 184" descr="{&quot;isTemplate&quot;:true,&quot;type&quot;:&quot;text&quot;}"/>
          <p:cNvSpPr txBox="1"/>
          <p:nvPr/>
        </p:nvSpPr>
        <p:spPr>
          <a:xfrm>
            <a:off x="2124075" y="5676900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86" name="TextBox 185" descr="{&quot;isTemplate&quot;:true,&quot;type&quot;:&quot;text&quot;}"/>
          <p:cNvSpPr txBox="1"/>
          <p:nvPr/>
        </p:nvSpPr>
        <p:spPr>
          <a:xfrm>
            <a:off x="3181350" y="5648325"/>
            <a:ext cx="2762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FILE</a:t>
            </a:r>
            <a:endParaRPr/>
          </a:p>
        </p:txBody>
      </p:sp>
      <p:sp>
        <p:nvSpPr>
          <p:cNvPr id="187" name="TextBox 186" descr="{&quot;isTemplate&quot;:true,&quot;type&quot;:&quot;text&quot;}"/>
          <p:cNvSpPr txBox="1"/>
          <p:nvPr/>
        </p:nvSpPr>
        <p:spPr>
          <a:xfrm>
            <a:off x="2857500" y="5819775"/>
            <a:ext cx="9144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JSON request</a:t>
            </a:r>
            <a:endParaRPr/>
          </a:p>
        </p:txBody>
      </p:sp>
      <p:sp>
        <p:nvSpPr>
          <p:cNvPr id="188" name="TextBox 187" descr="{&quot;isTemplate&quot;:true,&quot;type&quot;:&quot;text&quot;}"/>
          <p:cNvSpPr txBox="1"/>
          <p:nvPr/>
        </p:nvSpPr>
        <p:spPr>
          <a:xfrm>
            <a:off x="4267200" y="5676900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89" name="TextBox 188" descr="{&quot;isTemplate&quot;:true,&quot;type&quot;:&quot;text&quot;}"/>
          <p:cNvSpPr txBox="1"/>
          <p:nvPr/>
        </p:nvSpPr>
        <p:spPr>
          <a:xfrm>
            <a:off x="5400675" y="5648325"/>
            <a:ext cx="5810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MANUAL</a:t>
            </a:r>
            <a:endParaRPr/>
          </a:p>
        </p:txBody>
      </p:sp>
      <p:sp>
        <p:nvSpPr>
          <p:cNvPr id="190" name="TextBox 189" descr="{&quot;isTemplate&quot;:true,&quot;type&quot;:&quot;text&quot;}"/>
          <p:cNvSpPr txBox="1"/>
          <p:nvPr/>
        </p:nvSpPr>
        <p:spPr>
          <a:xfrm>
            <a:off x="5000625" y="5819775"/>
            <a:ext cx="13811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Paste to WorkBuddy</a:t>
            </a:r>
            <a:endParaRPr/>
          </a:p>
        </p:txBody>
      </p:sp>
      <p:sp>
        <p:nvSpPr>
          <p:cNvPr id="191" name="TextBox 190" descr="{&quot;isTemplate&quot;:true,&quot;type&quot;:&quot;text&quot;}"/>
          <p:cNvSpPr txBox="1"/>
          <p:nvPr/>
        </p:nvSpPr>
        <p:spPr>
          <a:xfrm>
            <a:off x="6886575" y="5676900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92" name="TextBox 191" descr="{&quot;isTemplate&quot;:true,&quot;type&quot;:&quot;text&quot;}"/>
          <p:cNvSpPr txBox="1"/>
          <p:nvPr/>
        </p:nvSpPr>
        <p:spPr>
          <a:xfrm>
            <a:off x="8001000" y="5648325"/>
            <a:ext cx="447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AGENT</a:t>
            </a:r>
            <a:endParaRPr/>
          </a:p>
        </p:txBody>
      </p:sp>
      <p:sp>
        <p:nvSpPr>
          <p:cNvPr id="193" name="TextBox 192" descr="{&quot;isTemplate&quot;:true,&quot;type&quot;:&quot;text&quot;}"/>
          <p:cNvSpPr txBox="1"/>
          <p:nvPr/>
        </p:nvSpPr>
        <p:spPr>
          <a:xfrm>
            <a:off x="7620000" y="5819775"/>
            <a:ext cx="12096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Plan + investigate</a:t>
            </a:r>
            <a:endParaRPr/>
          </a:p>
        </p:txBody>
      </p:sp>
      <p:sp>
        <p:nvSpPr>
          <p:cNvPr id="194" name="TextBox 193" descr="{&quot;isTemplate&quot;:true,&quot;type&quot;:&quot;text&quot;}"/>
          <p:cNvSpPr txBox="1"/>
          <p:nvPr/>
        </p:nvSpPr>
        <p:spPr>
          <a:xfrm>
            <a:off x="9324975" y="5676900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>
                <a:solidFill>
                  <a:srgbClr val="06B6D4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95" name="TextBox 194" descr="{&quot;isTemplate&quot;:true,&quot;type&quot;:&quot;text&quot;}"/>
          <p:cNvSpPr txBox="1"/>
          <p:nvPr/>
        </p:nvSpPr>
        <p:spPr>
          <a:xfrm>
            <a:off x="10515600" y="5648325"/>
            <a:ext cx="5429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OUTPUT</a:t>
            </a:r>
            <a:endParaRPr/>
          </a:p>
        </p:txBody>
      </p:sp>
      <p:sp>
        <p:nvSpPr>
          <p:cNvPr id="196" name="TextBox 195" descr="{&quot;isTemplate&quot;:true,&quot;type&quot;:&quot;text&quot;}"/>
          <p:cNvSpPr txBox="1"/>
          <p:nvPr/>
        </p:nvSpPr>
        <p:spPr>
          <a:xfrm>
            <a:off x="10058400" y="5819775"/>
            <a:ext cx="14478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Reports in dashboard</a:t>
            </a:r>
            <a:endParaRPr/>
          </a:p>
        </p:txBody>
      </p:sp>
      <p:sp>
        <p:nvSpPr>
          <p:cNvPr id="197" name="TextBox 196" descr="{&quot;isTemplate&quot;:true,&quot;type&quot;:&quot;text&quot;}"/>
          <p:cNvSpPr txBox="1"/>
          <p:nvPr/>
        </p:nvSpPr>
        <p:spPr>
          <a:xfrm>
            <a:off x="571500" y="6410325"/>
            <a:ext cx="32480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GenBuddy · DORMATHON 2026 · Track 2: Agentic Solutions</a:t>
            </a:r>
            <a:endParaRPr/>
          </a:p>
        </p:txBody>
      </p:sp>
      <p:sp>
        <p:nvSpPr>
          <p:cNvPr id="198" name="TextBox 197" descr="{&quot;isTemplate&quot;:true,&quot;type&quot;:&quot;text&quot;}"/>
          <p:cNvSpPr txBox="1"/>
          <p:nvPr/>
        </p:nvSpPr>
        <p:spPr>
          <a:xfrm>
            <a:off x="11229975" y="641032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04 / 10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0B1E3F' }}&gt;&#10;  {/* Top accent bar */}&#10;  &lt;Box style={{ position: 'absolute', top: 0, left: 0, width: '1280px', height: 6, background: 'linear-gradient(90deg, #06B6D4 0%, #2563EB 100%)' }} /&gt;&#10;&#10;  {/* Section tag */}&#10;  &lt;Box style={{ position: 'absolute', top: 28, left: 60, padding: '4px 12px', borderRadius: 4, background: '#06B6D4' }}&gt;&#10;    &lt;Text style={{ fontSize: 11, color: '#0B1E3F', fontWeight: 700, letterSpacing: 1.5 }}&gt;05 / AGENTIC WORKFLOW&lt;/Text&gt;&#10;  &lt;/Box&gt;&#10;&#10;  {/* Title */}&#10;  &lt;Box style={{ position: 'absolute', top: 64, left: 60, width: 1160 }}&gt;&#10;    &lt;Text style={{ fontSize: 28, color: '#FFFFFF', fontWeight: 700, lineHeight: 1.2 }}&gt;&#10;      One prompt, one goal, end-to-end execution&#10;    &lt;/Text&gt;&#10;  &lt;/Box&gt;&#10;&#10;  {/* Center hero tagline */}&#10;  &lt;Box style={{ position: 'absolute', top: 110, left: 0, width: '1280px', alignItems: 'center' }}&gt;&#10;    &lt;Text style={{ fontSize: 11, color: '#06B6D4', fontWeight: 700, letterSpacing: 2 }}&gt;AGENT LOOP&lt;/Text&gt;&#10;  &lt;/Box&gt;&#10;&#10;  {/* 5-step cycle */}&#10;  &lt;Box style={{ position: 'absolute', top: 134, left: 60, right: 60, flexDirection: 'row', alignItems: 'flex-start', justifyContent: 'space-between' }}&gt;&#10;    {[&#10;      { num: '1', title: 'Plan', desc: 'Build multi-step plan before any tool runs' },&#10;      { num: '2', title: 'Execute', desc: 'Run validation, scripts, reads, API' },&#10;      { num: '3', title: 'Check', desc: 'Verify evidence against script findings' },&#10;      { num: '4', title: 'Reason', desc: 'Distinguish observed vs suspected causes' },&#10;      { num: '5', title: 'Report', desc: 'Write structured deliverables' },&#10;    ].map((s, i) =&gt; (&#10;      &lt;Box key={i} style={{ width: 200, alignItems: 'center' }}&gt;&#10;        &lt;Box style={{ width: 48, height: 48, borderRadius: 24, background: i === 0 ? '#06B6D4' : (i === 4 ? '#2563EB' : '#1E3A8A'), border: '2px solid #06B6D4', alignItems: 'center', justifyContent: 'center' }}&gt;&#10;          &lt;Text style={{ fontSize: 22, color: '#FFFFFF', fontWeight: 800 }}&gt;{s.num}&lt;/Text&gt;&#10;        &lt;/Box&gt;&#10;        &lt;Text style={{ fontSize: 15, color: '#FFFFFF', fontWeight: 700, marginTop: 6 }}&gt;{s.title}&lt;/Text&gt;&#10;        &lt;Text style={{ fontSize: 10, color: '#94A3B8', marginTop: 3, textAlign: 'center', width: 180 }}&gt;{s.desc}&lt;/Text&gt;&#10;      &lt;/Box&gt;&#10;    ))}&#10;  &lt;/Box&gt;&#10;&#10;  {/* Two key panels: planning example + WorkBuddy screenshot placeholder */}&#10;  &lt;Box style={{ position: 'absolute', top: 252, left: 60, right: 60, flexDirection: 'row', gap: 16 }}&gt;&#10;    {/* LEFT - Planning example */}&#10;    &lt;Box style={{ flex: 1, padding: 14, borderRadius: 10, background: 'rgba(6,182,212,0.08)', border: '1px solid rgba(6,182,212,0.3)' }}&gt;&#10;      &lt;Text style={{ fontSize: 10, color: '#06B6D4', fontWeight: 700, letterSpacing: 1.5, marginBottom: 6 }}&gt;PROOF: 13-STEP PLAN (INVESTIGATION 1)&lt;/Text&gt;&#10;      &lt;Box style={{ flexDirection: 'column', gap: 2 }}&gt;&#10;        {[&#10;          'Run validation script',&#10;          'Run fault investigation',&#10;          'Read script reports',&#10;          'Read maintenance history',&#10;          'Read generator specs',&#10;          'Read CSV data independently',&#10;          'Query Flask API for cross-verification',&#10;          'Examine 12 critical timestamps',&#10;          'Examine full thermal progression',&#10;          'Examine full ATS failure sequence',&#10;          'Cross-scenario comparison',&#10;          'Battery / fuel health',&#10;          'Synthesize findings',&#10;        ].map((step, i) =&gt; (&#10;          &lt;Text key={i} style={{ fontSize: 10, color: '#CBD5E1', lineHeight: 1.3 }}&gt;&#10;            &lt;span style={{ color: '#06B6D4', fontWeight: 700 }}&gt;{i + 1}.&lt;/span&gt; {step}&#10;          &lt;/Text&gt;&#10;        ))}&#10;      &lt;/Box&gt;&#10;    &lt;/Box&gt;&#10;&#10;    {/* RIGHT - WorkBuddy screenshot placeholder + tools */}&#10;    &lt;Box style={{ flex: 1, padding: 14, borderRadius: 10, background: 'rgba(37,99,235,0.08)', border: '1px solid rgba(37,99,235,0.3)' }}&gt;&#10;      &lt;Text style={{ fontSize: 10, color: '#60A5FA', fontWeight: 700, letterSpacing: 1.5, marginBottom: 6 }}&gt;WORKBUDDY AGENT IN ACTION&lt;/Text&gt;&#10;&#10;      {/* Screenshot placeholder */}&#10;      &lt;Box style={{ height: 180, borderRadius: 8, background: 'rgba(15,23,42,0.5)', border: '2px dashed rgba(96,165,250,0.4)', alignItems: 'center', justifyContent: 'center', marginBottom: 10 }}&gt;&#10;        &lt;Text style={{ fontSize: 11, color: '#60A5FA', fontWeight: 700, letterSpacing: 1.5, marginBottom: 4 }}&gt;SCREENSHOT PLACEHOLDER&lt;/Text&gt;&#10;        &lt;Text style={{ fontSize: 10, color: '#94A3B8', textAlign: 'center', lineHeight: 1.4 }}&gt;&#10;          WorkBuddy showing 13-step plan&#10;          &lt;br /&gt;or tool execution (e.g. validate_data.py)&#10;        &lt;/Text&gt;&#10;      &lt;/Box&gt;&#10;&#10;      {/* Condensed tool list */}&#10;      &lt;Box style={{ flexDirection: 'column', gap: 5 }}&gt;&#10;        &lt;Text style={{ fontSize: 11, color: '#FFFFFF', fontWeight: 600 }}&gt;Python scripts&lt;/Text&gt;&#10;        &lt;Text style={{ fontSize: 9, color: '#94A3B8' }}&gt;validate_data.py · fault_investigation.py&lt;/Text&gt;&#10;        &lt;Text style={{ fontSize: 11, color: '#FFFFFF', fontWeight: 600, marginTop: 2 }}&gt;Direct CSV reads + Flask API queries&lt;/Text&gt;&#10;        &lt;Text style={{ fontSize: 9, color: '#94A3B8' }}&gt;independent verification + cross-check&lt;/Text&gt;&#10;        &lt;Text style={{ fontSize: 11, color: '#FFFFFF', fontWeight: 600, marginTop: 2 }}&gt;Report writes&lt;/Text&gt;&#10;        &lt;Text style={{ fontSize: 9, color: '#94A3B8' }}&gt;7 AI reports · Markdown deliverables&lt;/Text&gt;&#10;      &lt;/Box&gt;&#10;    &lt;/Box&gt;&#10;  &lt;/Box&gt;&#10;&#10;  {/* Bottom hero metric row */}&#10;  &lt;Box style={{ position: 'absolute', bottom: 56, left: 60, right: 60, flexDirection: 'row', justifyContent: 'space-around', alignItems: 'center', padding: 12, borderRadius: 10, background: 'rgba(6,182,212,0.05)' }}&gt;&#10;    &lt;Box style={{ alignItems: 'center' }}&gt;&#10;      &lt;Text style={{ fontSize: 28, color: '#06B6D4', fontWeight: 800, lineHeight: 1 }}&gt;13&lt;/Text&gt;&#10;      &lt;Text style={{ fontSize: 10, color: '#94A3B8', marginTop: 4 }}&gt;planned steps (Inv 1)&lt;/Text&gt;&#10;    &lt;/Box&gt;&#10;    &lt;Box style={{ alignItems: 'center' }}&gt;&#10;      &lt;Text style={{ fontSize: 28, color: '#06B6D4', fontWeight: 800, lineHeight: 1 }}&gt;20&lt;/Text&gt;&#10;      &lt;Text style={{ fontSize: 10, color: '#94A3B8', marginTop: 4 }}&gt;tool calls (Inv 1)&lt;/Text&gt;&#10;    &lt;/Box&gt;&#10;    &lt;Box style={{ alignItems: 'center' }}&gt;&#10;      &lt;Text style={{ fontSize: 28, color: '#06B6D4', fontWeight: 800, lineHeight: 1 }}&gt;3&lt;/Text&gt;&#10;      &lt;Text style={{ fontSize: 10, color: '#94A3B8', marginTop: 4 }}&gt;investigations&lt;/Text&gt;&#10;    &lt;/Box&gt;&#10;    &lt;Box style={{ alignItems: 'center' }}&gt;&#10;      &lt;Text style={{ fontSize: 28, color: '#06B6D4', fontWeight: 800, lineHeight: 1 }}&gt;7&lt;/Text&gt;&#10;      &lt;Text style={{ fontSize: 10, color: '#94A3B8', marginTop: 4 }}&gt;AI-generated reports&lt;/Text&gt;&#10;    &lt;/Box&gt;&#10;  &lt;/Box&gt;&#10;&#10;  {/* Footer */}&#10;  &lt;Box style={{ position: 'absolute', bottom: 20, left: 60, right: 60, flexDirection: 'row', justifyContent: 'space-between', alignItems: 'center' }}&gt;&#10;    &lt;Text style={{ fontSize: 11, color: '#64748B' }}&gt;GenBuddy · DORMATHON 2026 · Track 2: Agentic Solutions&lt;/Text&gt;&#10;    &lt;Text style={{ fontSize: 11, color: '#64748B' }}&gt;05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9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6B6D4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02" name="Rectangle: Rounded Corners 201"/>
          <p:cNvSpPr/>
          <p:nvPr/>
        </p:nvSpPr>
        <p:spPr>
          <a:xfrm>
            <a:off x="571500" y="266700"/>
            <a:ext cx="1943100" cy="209550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3" name="TextBox 202" descr="{&quot;isTemplate&quot;:true,&quot;type&quot;:&quot;text&quot;}"/>
          <p:cNvSpPr txBox="1"/>
          <p:nvPr/>
        </p:nvSpPr>
        <p:spPr>
          <a:xfrm>
            <a:off x="685800" y="304800"/>
            <a:ext cx="17145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B1E3F"/>
                </a:solidFill>
                <a:latin typeface="Microsoft YaHei"/>
                <a:ea typeface="Microsoft YaHei"/>
              </a:rPr>
              <a:t>05 / AGENTIC WORKFLOW</a:t>
            </a:r>
            <a:endParaRPr/>
          </a:p>
        </p:txBody>
      </p:sp>
      <p:sp>
        <p:nvSpPr>
          <p:cNvPr id="204" name="TextBox 203" descr="{&quot;isTemplate&quot;:true,&quot;type&quot;:&quot;text&quot;}"/>
          <p:cNvSpPr txBox="1"/>
          <p:nvPr/>
        </p:nvSpPr>
        <p:spPr>
          <a:xfrm>
            <a:off x="571500" y="609600"/>
            <a:ext cx="110490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One prompt, one goal, end-to-end execution</a:t>
            </a:r>
            <a:endParaRPr/>
          </a:p>
        </p:txBody>
      </p:sp>
      <p:sp>
        <p:nvSpPr>
          <p:cNvPr id="205" name="TextBox 204" descr="{&quot;isTemplate&quot;:true,&quot;type&quot;:&quot;text&quot;}"/>
          <p:cNvSpPr txBox="1"/>
          <p:nvPr/>
        </p:nvSpPr>
        <p:spPr>
          <a:xfrm>
            <a:off x="5648325" y="1047750"/>
            <a:ext cx="8953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50">
                <a:solidFill>
                  <a:srgbClr val="06B6D4"/>
                </a:solidFill>
                <a:latin typeface="Microsoft YaHei"/>
                <a:ea typeface="Microsoft YaHei"/>
              </a:rPr>
              <a:t>AGENT LOOP</a:t>
            </a:r>
            <a:endParaRPr/>
          </a:p>
        </p:txBody>
      </p:sp>
      <p:sp>
        <p:nvSpPr>
          <p:cNvPr id="206" name="Rectangle: Rounded Corners 205"/>
          <p:cNvSpPr/>
          <p:nvPr/>
        </p:nvSpPr>
        <p:spPr>
          <a:xfrm>
            <a:off x="1295400" y="12763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7" name="TextBox 206" descr="{&quot;isTemplate&quot;:true,&quot;type&quot;:&quot;text&quot;}"/>
          <p:cNvSpPr txBox="1"/>
          <p:nvPr/>
        </p:nvSpPr>
        <p:spPr>
          <a:xfrm>
            <a:off x="1457325" y="1381125"/>
            <a:ext cx="1333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08" name="TextBox 207" descr="{&quot;isTemplate&quot;:true,&quot;type&quot;:&quot;text&quot;}"/>
          <p:cNvSpPr txBox="1"/>
          <p:nvPr/>
        </p:nvSpPr>
        <p:spPr>
          <a:xfrm>
            <a:off x="1371600" y="1790700"/>
            <a:ext cx="3143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Plan</a:t>
            </a:r>
            <a:endParaRPr/>
          </a:p>
        </p:txBody>
      </p:sp>
      <p:sp>
        <p:nvSpPr>
          <p:cNvPr id="209" name="TextBox 208" descr="{&quot;isTemplate&quot;:true,&quot;type&quot;:&quot;text&quot;}"/>
          <p:cNvSpPr txBox="1"/>
          <p:nvPr/>
        </p:nvSpPr>
        <p:spPr>
          <a:xfrm>
            <a:off x="666750" y="1990725"/>
            <a:ext cx="1714500" cy="228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Build multi-step plan before any tool runs</a:t>
            </a:r>
            <a:endParaRPr/>
          </a:p>
        </p:txBody>
      </p:sp>
      <p:sp>
        <p:nvSpPr>
          <p:cNvPr id="210" name="Rectangle: Rounded Corners 209"/>
          <p:cNvSpPr/>
          <p:nvPr/>
        </p:nvSpPr>
        <p:spPr>
          <a:xfrm>
            <a:off x="3581400" y="12763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1" name="TextBox 210" descr="{&quot;isTemplate&quot;:true,&quot;type&quot;:&quot;text&quot;}"/>
          <p:cNvSpPr txBox="1"/>
          <p:nvPr/>
        </p:nvSpPr>
        <p:spPr>
          <a:xfrm>
            <a:off x="3743325" y="1381125"/>
            <a:ext cx="1333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12" name="TextBox 211" descr="{&quot;isTemplate&quot;:true,&quot;type&quot;:&quot;text&quot;}"/>
          <p:cNvSpPr txBox="1"/>
          <p:nvPr/>
        </p:nvSpPr>
        <p:spPr>
          <a:xfrm>
            <a:off x="3533775" y="1790700"/>
            <a:ext cx="5619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Execute</a:t>
            </a:r>
            <a:endParaRPr/>
          </a:p>
        </p:txBody>
      </p:sp>
      <p:sp>
        <p:nvSpPr>
          <p:cNvPr id="213" name="TextBox 212" descr="{&quot;isTemplate&quot;:true,&quot;type&quot;:&quot;text&quot;}"/>
          <p:cNvSpPr txBox="1"/>
          <p:nvPr/>
        </p:nvSpPr>
        <p:spPr>
          <a:xfrm>
            <a:off x="2952750" y="1990725"/>
            <a:ext cx="171450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Run validation, scripts, reads, API</a:t>
            </a:r>
            <a:endParaRPr/>
          </a:p>
        </p:txBody>
      </p:sp>
      <p:sp>
        <p:nvSpPr>
          <p:cNvPr id="214" name="Rectangle: Rounded Corners 213"/>
          <p:cNvSpPr/>
          <p:nvPr/>
        </p:nvSpPr>
        <p:spPr>
          <a:xfrm>
            <a:off x="5867400" y="12763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5" name="TextBox 214" descr="{&quot;isTemplate&quot;:true,&quot;type&quot;:&quot;text&quot;}"/>
          <p:cNvSpPr txBox="1"/>
          <p:nvPr/>
        </p:nvSpPr>
        <p:spPr>
          <a:xfrm>
            <a:off x="6029325" y="1381125"/>
            <a:ext cx="1333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16" name="TextBox 215" descr="{&quot;isTemplate&quot;:true,&quot;type&quot;:&quot;text&quot;}"/>
          <p:cNvSpPr txBox="1"/>
          <p:nvPr/>
        </p:nvSpPr>
        <p:spPr>
          <a:xfrm>
            <a:off x="5876925" y="1790700"/>
            <a:ext cx="4381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Check</a:t>
            </a:r>
            <a:endParaRPr/>
          </a:p>
        </p:txBody>
      </p:sp>
      <p:sp>
        <p:nvSpPr>
          <p:cNvPr id="217" name="TextBox 216" descr="{&quot;isTemplate&quot;:true,&quot;type&quot;:&quot;text&quot;}"/>
          <p:cNvSpPr txBox="1"/>
          <p:nvPr/>
        </p:nvSpPr>
        <p:spPr>
          <a:xfrm>
            <a:off x="5238750" y="1990725"/>
            <a:ext cx="1714500" cy="228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Verify evidence against script findings</a:t>
            </a:r>
            <a:endParaRPr/>
          </a:p>
        </p:txBody>
      </p:sp>
      <p:sp>
        <p:nvSpPr>
          <p:cNvPr id="218" name="Rectangle: Rounded Corners 217"/>
          <p:cNvSpPr/>
          <p:nvPr/>
        </p:nvSpPr>
        <p:spPr>
          <a:xfrm>
            <a:off x="8153400" y="12763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3A8A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9" name="TextBox 218" descr="{&quot;isTemplate&quot;:true,&quot;type&quot;:&quot;text&quot;}"/>
          <p:cNvSpPr txBox="1"/>
          <p:nvPr/>
        </p:nvSpPr>
        <p:spPr>
          <a:xfrm>
            <a:off x="8315325" y="1381125"/>
            <a:ext cx="1333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20" name="TextBox 219" descr="{&quot;isTemplate&quot;:true,&quot;type&quot;:&quot;text&quot;}"/>
          <p:cNvSpPr txBox="1"/>
          <p:nvPr/>
        </p:nvSpPr>
        <p:spPr>
          <a:xfrm>
            <a:off x="8124825" y="1790700"/>
            <a:ext cx="5238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Reason</a:t>
            </a:r>
            <a:endParaRPr/>
          </a:p>
        </p:txBody>
      </p:sp>
      <p:sp>
        <p:nvSpPr>
          <p:cNvPr id="221" name="TextBox 220" descr="{&quot;isTemplate&quot;:true,&quot;type&quot;:&quot;text&quot;}"/>
          <p:cNvSpPr txBox="1"/>
          <p:nvPr/>
        </p:nvSpPr>
        <p:spPr>
          <a:xfrm>
            <a:off x="7524750" y="1990725"/>
            <a:ext cx="1714500" cy="228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Distinguish observed vs suspected causes</a:t>
            </a:r>
            <a:endParaRPr/>
          </a:p>
        </p:txBody>
      </p:sp>
      <p:sp>
        <p:nvSpPr>
          <p:cNvPr id="222" name="Rectangle: Rounded Corners 221"/>
          <p:cNvSpPr/>
          <p:nvPr/>
        </p:nvSpPr>
        <p:spPr>
          <a:xfrm>
            <a:off x="10439400" y="12763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3" name="TextBox 222" descr="{&quot;isTemplate&quot;:true,&quot;type&quot;:&quot;text&quot;}"/>
          <p:cNvSpPr txBox="1"/>
          <p:nvPr/>
        </p:nvSpPr>
        <p:spPr>
          <a:xfrm>
            <a:off x="10601325" y="1381125"/>
            <a:ext cx="1333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24" name="TextBox 223" descr="{&quot;isTemplate&quot;:true,&quot;type&quot;:&quot;text&quot;}"/>
          <p:cNvSpPr txBox="1"/>
          <p:nvPr/>
        </p:nvSpPr>
        <p:spPr>
          <a:xfrm>
            <a:off x="10420350" y="1790700"/>
            <a:ext cx="4953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Report</a:t>
            </a:r>
            <a:endParaRPr/>
          </a:p>
        </p:txBody>
      </p:sp>
      <p:sp>
        <p:nvSpPr>
          <p:cNvPr id="225" name="TextBox 224" descr="{&quot;isTemplate&quot;:true,&quot;type&quot;:&quot;text&quot;}"/>
          <p:cNvSpPr txBox="1"/>
          <p:nvPr/>
        </p:nvSpPr>
        <p:spPr>
          <a:xfrm>
            <a:off x="9810750" y="1990725"/>
            <a:ext cx="171450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Write structured deliverables</a:t>
            </a:r>
            <a:endParaRPr/>
          </a:p>
        </p:txBody>
      </p:sp>
      <p:sp>
        <p:nvSpPr>
          <p:cNvPr id="226" name="Rectangle: Rounded Corners 225"/>
          <p:cNvSpPr/>
          <p:nvPr/>
        </p:nvSpPr>
        <p:spPr>
          <a:xfrm>
            <a:off x="571500" y="2400300"/>
            <a:ext cx="5448300" cy="3238500"/>
          </a:xfrm>
          <a:prstGeom prst="roundRect">
            <a:avLst>
              <a:gd name="adj" fmla="val 2941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7" name="TextBox 226" descr="{&quot;isTemplate&quot;:true,&quot;type&quot;:&quot;text&quot;}"/>
          <p:cNvSpPr txBox="1"/>
          <p:nvPr/>
        </p:nvSpPr>
        <p:spPr>
          <a:xfrm>
            <a:off x="704850" y="2533650"/>
            <a:ext cx="518160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 b="1" spc="113">
                <a:solidFill>
                  <a:srgbClr val="06B6D4"/>
                </a:solidFill>
                <a:latin typeface="Microsoft YaHei"/>
                <a:ea typeface="Microsoft YaHei"/>
              </a:rPr>
              <a:t>PROOF: 13-STEP PLAN (INVESTIGATION 1)</a:t>
            </a:r>
            <a:endParaRPr/>
          </a:p>
        </p:txBody>
      </p:sp>
      <p:sp>
        <p:nvSpPr>
          <p:cNvPr id="228" name="TextBox 227" descr="{&quot;isTemplate&quot;:true,&quot;type&quot;:&quot;text&quot;}"/>
          <p:cNvSpPr txBox="1"/>
          <p:nvPr/>
        </p:nvSpPr>
        <p:spPr>
          <a:xfrm>
            <a:off x="704850" y="270510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1.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Run validation script</a:t>
            </a:r>
            <a:endParaRPr/>
          </a:p>
        </p:txBody>
      </p:sp>
      <p:sp>
        <p:nvSpPr>
          <p:cNvPr id="229" name="TextBox 228" descr="{&quot;isTemplate&quot;:true,&quot;type&quot;:&quot;text&quot;}"/>
          <p:cNvSpPr txBox="1"/>
          <p:nvPr/>
        </p:nvSpPr>
        <p:spPr>
          <a:xfrm>
            <a:off x="704850" y="287655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2.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Run fault investigation</a:t>
            </a:r>
            <a:endParaRPr/>
          </a:p>
        </p:txBody>
      </p:sp>
      <p:sp>
        <p:nvSpPr>
          <p:cNvPr id="230" name="TextBox 229" descr="{&quot;isTemplate&quot;:true,&quot;type&quot;:&quot;text&quot;}"/>
          <p:cNvSpPr txBox="1"/>
          <p:nvPr/>
        </p:nvSpPr>
        <p:spPr>
          <a:xfrm>
            <a:off x="704850" y="304800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3.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Read script reports</a:t>
            </a:r>
            <a:endParaRPr/>
          </a:p>
        </p:txBody>
      </p:sp>
      <p:sp>
        <p:nvSpPr>
          <p:cNvPr id="231" name="TextBox 230" descr="{&quot;isTemplate&quot;:true,&quot;type&quot;:&quot;text&quot;}"/>
          <p:cNvSpPr txBox="1"/>
          <p:nvPr/>
        </p:nvSpPr>
        <p:spPr>
          <a:xfrm>
            <a:off x="704850" y="321945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4.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Read maintenance history</a:t>
            </a:r>
            <a:endParaRPr/>
          </a:p>
        </p:txBody>
      </p:sp>
      <p:sp>
        <p:nvSpPr>
          <p:cNvPr id="232" name="TextBox 231" descr="{&quot;isTemplate&quot;:true,&quot;type&quot;:&quot;text&quot;}"/>
          <p:cNvSpPr txBox="1"/>
          <p:nvPr/>
        </p:nvSpPr>
        <p:spPr>
          <a:xfrm>
            <a:off x="704850" y="339090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5.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Read generator specs</a:t>
            </a:r>
            <a:endParaRPr/>
          </a:p>
        </p:txBody>
      </p:sp>
      <p:sp>
        <p:nvSpPr>
          <p:cNvPr id="233" name="TextBox 232" descr="{&quot;isTemplate&quot;:true,&quot;type&quot;:&quot;text&quot;}"/>
          <p:cNvSpPr txBox="1"/>
          <p:nvPr/>
        </p:nvSpPr>
        <p:spPr>
          <a:xfrm>
            <a:off x="704850" y="356235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6.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Read CSV data independently</a:t>
            </a:r>
            <a:endParaRPr/>
          </a:p>
        </p:txBody>
      </p:sp>
      <p:sp>
        <p:nvSpPr>
          <p:cNvPr id="234" name="TextBox 233" descr="{&quot;isTemplate&quot;:true,&quot;type&quot;:&quot;text&quot;}"/>
          <p:cNvSpPr txBox="1"/>
          <p:nvPr/>
        </p:nvSpPr>
        <p:spPr>
          <a:xfrm>
            <a:off x="704850" y="373380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7.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Query Flask API for cross-verification</a:t>
            </a:r>
            <a:endParaRPr/>
          </a:p>
        </p:txBody>
      </p:sp>
      <p:sp>
        <p:nvSpPr>
          <p:cNvPr id="235" name="TextBox 234" descr="{&quot;isTemplate&quot;:true,&quot;type&quot;:&quot;text&quot;}"/>
          <p:cNvSpPr txBox="1"/>
          <p:nvPr/>
        </p:nvSpPr>
        <p:spPr>
          <a:xfrm>
            <a:off x="704850" y="390525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8.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Examine 12 critical timestamps</a:t>
            </a:r>
            <a:endParaRPr/>
          </a:p>
        </p:txBody>
      </p:sp>
      <p:sp>
        <p:nvSpPr>
          <p:cNvPr id="236" name="TextBox 235" descr="{&quot;isTemplate&quot;:true,&quot;type&quot;:&quot;text&quot;}"/>
          <p:cNvSpPr txBox="1"/>
          <p:nvPr/>
        </p:nvSpPr>
        <p:spPr>
          <a:xfrm>
            <a:off x="704850" y="407670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9.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Examine full thermal progression</a:t>
            </a:r>
            <a:endParaRPr/>
          </a:p>
        </p:txBody>
      </p:sp>
      <p:sp>
        <p:nvSpPr>
          <p:cNvPr id="237" name="TextBox 236" descr="{&quot;isTemplate&quot;:true,&quot;type&quot;:&quot;text&quot;}"/>
          <p:cNvSpPr txBox="1"/>
          <p:nvPr/>
        </p:nvSpPr>
        <p:spPr>
          <a:xfrm>
            <a:off x="704850" y="424815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10.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Examine full ATS failure sequence</a:t>
            </a:r>
            <a:endParaRPr/>
          </a:p>
        </p:txBody>
      </p:sp>
      <p:sp>
        <p:nvSpPr>
          <p:cNvPr id="238" name="TextBox 237" descr="{&quot;isTemplate&quot;:true,&quot;type&quot;:&quot;text&quot;}"/>
          <p:cNvSpPr txBox="1"/>
          <p:nvPr/>
        </p:nvSpPr>
        <p:spPr>
          <a:xfrm>
            <a:off x="704850" y="441960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11.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Cross-scenario comparison</a:t>
            </a:r>
            <a:endParaRPr/>
          </a:p>
        </p:txBody>
      </p:sp>
      <p:sp>
        <p:nvSpPr>
          <p:cNvPr id="239" name="TextBox 238" descr="{&quot;isTemplate&quot;:true,&quot;type&quot;:&quot;text&quot;}"/>
          <p:cNvSpPr txBox="1"/>
          <p:nvPr/>
        </p:nvSpPr>
        <p:spPr>
          <a:xfrm>
            <a:off x="704850" y="459105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12.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Battery / fuel health</a:t>
            </a:r>
            <a:endParaRPr/>
          </a:p>
        </p:txBody>
      </p:sp>
      <p:sp>
        <p:nvSpPr>
          <p:cNvPr id="240" name="TextBox 239" descr="{&quot;isTemplate&quot;:true,&quot;type&quot;:&quot;text&quot;}"/>
          <p:cNvSpPr txBox="1"/>
          <p:nvPr/>
        </p:nvSpPr>
        <p:spPr>
          <a:xfrm>
            <a:off x="704850" y="4762500"/>
            <a:ext cx="51816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 b="1">
                <a:solidFill>
                  <a:srgbClr val="06B6D4"/>
                </a:solidFill>
                <a:latin typeface="Microsoft YaHei"/>
                <a:ea typeface="Microsoft YaHei"/>
              </a:rPr>
              <a:t>13.</a:t>
            </a:r>
            <a:r>
              <a:rPr lang="en-US" sz="750">
                <a:solidFill>
                  <a:srgbClr val="CBD5E1"/>
                </a:solidFill>
                <a:latin typeface="Microsoft YaHei"/>
                <a:ea typeface="Microsoft YaHei"/>
              </a:rPr>
              <a:t> Synthesize findings</a:t>
            </a:r>
            <a:endParaRPr/>
          </a:p>
        </p:txBody>
      </p:sp>
      <p:sp>
        <p:nvSpPr>
          <p:cNvPr id="241" name="Rectangle: Rounded Corners 240"/>
          <p:cNvSpPr/>
          <p:nvPr/>
        </p:nvSpPr>
        <p:spPr>
          <a:xfrm>
            <a:off x="6172200" y="2400300"/>
            <a:ext cx="5448300" cy="3238500"/>
          </a:xfrm>
          <a:prstGeom prst="roundRect">
            <a:avLst>
              <a:gd name="adj" fmla="val 2941"/>
            </a:avLst>
          </a:prstGeom>
          <a:solidFill>
            <a:srgbClr val="2563EB">
              <a:alpha val="8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2" name="TextBox 241" descr="{&quot;isTemplate&quot;:true,&quot;type&quot;:&quot;text&quot;}"/>
          <p:cNvSpPr txBox="1"/>
          <p:nvPr/>
        </p:nvSpPr>
        <p:spPr>
          <a:xfrm>
            <a:off x="6305550" y="2533650"/>
            <a:ext cx="518160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 b="1" spc="113">
                <a:solidFill>
                  <a:srgbClr val="60A5FA"/>
                </a:solidFill>
                <a:latin typeface="Microsoft YaHei"/>
                <a:ea typeface="Microsoft YaHei"/>
              </a:rPr>
              <a:t>WORKBUDDY AGENT IN ACTION</a:t>
            </a:r>
            <a:endParaRPr/>
          </a:p>
        </p:txBody>
      </p:sp>
      <p:sp>
        <p:nvSpPr>
          <p:cNvPr id="243" name="Rectangle: Rounded Corners 242"/>
          <p:cNvSpPr/>
          <p:nvPr/>
        </p:nvSpPr>
        <p:spPr>
          <a:xfrm>
            <a:off x="6305550" y="2705100"/>
            <a:ext cx="5181600" cy="1714500"/>
          </a:xfrm>
          <a:prstGeom prst="roundRect">
            <a:avLst>
              <a:gd name="adj" fmla="val 4444"/>
            </a:avLst>
          </a:prstGeom>
          <a:solidFill>
            <a:srgbClr val="0F172A">
              <a:alpha val="50000"/>
            </a:srgbClr>
          </a:solidFill>
          <a:ln w="25400">
            <a:solidFill>
              <a:srgbClr val="60A5FA">
                <a:alpha val="40000"/>
              </a:srgbClr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44" name="TextBox 243" descr="{&quot;isTemplate&quot;:true,&quot;type&quot;:&quot;text&quot;}"/>
          <p:cNvSpPr txBox="1"/>
          <p:nvPr/>
        </p:nvSpPr>
        <p:spPr>
          <a:xfrm>
            <a:off x="7972425" y="3314700"/>
            <a:ext cx="18478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60A5FA"/>
                </a:solidFill>
                <a:latin typeface="Microsoft YaHei"/>
                <a:ea typeface="Microsoft YaHei"/>
              </a:rPr>
              <a:t>SCREENSHOT PLACEHOLDER</a:t>
            </a:r>
            <a:endParaRPr/>
          </a:p>
        </p:txBody>
      </p:sp>
      <p:sp>
        <p:nvSpPr>
          <p:cNvPr id="245" name="TextBox 244" descr="{&quot;isTemplate&quot;:true,&quot;type&quot;:&quot;text&quot;}"/>
          <p:cNvSpPr txBox="1"/>
          <p:nvPr/>
        </p:nvSpPr>
        <p:spPr>
          <a:xfrm>
            <a:off x="8001000" y="3486150"/>
            <a:ext cx="17907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WorkBuddy showing 13-step plan</a:t>
            </a:r>
            <a:endParaRPr/>
          </a:p>
          <a:p>
            <a:pPr algn="ctr">
              <a:lnSpc>
                <a:spcPct val="14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or tool execution (e.g. validate_data.py)</a:t>
            </a:r>
            <a:endParaRPr/>
          </a:p>
        </p:txBody>
      </p:sp>
      <p:sp>
        <p:nvSpPr>
          <p:cNvPr id="246" name="TextBox 245" descr="{&quot;isTemplate&quot;:true,&quot;type&quot;:&quot;text&quot;}"/>
          <p:cNvSpPr txBox="1"/>
          <p:nvPr/>
        </p:nvSpPr>
        <p:spPr>
          <a:xfrm>
            <a:off x="6305550" y="4514850"/>
            <a:ext cx="51816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Python scripts</a:t>
            </a:r>
            <a:endParaRPr/>
          </a:p>
        </p:txBody>
      </p:sp>
      <p:sp>
        <p:nvSpPr>
          <p:cNvPr id="247" name="TextBox 246" descr="{&quot;isTemplate&quot;:true,&quot;type&quot;:&quot;text&quot;}"/>
          <p:cNvSpPr txBox="1"/>
          <p:nvPr/>
        </p:nvSpPr>
        <p:spPr>
          <a:xfrm>
            <a:off x="6305550" y="4695825"/>
            <a:ext cx="5181600" cy="104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75">
                <a:solidFill>
                  <a:srgbClr val="94A3B8"/>
                </a:solidFill>
                <a:latin typeface="Microsoft YaHei"/>
                <a:ea typeface="Microsoft YaHei"/>
              </a:rPr>
              <a:t>validate_data.py · fault_investigation.py</a:t>
            </a:r>
            <a:endParaRPr/>
          </a:p>
        </p:txBody>
      </p:sp>
      <p:sp>
        <p:nvSpPr>
          <p:cNvPr id="248" name="TextBox 247" descr="{&quot;isTemplate&quot;:true,&quot;type&quot;:&quot;text&quot;}"/>
          <p:cNvSpPr txBox="1"/>
          <p:nvPr/>
        </p:nvSpPr>
        <p:spPr>
          <a:xfrm>
            <a:off x="6305550" y="4867275"/>
            <a:ext cx="51816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Direct CSV reads + Flask API queries</a:t>
            </a:r>
            <a:endParaRPr/>
          </a:p>
        </p:txBody>
      </p:sp>
      <p:sp>
        <p:nvSpPr>
          <p:cNvPr id="249" name="TextBox 248" descr="{&quot;isTemplate&quot;:true,&quot;type&quot;:&quot;text&quot;}"/>
          <p:cNvSpPr txBox="1"/>
          <p:nvPr/>
        </p:nvSpPr>
        <p:spPr>
          <a:xfrm>
            <a:off x="6305550" y="5048250"/>
            <a:ext cx="5181600" cy="104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75">
                <a:solidFill>
                  <a:srgbClr val="94A3B8"/>
                </a:solidFill>
                <a:latin typeface="Microsoft YaHei"/>
                <a:ea typeface="Microsoft YaHei"/>
              </a:rPr>
              <a:t>independent verification + cross-check</a:t>
            </a:r>
            <a:endParaRPr/>
          </a:p>
        </p:txBody>
      </p:sp>
      <p:sp>
        <p:nvSpPr>
          <p:cNvPr id="250" name="TextBox 249" descr="{&quot;isTemplate&quot;:true,&quot;type&quot;:&quot;text&quot;}"/>
          <p:cNvSpPr txBox="1"/>
          <p:nvPr/>
        </p:nvSpPr>
        <p:spPr>
          <a:xfrm>
            <a:off x="6305550" y="5219700"/>
            <a:ext cx="51816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Report writes</a:t>
            </a:r>
            <a:endParaRPr/>
          </a:p>
        </p:txBody>
      </p:sp>
      <p:sp>
        <p:nvSpPr>
          <p:cNvPr id="251" name="TextBox 250" descr="{&quot;isTemplate&quot;:true,&quot;type&quot;:&quot;text&quot;}"/>
          <p:cNvSpPr txBox="1"/>
          <p:nvPr/>
        </p:nvSpPr>
        <p:spPr>
          <a:xfrm>
            <a:off x="6305550" y="5400675"/>
            <a:ext cx="5181600" cy="104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75">
                <a:solidFill>
                  <a:srgbClr val="94A3B8"/>
                </a:solidFill>
                <a:latin typeface="Microsoft YaHei"/>
                <a:ea typeface="Microsoft YaHei"/>
              </a:rPr>
              <a:t>7 AI reports · Markdown deliverables</a:t>
            </a:r>
            <a:endParaRPr/>
          </a:p>
        </p:txBody>
      </p:sp>
      <p:sp>
        <p:nvSpPr>
          <p:cNvPr id="252" name="Rectangle: Rounded Corners 251"/>
          <p:cNvSpPr/>
          <p:nvPr/>
        </p:nvSpPr>
        <p:spPr>
          <a:xfrm>
            <a:off x="571500" y="5619750"/>
            <a:ext cx="11049000" cy="704850"/>
          </a:xfrm>
          <a:prstGeom prst="roundRect">
            <a:avLst>
              <a:gd name="adj" fmla="val 13514"/>
            </a:avLst>
          </a:prstGeom>
          <a:solidFill>
            <a:srgbClr val="06B6D4">
              <a:alpha val="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3" name="TextBox 252" descr="{&quot;isTemplate&quot;:true,&quot;type&quot;:&quot;text&quot;}"/>
          <p:cNvSpPr txBox="1"/>
          <p:nvPr/>
        </p:nvSpPr>
        <p:spPr>
          <a:xfrm>
            <a:off x="1943100" y="5734050"/>
            <a:ext cx="3333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Microsoft YaHei"/>
                <a:ea typeface="Microsoft YaHei"/>
              </a:rPr>
              <a:t>13</a:t>
            </a:r>
            <a:endParaRPr/>
          </a:p>
        </p:txBody>
      </p:sp>
      <p:sp>
        <p:nvSpPr>
          <p:cNvPr id="254" name="TextBox 253" descr="{&quot;isTemplate&quot;:true,&quot;type&quot;:&quot;text&quot;}"/>
          <p:cNvSpPr txBox="1"/>
          <p:nvPr/>
        </p:nvSpPr>
        <p:spPr>
          <a:xfrm>
            <a:off x="1628775" y="6096000"/>
            <a:ext cx="95250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planned steps (Inv 1)</a:t>
            </a:r>
            <a:endParaRPr/>
          </a:p>
        </p:txBody>
      </p:sp>
      <p:sp>
        <p:nvSpPr>
          <p:cNvPr id="255" name="TextBox 254" descr="{&quot;isTemplate&quot;:true,&quot;type&quot;:&quot;text&quot;}"/>
          <p:cNvSpPr txBox="1"/>
          <p:nvPr/>
        </p:nvSpPr>
        <p:spPr>
          <a:xfrm>
            <a:off x="4667250" y="5734050"/>
            <a:ext cx="3333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256" name="TextBox 255" descr="{&quot;isTemplate&quot;:true,&quot;type&quot;:&quot;text&quot;}"/>
          <p:cNvSpPr txBox="1"/>
          <p:nvPr/>
        </p:nvSpPr>
        <p:spPr>
          <a:xfrm>
            <a:off x="4467225" y="6096000"/>
            <a:ext cx="72390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tool calls (Inv 1)</a:t>
            </a:r>
            <a:endParaRPr/>
          </a:p>
        </p:txBody>
      </p:sp>
      <p:sp>
        <p:nvSpPr>
          <p:cNvPr id="257" name="TextBox 256" descr="{&quot;isTemplate&quot;:true,&quot;type&quot;:&quot;text&quot;}"/>
          <p:cNvSpPr txBox="1"/>
          <p:nvPr/>
        </p:nvSpPr>
        <p:spPr>
          <a:xfrm>
            <a:off x="7315200" y="5734050"/>
            <a:ext cx="1714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58" name="TextBox 257" descr="{&quot;isTemplate&quot;:true,&quot;type&quot;:&quot;text&quot;}"/>
          <p:cNvSpPr txBox="1"/>
          <p:nvPr/>
        </p:nvSpPr>
        <p:spPr>
          <a:xfrm>
            <a:off x="7077075" y="6096000"/>
            <a:ext cx="638175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investigations</a:t>
            </a:r>
            <a:endParaRPr/>
          </a:p>
        </p:txBody>
      </p:sp>
      <p:sp>
        <p:nvSpPr>
          <p:cNvPr id="259" name="TextBox 258" descr="{&quot;isTemplate&quot;:true,&quot;type&quot;:&quot;text&quot;}"/>
          <p:cNvSpPr txBox="1"/>
          <p:nvPr/>
        </p:nvSpPr>
        <p:spPr>
          <a:xfrm>
            <a:off x="10001250" y="5734050"/>
            <a:ext cx="1714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06B6D4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260" name="TextBox 259" descr="{&quot;isTemplate&quot;:true,&quot;type&quot;:&quot;text&quot;}"/>
          <p:cNvSpPr txBox="1"/>
          <p:nvPr/>
        </p:nvSpPr>
        <p:spPr>
          <a:xfrm>
            <a:off x="9601200" y="6096000"/>
            <a:ext cx="962025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AI-generated reports</a:t>
            </a:r>
            <a:endParaRPr/>
          </a:p>
        </p:txBody>
      </p:sp>
      <p:sp>
        <p:nvSpPr>
          <p:cNvPr id="261" name="TextBox 260" descr="{&quot;isTemplate&quot;:true,&quot;type&quot;:&quot;text&quot;}"/>
          <p:cNvSpPr txBox="1"/>
          <p:nvPr/>
        </p:nvSpPr>
        <p:spPr>
          <a:xfrm>
            <a:off x="571500" y="6534150"/>
            <a:ext cx="29813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GenBuddy · DORMATHON 2026 · Track 2: Agentic Solutions</a:t>
            </a:r>
            <a:endParaRPr/>
          </a:p>
        </p:txBody>
      </p:sp>
      <p:sp>
        <p:nvSpPr>
          <p:cNvPr id="262" name="TextBox 261" descr="{&quot;isTemplate&quot;:true,&quot;type&quot;:&quot;text&quot;}"/>
          <p:cNvSpPr txBox="1"/>
          <p:nvPr/>
        </p:nvSpPr>
        <p:spPr>
          <a:xfrm>
            <a:off x="11258550" y="6534150"/>
            <a:ext cx="3619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05 / 10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678F48-EE18-3461-7CF5-64AA9ECDC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570"/>
          <a:stretch>
            <a:fillRect/>
          </a:stretch>
        </p:blipFill>
        <p:spPr>
          <a:xfrm>
            <a:off x="6210300" y="2661764"/>
            <a:ext cx="5314950" cy="18195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8FAFC' }}&gt;&#10;  {/* Top accent bar */}&#10;  &lt;Box style={{ position: 'absolute', top: 0, left: 0, width: '1280px', height: 6, background: 'linear-gradient(90deg, #0B1E3F 0%, #2563EB 100%)' }} /&gt;&#10;&#10;  {/* Section tag */}&#10;  &lt;Box style={{ position: 'absolute', top: 28, left: 60, padding: '4px 12px', borderRadius: 4, background: '#0B1E3F' }}&gt;&#10;    &lt;Text style={{ fontSize: 11, color: '#FFFFFF', fontWeight: 700, letterSpacing: 1.5 }}&gt;06 / PRODUCT DEMO&lt;/Text&gt;&#10;  &lt;/Box&gt;&#10;&#10;  {/* Title */}&#10;  &lt;Box style={{ position: 'absolute', top: 64, left: 60, width: 1160 }}&gt;&#10;    &lt;Text style={{ fontSize: 28, color: '#0B1E3F', fontWeight: 700, lineHeight: 1.2 }}&gt;&#10;      The GenBuddy AI Investigation Center&#10;    &lt;/Text&gt;&#10;  &lt;/Box&gt;&#10;&#10;  {/* Subtitle */}&#10;  &lt;Box style={{ position: 'absolute', top: 102, left: 60, width: 1160 }}&gt;&#10;    &lt;Text style={{ fontSize: 13, color: '#64748B', lineHeight: 1.4 }}&gt;&#10;      A Flask dashboard where SMEs submit plain-English questions and read the agent's structured reports.&#10;    &lt;/Text&gt;&#10;  &lt;/Box&gt;&#10;&#10;  {/* LEFT - Screenshot placeholder for GenBuddy dashboard */}&#10;  &lt;Box style={{ position: 'absolute', top: 140, left: 40, width: 760, height: 500, borderRadius: 10, background: '#FFFFFF', border: '2px dashed #CBD5E1', padding: 8, alignItems: 'center', justifyContent: 'center' }}&gt;&#10;    &lt;Box style={{ alignItems: 'center', justifyContent: 'center' }}&gt;&#10;      &lt;Text style={{ fontSize: 14, color: '#94A3B8', fontWeight: 700, letterSpacing: 1.5, marginBottom: 8 }}&gt;SCREENSHOT PLACEHOLDER&lt;/Text&gt;&#10;      &lt;Text style={{ fontSize: 16, color: '#64748B', fontWeight: 600, textAlign: 'center', lineHeight: 1.4 }}&gt;&#10;        GenBuddy AI Investigation Center&#10;      &lt;/Text&gt;&#10;      &lt;Text style={{ fontSize: 12, color: '#94A3B8', textAlign: 'center', marginTop: 8, lineHeight: 1.5 }}&gt;&#10;        Capture from running dashboard showing:&#10;        &lt;br /&gt;· User input textarea + example questions&#10;        &lt;br /&gt;· Investigation status (awaiting → completed)&#10;        &lt;br /&gt;· Agent report output (verdict, work orders)&#10;      &lt;/Text&gt;&#10;    &lt;/Box&gt;&#10;  &lt;/Box&gt;&#10;&#10;  {/* RIGHT - 4 example questions + dashboard description */}&#10;  &lt;Box style={{ position: 'absolute', top: 140, left: 820, right: 40, height: 500 }}&gt;&#10;    &lt;Text style={{ fontSize: 10, color: '#2563EB', fontWeight: 700, letterSpacing: 1.5, marginBottom: 4 }}&gt;EXAMPLE QUESTIONS&lt;/Text&gt;&#10;    &lt;Text style={{ fontSize: 14, color: '#0B1E3F', fontWeight: 700, marginBottom: 8 }}&gt;What users actually ask&lt;/Text&gt;&#10;&#10;    &lt;Box style={{ flexDirection: 'column', gap: 6 }}&gt;&#10;      {[&#10;        { q: 'Is my backup generator ready for the next power outage?', tag: 'INV 1 · READINESS', color: '#06B6D4' },&#10;        { q: 'Why did my generator shut down during last week\'s outage?', tag: 'INV 2 · ROOT CAUSE', color: '#2563EB' },&#10;        { q: 'What should I tell my maintenance contractor to fix?', tag: 'INV 2 · CONTRACTOR BRIEF', color: '#2563EB' },&#10;        { q: 'Re-verify the readiness assessment end-to-end.', tag: 'INV 3 · AUDIT', color: '#94A3B8' },&#10;      ].map((item, i) =&gt; (&#10;        &lt;Box key={i} style={{ padding: 6, borderRadius: 5, background: '#FFFFFF', border: '1px solid #E2E8F0', borderLeft: `3px solid ${item.color}` }}&gt;&#10;          &lt;Text style={{ fontSize: 11, color: '#0F172A', fontWeight: 600, lineHeight: 1.25 }}&gt;{item.q}&lt;/Text&gt;&#10;          &lt;Text style={{ fontSize: 9, color: item.color, fontWeight: 700, letterSpacing: 1, marginTop: 2 }}&gt;{item.tag}&lt;/Text&gt;&#10;        &lt;/Box&gt;&#10;      ))}&#10;    &lt;/Box&gt;&#10;&#10;    &lt;Box style={{ position: 'absolute', bottom: 0, left: 0, right: 0, padding: 8, borderRadius: 5, background: '#0B1E3F' }}&gt;&#10;      &lt;Text style={{ fontSize: 9, color: '#06B6D4', fontWeight: 700, letterSpacing: 1, marginBottom: 2 }}&gt;WHAT THE DASHBOARD DOES&lt;/Text&gt;&#10;      &lt;Text style={{ fontSize: 9, color: '#CBD5E1', lineHeight: 1.35 }}&gt;&#10;        Saves question to JSON · tracks status (awaiting → investigating → completed) · auto-polls every 5s · displays agent reports.&#10;      &lt;/Text&gt;&#10;    &lt;/Box&gt;&#10;  &lt;/Box&gt;&#10;&#10;  {/* Footer */}&#10;  &lt;Box style={{ position: 'absolute', bottom: 24, left: 60, right: 60, flexDirection: 'row', justifyContent: 'space-between', alignItems: 'center' }}&gt;&#10;    &lt;Text style={{ fontSize: 11, color: '#64748B' }}&gt;GenBuddy · DORMATHON 2026 · Track 2: Agentic Solutions&lt;/Text&gt;&#10;    &lt;Text style={{ fontSize: 11, color: '#64748B' }}&gt;06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2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1E3F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66" name="Rectangle: Rounded Corners 265"/>
          <p:cNvSpPr/>
          <p:nvPr/>
        </p:nvSpPr>
        <p:spPr>
          <a:xfrm>
            <a:off x="571500" y="266700"/>
            <a:ext cx="1609725" cy="209550"/>
          </a:xfrm>
          <a:prstGeom prst="roundRect">
            <a:avLst>
              <a:gd name="adj" fmla="val 18182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7" name="TextBox 266" descr="{&quot;isTemplate&quot;:true,&quot;type&quot;:&quot;text&quot;}"/>
          <p:cNvSpPr txBox="1"/>
          <p:nvPr/>
        </p:nvSpPr>
        <p:spPr>
          <a:xfrm>
            <a:off x="685800" y="304800"/>
            <a:ext cx="13811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FFFFFF"/>
                </a:solidFill>
                <a:latin typeface="Microsoft YaHei"/>
                <a:ea typeface="Microsoft YaHei"/>
              </a:rPr>
              <a:t>06 / PRODUCT DEMO</a:t>
            </a:r>
            <a:endParaRPr/>
          </a:p>
        </p:txBody>
      </p:sp>
      <p:sp>
        <p:nvSpPr>
          <p:cNvPr id="268" name="TextBox 267" descr="{&quot;isTemplate&quot;:true,&quot;type&quot;:&quot;text&quot;}"/>
          <p:cNvSpPr txBox="1"/>
          <p:nvPr/>
        </p:nvSpPr>
        <p:spPr>
          <a:xfrm>
            <a:off x="571500" y="609600"/>
            <a:ext cx="110490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0B1E3F"/>
                </a:solidFill>
                <a:latin typeface="Microsoft YaHei"/>
                <a:ea typeface="Microsoft YaHei"/>
              </a:rPr>
              <a:t>The GenBuddy AI Investigation Center</a:t>
            </a:r>
            <a:endParaRPr/>
          </a:p>
        </p:txBody>
      </p:sp>
      <p:sp>
        <p:nvSpPr>
          <p:cNvPr id="269" name="TextBox 268" descr="{&quot;isTemplate&quot;:true,&quot;type&quot;:&quot;text&quot;}"/>
          <p:cNvSpPr txBox="1"/>
          <p:nvPr/>
        </p:nvSpPr>
        <p:spPr>
          <a:xfrm>
            <a:off x="571500" y="971550"/>
            <a:ext cx="11049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75">
                <a:solidFill>
                  <a:srgbClr val="64748B"/>
                </a:solidFill>
                <a:latin typeface="Microsoft YaHei"/>
                <a:ea typeface="Microsoft YaHei"/>
              </a:rPr>
              <a:t>A Flask dashboard where SMEs submit plain-English questions and read the agent's structured reports.</a:t>
            </a:r>
            <a:endParaRPr/>
          </a:p>
        </p:txBody>
      </p:sp>
      <p:sp>
        <p:nvSpPr>
          <p:cNvPr id="271" name="TextBox 270" descr="{&quot;isTemplate&quot;:true,&quot;type&quot;:&quot;text&quot;}"/>
          <p:cNvSpPr txBox="1"/>
          <p:nvPr/>
        </p:nvSpPr>
        <p:spPr>
          <a:xfrm>
            <a:off x="2867025" y="3019425"/>
            <a:ext cx="22669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 spc="113">
                <a:solidFill>
                  <a:srgbClr val="94A3B8"/>
                </a:solidFill>
                <a:latin typeface="Microsoft YaHei"/>
                <a:ea typeface="Microsoft YaHei"/>
              </a:rPr>
              <a:t>SCREENSHOT PLACEHOLDER</a:t>
            </a:r>
            <a:endParaRPr/>
          </a:p>
        </p:txBody>
      </p:sp>
      <p:sp>
        <p:nvSpPr>
          <p:cNvPr id="272" name="TextBox 271" descr="{&quot;isTemplate&quot;:true,&quot;type&quot;:&quot;text&quot;}"/>
          <p:cNvSpPr txBox="1"/>
          <p:nvPr/>
        </p:nvSpPr>
        <p:spPr>
          <a:xfrm>
            <a:off x="2695575" y="3257550"/>
            <a:ext cx="26098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en-US" sz="1200" b="1">
                <a:solidFill>
                  <a:srgbClr val="64748B"/>
                </a:solidFill>
                <a:latin typeface="Microsoft YaHei"/>
                <a:ea typeface="Microsoft YaHei"/>
              </a:rPr>
              <a:t>GenBuddy AI Investigation Center</a:t>
            </a:r>
            <a:endParaRPr/>
          </a:p>
        </p:txBody>
      </p:sp>
      <p:sp>
        <p:nvSpPr>
          <p:cNvPr id="273" name="TextBox 272" descr="{&quot;isTemplate&quot;:true,&quot;type&quot;:&quot;text&quot;}"/>
          <p:cNvSpPr txBox="1"/>
          <p:nvPr/>
        </p:nvSpPr>
        <p:spPr>
          <a:xfrm>
            <a:off x="2771775" y="3590925"/>
            <a:ext cx="2466975" cy="8286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Capture from running dashboard showing:</a:t>
            </a:r>
            <a:endParaRPr/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· User input textarea + example questions</a:t>
            </a:r>
            <a:endParaRPr/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· Investigation status (awaiting → completed)</a:t>
            </a:r>
            <a:endParaRPr/>
          </a:p>
          <a:p>
            <a:pPr algn="ctr">
              <a:lnSpc>
                <a:spcPct val="150000"/>
              </a:lnSpc>
            </a:pPr>
            <a:r>
              <a:rPr lang="en-US" sz="900">
                <a:solidFill>
                  <a:srgbClr val="94A3B8"/>
                </a:solidFill>
                <a:latin typeface="Microsoft YaHei"/>
                <a:ea typeface="Microsoft YaHei"/>
              </a:rPr>
              <a:t>· Agent report output (verdict, work orders)</a:t>
            </a:r>
            <a:endParaRPr/>
          </a:p>
        </p:txBody>
      </p:sp>
      <p:sp>
        <p:nvSpPr>
          <p:cNvPr id="274" name="TextBox 273" descr="{&quot;isTemplate&quot;:true,&quot;type&quot;:&quot;text&quot;}"/>
          <p:cNvSpPr txBox="1"/>
          <p:nvPr/>
        </p:nvSpPr>
        <p:spPr>
          <a:xfrm>
            <a:off x="7831691" y="1575817"/>
            <a:ext cx="400050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 b="1" spc="113">
                <a:solidFill>
                  <a:srgbClr val="2563EB"/>
                </a:solidFill>
                <a:latin typeface="Microsoft YaHei"/>
                <a:ea typeface="Microsoft YaHei"/>
              </a:rPr>
              <a:t>EXAMPLE QUESTIONS</a:t>
            </a:r>
            <a:endParaRPr/>
          </a:p>
        </p:txBody>
      </p:sp>
      <p:sp>
        <p:nvSpPr>
          <p:cNvPr id="275" name="TextBox 274" descr="{&quot;isTemplate&quot;:true,&quot;type&quot;:&quot;text&quot;}"/>
          <p:cNvSpPr txBox="1"/>
          <p:nvPr/>
        </p:nvSpPr>
        <p:spPr>
          <a:xfrm>
            <a:off x="7831691" y="1728217"/>
            <a:ext cx="40005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B1E3F"/>
                </a:solidFill>
                <a:latin typeface="Microsoft YaHei"/>
                <a:ea typeface="Microsoft YaHei"/>
              </a:rPr>
              <a:t>What users actually ask</a:t>
            </a:r>
            <a:endParaRPr/>
          </a:p>
        </p:txBody>
      </p:sp>
      <p:sp>
        <p:nvSpPr>
          <p:cNvPr id="276" name="Rectangle: Rounded Corners 275"/>
          <p:cNvSpPr/>
          <p:nvPr/>
        </p:nvSpPr>
        <p:spPr>
          <a:xfrm>
            <a:off x="7860266" y="1966342"/>
            <a:ext cx="4000500" cy="40005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7" name="Freeform: Shape 276"/>
          <p:cNvSpPr/>
          <p:nvPr/>
        </p:nvSpPr>
        <p:spPr>
          <a:xfrm>
            <a:off x="7860266" y="1966342"/>
            <a:ext cx="4000500" cy="400050"/>
          </a:xfrm>
          <a:custGeom>
            <a:avLst/>
            <a:gdLst/>
            <a:ahLst/>
            <a:cxnLst/>
            <a:rect l="0" t="0" r="0" b="0"/>
            <a:pathLst>
              <a:path w="420" h="42">
                <a:moveTo>
                  <a:pt x="5" y="0"/>
                </a:moveTo>
                <a:cubicBezTo>
                  <a:pt x="4" y="0"/>
                  <a:pt x="3" y="1"/>
                  <a:pt x="3" y="2"/>
                </a:cubicBezTo>
                <a:lnTo>
                  <a:pt x="3" y="40"/>
                </a:lnTo>
                <a:cubicBezTo>
                  <a:pt x="3" y="41"/>
                  <a:pt x="4" y="42"/>
                  <a:pt x="5" y="42"/>
                </a:cubicBezTo>
                <a:cubicBezTo>
                  <a:pt x="2" y="42"/>
                  <a:pt x="0" y="40"/>
                  <a:pt x="0" y="37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8" name="TextBox 277" descr="{&quot;isTemplate&quot;:true,&quot;type&quot;:&quot;text&quot;}"/>
          <p:cNvSpPr txBox="1"/>
          <p:nvPr/>
        </p:nvSpPr>
        <p:spPr>
          <a:xfrm>
            <a:off x="7917416" y="2023492"/>
            <a:ext cx="3857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Is my backup generator ready for the next power outage?</a:t>
            </a:r>
            <a:endParaRPr/>
          </a:p>
        </p:txBody>
      </p:sp>
      <p:sp>
        <p:nvSpPr>
          <p:cNvPr id="279" name="TextBox 278" descr="{&quot;isTemplate&quot;:true,&quot;type&quot;:&quot;text&quot;}"/>
          <p:cNvSpPr txBox="1"/>
          <p:nvPr/>
        </p:nvSpPr>
        <p:spPr>
          <a:xfrm>
            <a:off x="7917416" y="2204467"/>
            <a:ext cx="3857625" cy="104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75" b="1" spc="75">
                <a:solidFill>
                  <a:srgbClr val="06B6D4"/>
                </a:solidFill>
                <a:latin typeface="Microsoft YaHei"/>
                <a:ea typeface="Microsoft YaHei"/>
              </a:rPr>
              <a:t>INV 1 · READINESS</a:t>
            </a:r>
            <a:endParaRPr/>
          </a:p>
        </p:txBody>
      </p:sp>
      <p:sp>
        <p:nvSpPr>
          <p:cNvPr id="280" name="Rectangle: Rounded Corners 279"/>
          <p:cNvSpPr/>
          <p:nvPr/>
        </p:nvSpPr>
        <p:spPr>
          <a:xfrm>
            <a:off x="7860266" y="2423542"/>
            <a:ext cx="4000500" cy="40005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1" name="Freeform: Shape 280"/>
          <p:cNvSpPr/>
          <p:nvPr/>
        </p:nvSpPr>
        <p:spPr>
          <a:xfrm>
            <a:off x="7860266" y="2423542"/>
            <a:ext cx="4000500" cy="400050"/>
          </a:xfrm>
          <a:custGeom>
            <a:avLst/>
            <a:gdLst/>
            <a:ahLst/>
            <a:cxnLst/>
            <a:rect l="0" t="0" r="0" b="0"/>
            <a:pathLst>
              <a:path w="420" h="42">
                <a:moveTo>
                  <a:pt x="5" y="0"/>
                </a:moveTo>
                <a:cubicBezTo>
                  <a:pt x="4" y="0"/>
                  <a:pt x="3" y="1"/>
                  <a:pt x="3" y="2"/>
                </a:cubicBezTo>
                <a:lnTo>
                  <a:pt x="3" y="40"/>
                </a:lnTo>
                <a:cubicBezTo>
                  <a:pt x="3" y="41"/>
                  <a:pt x="4" y="42"/>
                  <a:pt x="5" y="42"/>
                </a:cubicBezTo>
                <a:cubicBezTo>
                  <a:pt x="2" y="42"/>
                  <a:pt x="0" y="40"/>
                  <a:pt x="0" y="37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2" name="TextBox 281" descr="{&quot;isTemplate&quot;:true,&quot;type&quot;:&quot;text&quot;}"/>
          <p:cNvSpPr txBox="1"/>
          <p:nvPr/>
        </p:nvSpPr>
        <p:spPr>
          <a:xfrm>
            <a:off x="7917416" y="2480692"/>
            <a:ext cx="3857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Why did my generator shut down during last week's outage?</a:t>
            </a:r>
            <a:endParaRPr/>
          </a:p>
        </p:txBody>
      </p:sp>
      <p:sp>
        <p:nvSpPr>
          <p:cNvPr id="283" name="TextBox 282" descr="{&quot;isTemplate&quot;:true,&quot;type&quot;:&quot;text&quot;}"/>
          <p:cNvSpPr txBox="1"/>
          <p:nvPr/>
        </p:nvSpPr>
        <p:spPr>
          <a:xfrm>
            <a:off x="7917416" y="2661667"/>
            <a:ext cx="3857625" cy="104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75" b="1" spc="75">
                <a:solidFill>
                  <a:srgbClr val="2563EB"/>
                </a:solidFill>
                <a:latin typeface="Microsoft YaHei"/>
                <a:ea typeface="Microsoft YaHei"/>
              </a:rPr>
              <a:t>INV 2 · ROOT CAUSE</a:t>
            </a:r>
            <a:endParaRPr/>
          </a:p>
        </p:txBody>
      </p:sp>
      <p:sp>
        <p:nvSpPr>
          <p:cNvPr id="284" name="Rectangle: Rounded Corners 283"/>
          <p:cNvSpPr/>
          <p:nvPr/>
        </p:nvSpPr>
        <p:spPr>
          <a:xfrm>
            <a:off x="7860266" y="2880742"/>
            <a:ext cx="4000500" cy="40005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5" name="Freeform: Shape 284"/>
          <p:cNvSpPr/>
          <p:nvPr/>
        </p:nvSpPr>
        <p:spPr>
          <a:xfrm>
            <a:off x="7860266" y="2880742"/>
            <a:ext cx="4000500" cy="400050"/>
          </a:xfrm>
          <a:custGeom>
            <a:avLst/>
            <a:gdLst/>
            <a:ahLst/>
            <a:cxnLst/>
            <a:rect l="0" t="0" r="0" b="0"/>
            <a:pathLst>
              <a:path w="420" h="42">
                <a:moveTo>
                  <a:pt x="5" y="0"/>
                </a:moveTo>
                <a:cubicBezTo>
                  <a:pt x="4" y="0"/>
                  <a:pt x="3" y="1"/>
                  <a:pt x="3" y="2"/>
                </a:cubicBezTo>
                <a:lnTo>
                  <a:pt x="3" y="40"/>
                </a:lnTo>
                <a:cubicBezTo>
                  <a:pt x="3" y="41"/>
                  <a:pt x="4" y="42"/>
                  <a:pt x="5" y="42"/>
                </a:cubicBezTo>
                <a:cubicBezTo>
                  <a:pt x="2" y="42"/>
                  <a:pt x="0" y="40"/>
                  <a:pt x="0" y="37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6" name="TextBox 285" descr="{&quot;isTemplate&quot;:true,&quot;type&quot;:&quot;text&quot;}"/>
          <p:cNvSpPr txBox="1"/>
          <p:nvPr/>
        </p:nvSpPr>
        <p:spPr>
          <a:xfrm>
            <a:off x="7917416" y="2937892"/>
            <a:ext cx="3857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What should I tell my maintenance contractor to fix?</a:t>
            </a:r>
            <a:endParaRPr/>
          </a:p>
        </p:txBody>
      </p:sp>
      <p:sp>
        <p:nvSpPr>
          <p:cNvPr id="287" name="TextBox 286" descr="{&quot;isTemplate&quot;:true,&quot;type&quot;:&quot;text&quot;}"/>
          <p:cNvSpPr txBox="1"/>
          <p:nvPr/>
        </p:nvSpPr>
        <p:spPr>
          <a:xfrm>
            <a:off x="7917416" y="3118867"/>
            <a:ext cx="3857625" cy="104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75" b="1" spc="75">
                <a:solidFill>
                  <a:srgbClr val="2563EB"/>
                </a:solidFill>
                <a:latin typeface="Microsoft YaHei"/>
                <a:ea typeface="Microsoft YaHei"/>
              </a:rPr>
              <a:t>INV 2 · CONTRACTOR BRIEF</a:t>
            </a:r>
            <a:endParaRPr/>
          </a:p>
        </p:txBody>
      </p:sp>
      <p:sp>
        <p:nvSpPr>
          <p:cNvPr id="288" name="Rectangle: Rounded Corners 287"/>
          <p:cNvSpPr/>
          <p:nvPr/>
        </p:nvSpPr>
        <p:spPr>
          <a:xfrm>
            <a:off x="7860266" y="3337942"/>
            <a:ext cx="4000500" cy="40005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9" name="Freeform: Shape 288"/>
          <p:cNvSpPr/>
          <p:nvPr/>
        </p:nvSpPr>
        <p:spPr>
          <a:xfrm>
            <a:off x="7860266" y="3337942"/>
            <a:ext cx="4000500" cy="400050"/>
          </a:xfrm>
          <a:custGeom>
            <a:avLst/>
            <a:gdLst/>
            <a:ahLst/>
            <a:cxnLst/>
            <a:rect l="0" t="0" r="0" b="0"/>
            <a:pathLst>
              <a:path w="420" h="42">
                <a:moveTo>
                  <a:pt x="5" y="0"/>
                </a:moveTo>
                <a:cubicBezTo>
                  <a:pt x="4" y="0"/>
                  <a:pt x="3" y="1"/>
                  <a:pt x="3" y="2"/>
                </a:cubicBezTo>
                <a:lnTo>
                  <a:pt x="3" y="40"/>
                </a:lnTo>
                <a:cubicBezTo>
                  <a:pt x="3" y="41"/>
                  <a:pt x="4" y="42"/>
                  <a:pt x="5" y="42"/>
                </a:cubicBezTo>
                <a:cubicBezTo>
                  <a:pt x="2" y="42"/>
                  <a:pt x="0" y="40"/>
                  <a:pt x="0" y="37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94A3B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0" name="TextBox 289" descr="{&quot;isTemplate&quot;:true,&quot;type&quot;:&quot;text&quot;}"/>
          <p:cNvSpPr txBox="1"/>
          <p:nvPr/>
        </p:nvSpPr>
        <p:spPr>
          <a:xfrm>
            <a:off x="7917416" y="3395092"/>
            <a:ext cx="3857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5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Re-verify the readiness assessment end-to-end.</a:t>
            </a:r>
            <a:endParaRPr/>
          </a:p>
        </p:txBody>
      </p:sp>
      <p:sp>
        <p:nvSpPr>
          <p:cNvPr id="291" name="TextBox 290" descr="{&quot;isTemplate&quot;:true,&quot;type&quot;:&quot;text&quot;}"/>
          <p:cNvSpPr txBox="1"/>
          <p:nvPr/>
        </p:nvSpPr>
        <p:spPr>
          <a:xfrm>
            <a:off x="7917416" y="3576067"/>
            <a:ext cx="3857625" cy="104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75" b="1" spc="75">
                <a:solidFill>
                  <a:srgbClr val="94A3B8"/>
                </a:solidFill>
                <a:latin typeface="Microsoft YaHei"/>
                <a:ea typeface="Microsoft YaHei"/>
              </a:rPr>
              <a:t>INV 3 · AUDIT</a:t>
            </a:r>
            <a:endParaRPr/>
          </a:p>
        </p:txBody>
      </p:sp>
      <p:sp>
        <p:nvSpPr>
          <p:cNvPr id="292" name="Rectangle: Rounded Corners 291"/>
          <p:cNvSpPr/>
          <p:nvPr/>
        </p:nvSpPr>
        <p:spPr>
          <a:xfrm>
            <a:off x="7831691" y="5272658"/>
            <a:ext cx="4000500" cy="561975"/>
          </a:xfrm>
          <a:prstGeom prst="roundRect">
            <a:avLst>
              <a:gd name="adj" fmla="val 8475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3" name="TextBox 292" descr="{&quot;isTemplate&quot;:true,&quot;type&quot;:&quot;text&quot;}"/>
          <p:cNvSpPr txBox="1"/>
          <p:nvPr/>
        </p:nvSpPr>
        <p:spPr>
          <a:xfrm>
            <a:off x="7907891" y="5348858"/>
            <a:ext cx="3848100" cy="1047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675" b="1" spc="75">
                <a:solidFill>
                  <a:srgbClr val="06B6D4"/>
                </a:solidFill>
                <a:latin typeface="Microsoft YaHei"/>
                <a:ea typeface="Microsoft YaHei"/>
              </a:rPr>
              <a:t>WHAT THE DASHBOARD DOES</a:t>
            </a:r>
            <a:endParaRPr/>
          </a:p>
        </p:txBody>
      </p:sp>
      <p:sp>
        <p:nvSpPr>
          <p:cNvPr id="294" name="TextBox 293" descr="{&quot;isTemplate&quot;:true,&quot;type&quot;:&quot;text&quot;}"/>
          <p:cNvSpPr txBox="1"/>
          <p:nvPr/>
        </p:nvSpPr>
        <p:spPr>
          <a:xfrm>
            <a:off x="7907891" y="5472683"/>
            <a:ext cx="3848100" cy="285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5000"/>
              </a:lnSpc>
            </a:pPr>
            <a:r>
              <a:rPr lang="en-US" sz="675">
                <a:solidFill>
                  <a:srgbClr val="CBD5E1"/>
                </a:solidFill>
                <a:latin typeface="Microsoft YaHei"/>
                <a:ea typeface="Microsoft YaHei"/>
              </a:rPr>
              <a:t>Saves question to JSON · tracks status (awaiting → investigating → completed) · auto-polls every 5s · displays agent reports.</a:t>
            </a:r>
            <a:endParaRPr/>
          </a:p>
        </p:txBody>
      </p:sp>
      <p:sp>
        <p:nvSpPr>
          <p:cNvPr id="295" name="TextBox 294" descr="{&quot;isTemplate&quot;:true,&quot;type&quot;:&quot;text&quot;}"/>
          <p:cNvSpPr txBox="1"/>
          <p:nvPr/>
        </p:nvSpPr>
        <p:spPr>
          <a:xfrm>
            <a:off x="571500" y="6496050"/>
            <a:ext cx="29813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GenBuddy · DORMATHON 2026 · Track 2: Agentic Solutions</a:t>
            </a:r>
            <a:endParaRPr/>
          </a:p>
        </p:txBody>
      </p:sp>
      <p:sp>
        <p:nvSpPr>
          <p:cNvPr id="296" name="TextBox 295" descr="{&quot;isTemplate&quot;:true,&quot;type&quot;:&quot;text&quot;}"/>
          <p:cNvSpPr txBox="1"/>
          <p:nvPr/>
        </p:nvSpPr>
        <p:spPr>
          <a:xfrm>
            <a:off x="11258550" y="6496050"/>
            <a:ext cx="3619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06 / 10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E6644-CCA5-B82B-6650-36BC58899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904" y="1595470"/>
            <a:ext cx="7500458" cy="42391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8FAFC' }}&gt;&#10;  {/* Top accent bar */}&#10;  &lt;Box style={{ position: 'absolute', top: 0, left: 0, width: '1280px', height: 6, background: 'linear-gradient(90deg, #0B1E3F 0%, #2563EB 100%)' }} /&gt;&#10;&#10;  {/* Section tag */}&#10;  &lt;Box style={{ position: 'absolute', top: 28, left: 60, padding: '4px 12px', borderRadius: 4, background: '#0B1E3F' }}&gt;&#10;    &lt;Text style={{ fontSize: 11, color: '#FFFFFF', fontWeight: 700, letterSpacing: 1.5 }}&gt;07 / INVESTIGATION RESULTS&lt;/Text&gt;&#10;  &lt;/Box&gt;&#10;&#10;  {/* Title */}&#10;  &lt;Box style={{ position: 'absolute', top: 64, left: 60, width: 1160 }}&gt;&#10;    &lt;Text style={{ fontSize: 28, color: '#0B1E3F', fontWeight: 700, lineHeight: 1.2 }}&gt;&#10;      The agent found two real problems hiding in the data&#10;    &lt;/Text&gt;&#10;  &lt;/Box&gt;&#10;&#10;  {/* Top timeline */}&#10;  &lt;Box style={{ position: 'absolute', top: 130, left: 60, right: 60, padding: 12, borderRadius: 10, background: '#FFFFFF', border: '1px solid #E2E8F0' }}&gt;&#10;    &lt;Text style={{ fontSize: 11, color: '#2563EB', fontWeight: 700, letterSpacing: 1.5, marginBottom: 10 }}&gt;SIMULATED DAY 2026-06-01 · THREE SCENARIOS · ALL DATA SIMULATED&lt;/Text&gt;&#10;    &lt;Box style={{ flexDirection: 'row', alignItems: 'center', justifyContent: 'space-between' }}&gt;&#10;      {[&#10;        { time: '08:15', label: 'Scenario A', sub: 'Normal Operation', color: '#10B981', icon: '✓' },&#10;        { time: '11:15', label: 'Scenario B', sub: 'Overheating', color: '#F59E0B', icon: '!' },&#10;        { time: '15:08', label: 'Scenario C', sub: 'ATS Transfer Anomaly', color: '#EF4444', icon: '×' },&#10;      ].map((s, i) =&gt; (&#10;        &lt;Box key={i} style={{ flex: 1, alignItems: 'center', flexDirection: 'row' }}&gt;&#10;          &lt;Box style={{ width: 48, height: 48, borderRadius: 24, background: s.color, alignItems: 'center', justifyContent: 'center' }}&gt;&#10;            &lt;Text style={{ fontSize: 22, color: '#FFFFFF', fontWeight: 800 }}&gt;{s.icon}&lt;/Text&gt;&#10;          &lt;/Box&gt;&#10;          &lt;Box style={{ marginLeft: 12, flex: 1 }}&gt;&#10;            &lt;Text style={{ fontSize: 11, color: s.color, fontWeight: 700, letterSpacing: 1 }}&gt;{s.label} · {s.time}&lt;/Text&gt;&#10;            &lt;Text style={{ fontSize: 13, color: '#0F172A', fontWeight: 700 }}&gt;{s.sub}&lt;/Text&gt;&#10;          &lt;/Box&gt;&#10;        &lt;/Box&gt;&#10;      ))}&#10;    &lt;/Box&gt;&#10;  &lt;/Box&gt;&#10;&#10;  {/* Three work order cards */}&#10;  &lt;Box style={{ position: 'absolute', top: 248, left: 60, right: 60, flexDirection: 'row', gap: 12 }}&gt;&#10;    {/* WO-01 CRITICAL */}&#10;    &lt;Box style={{ flex: 1, padding: 12, borderRadius: 10, background: '#FFFFFF', border: '1px solid #FECACA', borderTop: '4px solid #EF4444' }}&gt;&#10;      &lt;Box style={{ padding: '3px 10px', borderRadius: 12, background: '#FEE2E2', alignSelf: 'flex-start', marginBottom: 6 }}&gt;&#10;        &lt;Text style={{ fontSize: 10, color: '#B91C1C', fontWeight: 700, letterSpacing: 1 }}&gt;WO-01 · CRITICAL&lt;/Text&gt;&#10;      &lt;/Box&gt;&#10;      &lt;Text style={{ fontSize: 14, color: '#0F172A', fontWeight: 700, marginBottom: 6 }}&gt;ATS Transfer Anomaly&lt;/Text&gt;&#10;      &lt;Box style={{ flexDirection: 'column', gap: 3 }}&gt;&#10;        &lt;Text style={{ fontSize: 11, color: '#64748B', lineHeight: 1.35 }}&gt;&#10;          &lt;Text style={{ color: '#EF4444', fontWeight: 700 }}&gt;OBSERVED:&lt;/Text&gt; 11 FAILED transfers in a row&#10;        &lt;/Text&gt;&#10;        &lt;Text style={{ fontSize: 11, color: '#64748B', lineHeight: 1.35 }}&gt;&#10;          &lt;Text style={{ color: '#EF4444', fontWeight: 700 }}&gt;OBSERVED:&lt;/Text&gt; 0A current, position mismatch&#10;        &lt;/Text&gt;&#10;        &lt;Text style={{ fontSize: 11, color: '#64748B', lineHeight: 1.35 }}&gt;&#10;          &lt;Text style={{ color: '#64748B', fontWeight: 700 }}&gt;SUSPECTED:&lt;/Text&gt; contactor / actuator fault&#10;        &lt;/Text&gt;&#10;        &lt;Text style={{ fontSize: 10, color: '#94A3B8', lineHeight: 1.3 }}&gt;&#10;          ⚠ Simulated data; outage duration inferred from alarm field, not independently measured&#10;        &lt;/Text&gt;&#10;      &lt;/Box&gt;&#10;    &lt;/Box&gt;&#10;&#10;    {/* WO-02 HIGH */}&#10;    &lt;Box style={{ flex: 1, padding: 12, borderRadius: 10, background: '#FFFFFF', border: '1px solid #FED7AA', borderTop: '4px solid #F59E0B' }}&gt;&#10;      &lt;Box style={{ padding: '3px 10px', borderRadius: 12, background: '#FEF3C7', alignSelf: 'flex-start', marginBottom: 6 }}&gt;&#10;        &lt;Text style={{ fontSize: 10, color: '#B45309', fontWeight: 700, letterSpacing: 1 }}&gt;WO-02 · HIGH&lt;/Text&gt;&#10;      &lt;/Box&gt;&#10;      &lt;Text style={{ fontSize: 14, color: '#0F172A', fontWeight: 700, marginBottom: 6 }}&gt;Cooling System Margin&lt;/Text&gt;&#10;      &lt;Box style={{ flexDirection: 'column', gap: 3 }}&gt;&#10;        &lt;Text style={{ fontSize: 11, color: '#64748B', lineHeight: 1.35 }}&gt;&#10;          &lt;Text style={{ color: '#F59E0B', fontWeight: 700 }}&gt;OBSERVED:&lt;/Text&gt; coolant 44.8 → 107.7°C at 70% load&#10;        &lt;/Text&gt;&#10;        &lt;Text style={{ fontSize: 11, color: '#64748B', lineHeight: 1.35 }}&gt;&#10;          &lt;Text style={{ color: '#F59E0B', fontWeight: 700 }}&gt;OBSERVED:&lt;/Text&gt; oil 4.54 → 3.16 bar&#10;        &lt;/Text&gt;&#10;        &lt;Text style={{ fontSize: 11, color: '#64748B', lineHeight: 1.35 }}&gt;&#10;          &lt;Text style={{ color: '#64748B', fontWeight: 700 }}&gt;SUSPECTED:&lt;/Text&gt; blocked radiator / coolant aging&#10;        &lt;/Text&gt;&#10;        &lt;Text style={{ fontSize: 10, color: '#94A3B8', lineHeight: 1.3 }}&gt;&#10;          ⚠ 105/107°C thresholds are simulation assumptions&#10;        &lt;/Text&gt;&#10;      &lt;/Box&gt;&#10;    &lt;/Box&gt;&#10;&#10;    {/* WO-03 INFO */}&#10;    &lt;Box style={{ flex: 1, padding: 12, borderRadius: 10, background: '#FFFFFF', border: '1px solid #BFDBFE', borderTop: '4px solid #2563EB' }}&gt;&#10;      &lt;Box style={{ padding: '3px 10px', borderRadius: 12, background: '#DBEAFE', alignSelf: 'flex-start', marginBottom: 6 }}&gt;&#10;        &lt;Text style={{ fontSize: 10, color: '#1E40AF', fontWeight: 700, letterSpacing: 1 }}&gt;WO-03 · INFO&lt;/Text&gt;&#10;      &lt;/Box&gt;&#10;      &lt;Text style={{ fontSize: 14, color: '#0F172A', fontWeight: 700, marginBottom: 6 }}&gt;Continue Scheduled Maint.&lt;/Text&gt;&#10;      &lt;Box style={{ flexDirection: 'column', gap: 3 }}&gt;&#10;        &lt;Text style={{ fontSize: 11, color: '#64748B', lineHeight: 1.35 }}&gt;&#10;          &lt;Text style={{ color: '#2563EB', fontWeight: 700 }}&gt;VERDICT:&lt;/Text&gt; engine &amp; alternator healthy&#10;        &lt;/Text&gt;&#10;        &lt;Text style={{ fontSize: 11, color: '#64748B', lineHeight: 1.35 }}&gt;&#10;          &lt;Text style={{ color: '#2563EB', fontWeight: 700 }}&gt;FUEL:&lt;/Text&gt; 31.2 L/h matches spec&#10;        &lt;/Text&gt;&#10;        &lt;Text style={{ fontSize: 11, color: '#64748B', lineHeight: 1.35 }}&gt;&#10;          &lt;Text style={{ color: '#2563EB', fontWeight: 700 }}&gt;BATTERY:&lt;/Text&gt; 24.27–28.04V healthy&#10;        &lt;/Text&gt;&#10;        &lt;Text style={{ fontSize: 10, color: '#94A3B8', lineHeight: 1.3 }}&gt;&#10;          + add functional load tests to next service&#10;        &lt;/Text&gt;&#10;      &lt;/Box&gt;&#10;    &lt;/Box&gt;&#10;  &lt;/Box&gt;&#10;&#10;  {/* Bottom hero metric */}&#10;  &lt;Box style={{ position: 'absolute', bottom: 60, left: 60, right: 60, padding: 12, borderRadius: 10, background: '#0B1E3F', flexDirection: 'row', justifyContent: 'space-around', alignItems: 'center' }}&gt;&#10;    &lt;Box style={{ alignItems: 'center' }}&gt;&#10;      &lt;Text style={{ fontSize: 32, color: '#EF4444', fontWeight: 800, lineHeight: 1 }}&gt;CRITICAL&lt;/Text&gt;&#10;      &lt;Text style={{ fontSize: 11, color: '#94A3B8', marginTop: 4 }}&gt;1 unresolved&lt;/Text&gt;&#10;    &lt;/Box&gt;&#10;    &lt;Box style={{ alignItems: 'center' }}&gt;&#10;      &lt;Text style={{ fontSize: 32, color: '#F59E0B', fontWeight: 800, lineHeight: 1 }}&gt;HIGH&lt;/Text&gt;&#10;      &lt;Text style={{ fontSize: 11, color: '#94A3B8', marginTop: 4 }}&gt;1 unresolved&lt;/Text&gt;&#10;    &lt;/Box&gt;&#10;    &lt;Box style={{ alignItems: 'center' }}&gt;&#10;      &lt;Text style={{ fontSize: 32, color: '#10B981', fontWeight: 800, lineHeight: 1 }}&gt;VERDICT&lt;/Text&gt;&#10;      &lt;Text style={{ fontSize: 11, color: '#94A3B8', marginTop: 4 }}&gt;NOT READY FOR SERVICE&lt;/Text&gt;&#10;    &lt;/Box&gt;&#10;  &lt;/Box&gt;&#10;&#10;  {/* Footer */}&#10;  &lt;Box style={{ position: 'absolute', bottom: 28, left: 60, right: 60, flexDirection: 'row', justifyContent: 'space-between', alignItems: 'center' }}&gt;&#10;    &lt;Text style={{ fontSize: 12, color: '#64748B' }}&gt;GenBuddy · DORMATHON 2026 · Track 2: Agentic Solutions&lt;/Text&gt;&#10;    &lt;Text style={{ fontSize: 12, color: '#64748B' }}&gt;07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2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9" name="Rectangle 298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1E3F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00" name="Rectangle: Rounded Corners 299"/>
          <p:cNvSpPr/>
          <p:nvPr/>
        </p:nvSpPr>
        <p:spPr>
          <a:xfrm>
            <a:off x="571500" y="266700"/>
            <a:ext cx="2200275" cy="209550"/>
          </a:xfrm>
          <a:prstGeom prst="roundRect">
            <a:avLst>
              <a:gd name="adj" fmla="val 18182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1" name="TextBox 300" descr="{&quot;isTemplate&quot;:true,&quot;type&quot;:&quot;text&quot;}"/>
          <p:cNvSpPr txBox="1"/>
          <p:nvPr/>
        </p:nvSpPr>
        <p:spPr>
          <a:xfrm>
            <a:off x="685800" y="304800"/>
            <a:ext cx="19716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FFFFFF"/>
                </a:solidFill>
                <a:latin typeface="Microsoft YaHei"/>
                <a:ea typeface="Microsoft YaHei"/>
              </a:rPr>
              <a:t>07 / INVESTIGATION RESULTS</a:t>
            </a:r>
            <a:endParaRPr/>
          </a:p>
        </p:txBody>
      </p:sp>
      <p:sp>
        <p:nvSpPr>
          <p:cNvPr id="302" name="TextBox 301" descr="{&quot;isTemplate&quot;:true,&quot;type&quot;:&quot;text&quot;}"/>
          <p:cNvSpPr txBox="1"/>
          <p:nvPr/>
        </p:nvSpPr>
        <p:spPr>
          <a:xfrm>
            <a:off x="571500" y="609600"/>
            <a:ext cx="110490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0B1E3F"/>
                </a:solidFill>
                <a:latin typeface="Microsoft YaHei"/>
                <a:ea typeface="Microsoft YaHei"/>
              </a:rPr>
              <a:t>The agent found two real problems hiding in the data</a:t>
            </a:r>
            <a:endParaRPr/>
          </a:p>
        </p:txBody>
      </p:sp>
      <p:sp>
        <p:nvSpPr>
          <p:cNvPr id="303" name="Rectangle: Rounded Corners 302"/>
          <p:cNvSpPr/>
          <p:nvPr/>
        </p:nvSpPr>
        <p:spPr>
          <a:xfrm>
            <a:off x="571500" y="1238250"/>
            <a:ext cx="11049000" cy="9144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4" name="TextBox 303" descr="{&quot;isTemplate&quot;:true,&quot;type&quot;:&quot;text&quot;}"/>
          <p:cNvSpPr txBox="1"/>
          <p:nvPr/>
        </p:nvSpPr>
        <p:spPr>
          <a:xfrm>
            <a:off x="685800" y="1352550"/>
            <a:ext cx="108204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2563EB"/>
                </a:solidFill>
                <a:latin typeface="Microsoft YaHei"/>
                <a:ea typeface="Microsoft YaHei"/>
              </a:rPr>
              <a:t>SIMULATED DAY 2026-06-01 · THREE SCENARIOS · ALL DATA SIMULATED</a:t>
            </a:r>
            <a:endParaRPr/>
          </a:p>
        </p:txBody>
      </p:sp>
      <p:sp>
        <p:nvSpPr>
          <p:cNvPr id="305" name="Rectangle: Rounded Corners 304"/>
          <p:cNvSpPr/>
          <p:nvPr/>
        </p:nvSpPr>
        <p:spPr>
          <a:xfrm>
            <a:off x="685800" y="15811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6" name="TextBox 305" descr="{&quot;isTemplate&quot;:true,&quot;type&quot;:&quot;text&quot;}"/>
          <p:cNvSpPr txBox="1"/>
          <p:nvPr/>
        </p:nvSpPr>
        <p:spPr>
          <a:xfrm>
            <a:off x="809625" y="1685925"/>
            <a:ext cx="2095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  <a:endParaRPr/>
          </a:p>
        </p:txBody>
      </p:sp>
      <p:sp>
        <p:nvSpPr>
          <p:cNvPr id="307" name="TextBox 306" descr="{&quot;isTemplate&quot;:true,&quot;type&quot;:&quot;text&quot;}"/>
          <p:cNvSpPr txBox="1"/>
          <p:nvPr/>
        </p:nvSpPr>
        <p:spPr>
          <a:xfrm>
            <a:off x="1257300" y="1666875"/>
            <a:ext cx="30384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10B981"/>
                </a:solidFill>
                <a:latin typeface="Microsoft YaHei"/>
                <a:ea typeface="Microsoft YaHei"/>
              </a:rPr>
              <a:t>Scenario A · 08:15</a:t>
            </a:r>
            <a:endParaRPr/>
          </a:p>
        </p:txBody>
      </p:sp>
      <p:sp>
        <p:nvSpPr>
          <p:cNvPr id="308" name="TextBox 307" descr="{&quot;isTemplate&quot;:true,&quot;type&quot;:&quot;text&quot;}"/>
          <p:cNvSpPr txBox="1"/>
          <p:nvPr/>
        </p:nvSpPr>
        <p:spPr>
          <a:xfrm>
            <a:off x="1257300" y="1800225"/>
            <a:ext cx="3038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Normal Operation</a:t>
            </a:r>
            <a:endParaRPr/>
          </a:p>
        </p:txBody>
      </p:sp>
      <p:sp>
        <p:nvSpPr>
          <p:cNvPr id="309" name="Rectangle: Rounded Corners 308"/>
          <p:cNvSpPr/>
          <p:nvPr/>
        </p:nvSpPr>
        <p:spPr>
          <a:xfrm>
            <a:off x="4295775" y="15811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0" name="TextBox 309" descr="{&quot;isTemplate&quot;:true,&quot;type&quot;:&quot;text&quot;}"/>
          <p:cNvSpPr txBox="1"/>
          <p:nvPr/>
        </p:nvSpPr>
        <p:spPr>
          <a:xfrm>
            <a:off x="4486275" y="1685925"/>
            <a:ext cx="76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311" name="TextBox 310" descr="{&quot;isTemplate&quot;:true,&quot;type&quot;:&quot;text&quot;}"/>
          <p:cNvSpPr txBox="1"/>
          <p:nvPr/>
        </p:nvSpPr>
        <p:spPr>
          <a:xfrm>
            <a:off x="4867275" y="1666875"/>
            <a:ext cx="30289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F59E0B"/>
                </a:solidFill>
                <a:latin typeface="Microsoft YaHei"/>
                <a:ea typeface="Microsoft YaHei"/>
              </a:rPr>
              <a:t>Scenario B · 11:15</a:t>
            </a:r>
            <a:endParaRPr/>
          </a:p>
        </p:txBody>
      </p:sp>
      <p:sp>
        <p:nvSpPr>
          <p:cNvPr id="312" name="TextBox 311" descr="{&quot;isTemplate&quot;:true,&quot;type&quot;:&quot;text&quot;}"/>
          <p:cNvSpPr txBox="1"/>
          <p:nvPr/>
        </p:nvSpPr>
        <p:spPr>
          <a:xfrm>
            <a:off x="4867275" y="1800225"/>
            <a:ext cx="30289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Overheating</a:t>
            </a:r>
            <a:endParaRPr/>
          </a:p>
        </p:txBody>
      </p:sp>
      <p:sp>
        <p:nvSpPr>
          <p:cNvPr id="313" name="Rectangle: Rounded Corners 312"/>
          <p:cNvSpPr/>
          <p:nvPr/>
        </p:nvSpPr>
        <p:spPr>
          <a:xfrm>
            <a:off x="7896225" y="158115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4" name="TextBox 313" descr="{&quot;isTemplate&quot;:true,&quot;type&quot;:&quot;text&quot;}"/>
          <p:cNvSpPr txBox="1"/>
          <p:nvPr/>
        </p:nvSpPr>
        <p:spPr>
          <a:xfrm>
            <a:off x="8048625" y="1685925"/>
            <a:ext cx="1619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</a:rPr>
              <a:t>×</a:t>
            </a:r>
            <a:endParaRPr/>
          </a:p>
        </p:txBody>
      </p:sp>
      <p:sp>
        <p:nvSpPr>
          <p:cNvPr id="315" name="TextBox 314" descr="{&quot;isTemplate&quot;:true,&quot;type&quot;:&quot;text&quot;}"/>
          <p:cNvSpPr txBox="1"/>
          <p:nvPr/>
        </p:nvSpPr>
        <p:spPr>
          <a:xfrm>
            <a:off x="8467725" y="1666875"/>
            <a:ext cx="30384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EF4444"/>
                </a:solidFill>
                <a:latin typeface="Microsoft YaHei"/>
                <a:ea typeface="Microsoft YaHei"/>
              </a:rPr>
              <a:t>Scenario C · 15:08</a:t>
            </a:r>
            <a:endParaRPr/>
          </a:p>
        </p:txBody>
      </p:sp>
      <p:sp>
        <p:nvSpPr>
          <p:cNvPr id="316" name="TextBox 315" descr="{&quot;isTemplate&quot;:true,&quot;type&quot;:&quot;text&quot;}"/>
          <p:cNvSpPr txBox="1"/>
          <p:nvPr/>
        </p:nvSpPr>
        <p:spPr>
          <a:xfrm>
            <a:off x="8467725" y="1800225"/>
            <a:ext cx="30384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ATS Transfer Anomaly</a:t>
            </a:r>
            <a:endParaRPr/>
          </a:p>
        </p:txBody>
      </p:sp>
      <p:sp>
        <p:nvSpPr>
          <p:cNvPr id="317" name="Rectangle: Rounded Corners 316"/>
          <p:cNvSpPr/>
          <p:nvPr/>
        </p:nvSpPr>
        <p:spPr>
          <a:xfrm>
            <a:off x="571500" y="2400300"/>
            <a:ext cx="3609975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8" name="Freeform: Shape 317"/>
          <p:cNvSpPr/>
          <p:nvPr/>
        </p:nvSpPr>
        <p:spPr>
          <a:xfrm>
            <a:off x="571500" y="2400300"/>
            <a:ext cx="3609975" cy="1619250"/>
          </a:xfrm>
          <a:custGeom>
            <a:avLst/>
            <a:gdLst/>
            <a:ahLst/>
            <a:cxnLst/>
            <a:rect l="0" t="0" r="0" b="0"/>
            <a:pathLst>
              <a:path w="379" h="170">
                <a:moveTo>
                  <a:pt x="369" y="0"/>
                </a:moveTo>
                <a:cubicBezTo>
                  <a:pt x="374" y="0"/>
                  <a:pt x="378" y="4"/>
                  <a:pt x="379" y="8"/>
                </a:cubicBezTo>
                <a:cubicBezTo>
                  <a:pt x="378" y="6"/>
                  <a:pt x="376" y="4"/>
                  <a:pt x="37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9" y="0"/>
                </a:lnTo>
                <a:close/>
              </a:path>
            </a:pathLst>
          </a:cu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9" name="Rectangle: Rounded Corners 318"/>
          <p:cNvSpPr/>
          <p:nvPr/>
        </p:nvSpPr>
        <p:spPr>
          <a:xfrm>
            <a:off x="685800" y="2514600"/>
            <a:ext cx="1228725" cy="171450"/>
          </a:xfrm>
          <a:prstGeom prst="roundRect">
            <a:avLst>
              <a:gd name="adj" fmla="val 6666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0" name="TextBox 319" descr="{&quot;isTemplate&quot;:true,&quot;type&quot;:&quot;text&quot;}"/>
          <p:cNvSpPr txBox="1"/>
          <p:nvPr/>
        </p:nvSpPr>
        <p:spPr>
          <a:xfrm>
            <a:off x="781050" y="2543175"/>
            <a:ext cx="1038225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B91C1C"/>
                </a:solidFill>
                <a:latin typeface="Microsoft YaHei"/>
                <a:ea typeface="Microsoft YaHei"/>
              </a:rPr>
              <a:t>WO-01 · CRITICAL</a:t>
            </a:r>
            <a:endParaRPr/>
          </a:p>
        </p:txBody>
      </p:sp>
      <p:sp>
        <p:nvSpPr>
          <p:cNvPr id="321" name="TextBox 320" descr="{&quot;isTemplate&quot;:true,&quot;type&quot;:&quot;text&quot;}"/>
          <p:cNvSpPr txBox="1"/>
          <p:nvPr/>
        </p:nvSpPr>
        <p:spPr>
          <a:xfrm>
            <a:off x="685800" y="2743200"/>
            <a:ext cx="3381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ATS Transfer Anomaly</a:t>
            </a:r>
            <a:endParaRPr/>
          </a:p>
        </p:txBody>
      </p:sp>
      <p:sp>
        <p:nvSpPr>
          <p:cNvPr id="322" name="TextBox 321" descr="{&quot;isTemplate&quot;:true,&quot;type&quot;:&quot;text&quot;}"/>
          <p:cNvSpPr txBox="1"/>
          <p:nvPr/>
        </p:nvSpPr>
        <p:spPr>
          <a:xfrm>
            <a:off x="685800" y="2962275"/>
            <a:ext cx="3381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OBSERVED: 11 FAILED transfers in a row</a:t>
            </a:r>
            <a:endParaRPr/>
          </a:p>
        </p:txBody>
      </p:sp>
      <p:sp>
        <p:nvSpPr>
          <p:cNvPr id="323" name="TextBox 322" descr="{&quot;isTemplate&quot;:true,&quot;type&quot;:&quot;text&quot;}"/>
          <p:cNvSpPr txBox="1"/>
          <p:nvPr/>
        </p:nvSpPr>
        <p:spPr>
          <a:xfrm>
            <a:off x="685800" y="3162300"/>
            <a:ext cx="3381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OBSERVED: 0A current, position mismatch</a:t>
            </a:r>
            <a:endParaRPr/>
          </a:p>
        </p:txBody>
      </p:sp>
      <p:sp>
        <p:nvSpPr>
          <p:cNvPr id="324" name="TextBox 323" descr="{&quot;isTemplate&quot;:true,&quot;type&quot;:&quot;text&quot;}"/>
          <p:cNvSpPr txBox="1"/>
          <p:nvPr/>
        </p:nvSpPr>
        <p:spPr>
          <a:xfrm>
            <a:off x="685800" y="3362325"/>
            <a:ext cx="3381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SUSPECTED: contactor / actuator fault</a:t>
            </a:r>
            <a:endParaRPr/>
          </a:p>
        </p:txBody>
      </p:sp>
      <p:sp>
        <p:nvSpPr>
          <p:cNvPr id="325" name="TextBox 324" descr="{&quot;isTemplate&quot;:true,&quot;type&quot;:&quot;text&quot;}"/>
          <p:cNvSpPr txBox="1"/>
          <p:nvPr/>
        </p:nvSpPr>
        <p:spPr>
          <a:xfrm>
            <a:off x="685800" y="3562350"/>
            <a:ext cx="3381375" cy="304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⚠ Simulated data; outage duration inferred from alarm field, not independently measured</a:t>
            </a:r>
            <a:endParaRPr/>
          </a:p>
        </p:txBody>
      </p:sp>
      <p:sp>
        <p:nvSpPr>
          <p:cNvPr id="326" name="Rectangle: Rounded Corners 325"/>
          <p:cNvSpPr/>
          <p:nvPr/>
        </p:nvSpPr>
        <p:spPr>
          <a:xfrm>
            <a:off x="4295775" y="2400300"/>
            <a:ext cx="36004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7" name="Freeform: Shape 326"/>
          <p:cNvSpPr/>
          <p:nvPr/>
        </p:nvSpPr>
        <p:spPr>
          <a:xfrm>
            <a:off x="4295775" y="2400300"/>
            <a:ext cx="3600450" cy="1619250"/>
          </a:xfrm>
          <a:custGeom>
            <a:avLst/>
            <a:gdLst/>
            <a:ahLst/>
            <a:cxnLst/>
            <a:rect l="0" t="0" r="0" b="0"/>
            <a:pathLst>
              <a:path w="378" h="170">
                <a:moveTo>
                  <a:pt x="368" y="0"/>
                </a:moveTo>
                <a:cubicBezTo>
                  <a:pt x="373" y="0"/>
                  <a:pt x="377" y="4"/>
                  <a:pt x="378" y="8"/>
                </a:cubicBezTo>
                <a:cubicBezTo>
                  <a:pt x="377" y="6"/>
                  <a:pt x="375" y="4"/>
                  <a:pt x="372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8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8" name="Rectangle: Rounded Corners 327"/>
          <p:cNvSpPr/>
          <p:nvPr/>
        </p:nvSpPr>
        <p:spPr>
          <a:xfrm>
            <a:off x="4410075" y="2514600"/>
            <a:ext cx="1009650" cy="171450"/>
          </a:xfrm>
          <a:prstGeom prst="roundRect">
            <a:avLst>
              <a:gd name="adj" fmla="val 66667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9" name="TextBox 328" descr="{&quot;isTemplate&quot;:true,&quot;type&quot;:&quot;text&quot;}"/>
          <p:cNvSpPr txBox="1"/>
          <p:nvPr/>
        </p:nvSpPr>
        <p:spPr>
          <a:xfrm>
            <a:off x="4505325" y="2543175"/>
            <a:ext cx="81915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B45309"/>
                </a:solidFill>
                <a:latin typeface="Microsoft YaHei"/>
                <a:ea typeface="Microsoft YaHei"/>
              </a:rPr>
              <a:t>WO-02 · HIGH</a:t>
            </a:r>
            <a:endParaRPr/>
          </a:p>
        </p:txBody>
      </p:sp>
      <p:sp>
        <p:nvSpPr>
          <p:cNvPr id="330" name="TextBox 329" descr="{&quot;isTemplate&quot;:true,&quot;type&quot;:&quot;text&quot;}"/>
          <p:cNvSpPr txBox="1"/>
          <p:nvPr/>
        </p:nvSpPr>
        <p:spPr>
          <a:xfrm>
            <a:off x="4410075" y="2743200"/>
            <a:ext cx="33718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Cooling System Margin</a:t>
            </a:r>
            <a:endParaRPr/>
          </a:p>
        </p:txBody>
      </p:sp>
      <p:sp>
        <p:nvSpPr>
          <p:cNvPr id="331" name="TextBox 330" descr="{&quot;isTemplate&quot;:true,&quot;type&quot;:&quot;text&quot;}"/>
          <p:cNvSpPr txBox="1"/>
          <p:nvPr/>
        </p:nvSpPr>
        <p:spPr>
          <a:xfrm>
            <a:off x="4410075" y="2962275"/>
            <a:ext cx="3371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OBSERVED: coolant 44.8 → 107.7°C at 70% load</a:t>
            </a:r>
            <a:endParaRPr/>
          </a:p>
        </p:txBody>
      </p:sp>
      <p:sp>
        <p:nvSpPr>
          <p:cNvPr id="332" name="TextBox 331" descr="{&quot;isTemplate&quot;:true,&quot;type&quot;:&quot;text&quot;}"/>
          <p:cNvSpPr txBox="1"/>
          <p:nvPr/>
        </p:nvSpPr>
        <p:spPr>
          <a:xfrm>
            <a:off x="4410075" y="3162300"/>
            <a:ext cx="3371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OBSERVED: oil 4.54 → 3.16 bar</a:t>
            </a:r>
            <a:endParaRPr/>
          </a:p>
        </p:txBody>
      </p:sp>
      <p:sp>
        <p:nvSpPr>
          <p:cNvPr id="333" name="TextBox 332" descr="{&quot;isTemplate&quot;:true,&quot;type&quot;:&quot;text&quot;}"/>
          <p:cNvSpPr txBox="1"/>
          <p:nvPr/>
        </p:nvSpPr>
        <p:spPr>
          <a:xfrm>
            <a:off x="4410075" y="3362325"/>
            <a:ext cx="33718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SUSPECTED: blocked radiator / coolant aging</a:t>
            </a:r>
            <a:endParaRPr/>
          </a:p>
        </p:txBody>
      </p:sp>
      <p:sp>
        <p:nvSpPr>
          <p:cNvPr id="334" name="TextBox 333" descr="{&quot;isTemplate&quot;:true,&quot;type&quot;:&quot;text&quot;}"/>
          <p:cNvSpPr txBox="1"/>
          <p:nvPr/>
        </p:nvSpPr>
        <p:spPr>
          <a:xfrm>
            <a:off x="4410075" y="3562350"/>
            <a:ext cx="33718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⚠ 105/107°C thresholds are simulation assumptions</a:t>
            </a:r>
            <a:endParaRPr/>
          </a:p>
        </p:txBody>
      </p:sp>
      <p:sp>
        <p:nvSpPr>
          <p:cNvPr id="335" name="Rectangle: Rounded Corners 334"/>
          <p:cNvSpPr/>
          <p:nvPr/>
        </p:nvSpPr>
        <p:spPr>
          <a:xfrm>
            <a:off x="8010525" y="2400300"/>
            <a:ext cx="3609975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6" name="Freeform: Shape 335"/>
          <p:cNvSpPr/>
          <p:nvPr/>
        </p:nvSpPr>
        <p:spPr>
          <a:xfrm>
            <a:off x="8010525" y="2400300"/>
            <a:ext cx="3609975" cy="1619250"/>
          </a:xfrm>
          <a:custGeom>
            <a:avLst/>
            <a:gdLst/>
            <a:ahLst/>
            <a:cxnLst/>
            <a:rect l="0" t="0" r="0" b="0"/>
            <a:pathLst>
              <a:path w="379" h="170">
                <a:moveTo>
                  <a:pt x="369" y="0"/>
                </a:moveTo>
                <a:cubicBezTo>
                  <a:pt x="374" y="0"/>
                  <a:pt x="378" y="4"/>
                  <a:pt x="379" y="8"/>
                </a:cubicBezTo>
                <a:cubicBezTo>
                  <a:pt x="378" y="6"/>
                  <a:pt x="376" y="4"/>
                  <a:pt x="373" y="4"/>
                </a:cubicBezTo>
                <a:lnTo>
                  <a:pt x="6" y="4"/>
                </a:lnTo>
                <a:cubicBezTo>
                  <a:pt x="3" y="4"/>
                  <a:pt x="1" y="6"/>
                  <a:pt x="0" y="9"/>
                </a:cubicBezTo>
                <a:cubicBezTo>
                  <a:pt x="1" y="4"/>
                  <a:pt x="5" y="0"/>
                  <a:pt x="10" y="0"/>
                </a:cubicBezTo>
                <a:lnTo>
                  <a:pt x="369" y="0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7" name="Rectangle: Rounded Corners 336"/>
          <p:cNvSpPr/>
          <p:nvPr/>
        </p:nvSpPr>
        <p:spPr>
          <a:xfrm>
            <a:off x="8124825" y="2514600"/>
            <a:ext cx="990600" cy="17145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8" name="TextBox 337" descr="{&quot;isTemplate&quot;:true,&quot;type&quot;:&quot;text&quot;}"/>
          <p:cNvSpPr txBox="1"/>
          <p:nvPr/>
        </p:nvSpPr>
        <p:spPr>
          <a:xfrm>
            <a:off x="8220075" y="2543175"/>
            <a:ext cx="800100" cy="114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50" b="1" spc="75">
                <a:solidFill>
                  <a:srgbClr val="1E40AF"/>
                </a:solidFill>
                <a:latin typeface="Microsoft YaHei"/>
                <a:ea typeface="Microsoft YaHei"/>
              </a:rPr>
              <a:t>WO-03 · INFO</a:t>
            </a:r>
            <a:endParaRPr/>
          </a:p>
        </p:txBody>
      </p:sp>
      <p:sp>
        <p:nvSpPr>
          <p:cNvPr id="339" name="TextBox 338" descr="{&quot;isTemplate&quot;:true,&quot;type&quot;:&quot;text&quot;}"/>
          <p:cNvSpPr txBox="1"/>
          <p:nvPr/>
        </p:nvSpPr>
        <p:spPr>
          <a:xfrm>
            <a:off x="8124825" y="2743200"/>
            <a:ext cx="33813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172A"/>
                </a:solidFill>
                <a:latin typeface="Microsoft YaHei"/>
                <a:ea typeface="Microsoft YaHei"/>
              </a:rPr>
              <a:t>Continue Scheduled Maint.</a:t>
            </a:r>
            <a:endParaRPr/>
          </a:p>
        </p:txBody>
      </p:sp>
      <p:sp>
        <p:nvSpPr>
          <p:cNvPr id="340" name="TextBox 339" descr="{&quot;isTemplate&quot;:true,&quot;type&quot;:&quot;text&quot;}"/>
          <p:cNvSpPr txBox="1"/>
          <p:nvPr/>
        </p:nvSpPr>
        <p:spPr>
          <a:xfrm>
            <a:off x="8124825" y="2962275"/>
            <a:ext cx="3381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VERDICT: engine &amp; alternator healthy</a:t>
            </a:r>
            <a:endParaRPr/>
          </a:p>
        </p:txBody>
      </p:sp>
      <p:sp>
        <p:nvSpPr>
          <p:cNvPr id="341" name="TextBox 340" descr="{&quot;isTemplate&quot;:true,&quot;type&quot;:&quot;text&quot;}"/>
          <p:cNvSpPr txBox="1"/>
          <p:nvPr/>
        </p:nvSpPr>
        <p:spPr>
          <a:xfrm>
            <a:off x="8124825" y="3162300"/>
            <a:ext cx="3381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FUEL: 31.2 L/h matches spec</a:t>
            </a:r>
            <a:endParaRPr/>
          </a:p>
        </p:txBody>
      </p:sp>
      <p:sp>
        <p:nvSpPr>
          <p:cNvPr id="342" name="TextBox 341" descr="{&quot;isTemplate&quot;:true,&quot;type&quot;:&quot;text&quot;}"/>
          <p:cNvSpPr txBox="1"/>
          <p:nvPr/>
        </p:nvSpPr>
        <p:spPr>
          <a:xfrm>
            <a:off x="8124825" y="3362325"/>
            <a:ext cx="338137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5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BATTERY: 24.27–28.04V healthy</a:t>
            </a:r>
            <a:endParaRPr/>
          </a:p>
        </p:txBody>
      </p:sp>
      <p:sp>
        <p:nvSpPr>
          <p:cNvPr id="343" name="TextBox 342" descr="{&quot;isTemplate&quot;:true,&quot;type&quot;:&quot;text&quot;}"/>
          <p:cNvSpPr txBox="1"/>
          <p:nvPr/>
        </p:nvSpPr>
        <p:spPr>
          <a:xfrm>
            <a:off x="8124825" y="3562350"/>
            <a:ext cx="33813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30000"/>
              </a:lnSpc>
            </a:pPr>
            <a:r>
              <a:rPr lang="en-US" sz="750">
                <a:solidFill>
                  <a:srgbClr val="94A3B8"/>
                </a:solidFill>
                <a:latin typeface="Microsoft YaHei"/>
                <a:ea typeface="Microsoft YaHei"/>
              </a:rPr>
              <a:t>+ add functional load tests to next service</a:t>
            </a:r>
            <a:endParaRPr/>
          </a:p>
        </p:txBody>
      </p:sp>
      <p:sp>
        <p:nvSpPr>
          <p:cNvPr id="344" name="Rectangle: Rounded Corners 343"/>
          <p:cNvSpPr/>
          <p:nvPr/>
        </p:nvSpPr>
        <p:spPr>
          <a:xfrm>
            <a:off x="571500" y="5514975"/>
            <a:ext cx="11049000" cy="771525"/>
          </a:xfrm>
          <a:prstGeom prst="roundRect">
            <a:avLst>
              <a:gd name="adj" fmla="val 12346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5" name="TextBox 344" descr="{&quot;isTemplate&quot;:true,&quot;type&quot;:&quot;text&quot;}"/>
          <p:cNvSpPr txBox="1"/>
          <p:nvPr/>
        </p:nvSpPr>
        <p:spPr>
          <a:xfrm>
            <a:off x="1885950" y="5629275"/>
            <a:ext cx="1419225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EF4444"/>
                </a:solidFill>
                <a:latin typeface="Microsoft YaHei"/>
                <a:ea typeface="Microsoft YaHei"/>
              </a:rPr>
              <a:t>CRITICAL</a:t>
            </a:r>
            <a:endParaRPr/>
          </a:p>
        </p:txBody>
      </p:sp>
      <p:sp>
        <p:nvSpPr>
          <p:cNvPr id="346" name="TextBox 345" descr="{&quot;isTemplate&quot;:true,&quot;type&quot;:&quot;text&quot;}"/>
          <p:cNvSpPr txBox="1"/>
          <p:nvPr/>
        </p:nvSpPr>
        <p:spPr>
          <a:xfrm>
            <a:off x="2276475" y="6038850"/>
            <a:ext cx="6477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1 unresolved</a:t>
            </a:r>
            <a:endParaRPr/>
          </a:p>
        </p:txBody>
      </p:sp>
      <p:sp>
        <p:nvSpPr>
          <p:cNvPr id="347" name="TextBox 346" descr="{&quot;isTemplate&quot;:true,&quot;type&quot;:&quot;text&quot;}"/>
          <p:cNvSpPr txBox="1"/>
          <p:nvPr/>
        </p:nvSpPr>
        <p:spPr>
          <a:xfrm>
            <a:off x="5715000" y="5629275"/>
            <a:ext cx="8382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59E0B"/>
                </a:solidFill>
                <a:latin typeface="Microsoft YaHei"/>
                <a:ea typeface="Microsoft YaHei"/>
              </a:rPr>
              <a:t>HIGH</a:t>
            </a:r>
            <a:endParaRPr/>
          </a:p>
        </p:txBody>
      </p:sp>
      <p:sp>
        <p:nvSpPr>
          <p:cNvPr id="348" name="TextBox 347" descr="{&quot;isTemplate&quot;:true,&quot;type&quot;:&quot;text&quot;}"/>
          <p:cNvSpPr txBox="1"/>
          <p:nvPr/>
        </p:nvSpPr>
        <p:spPr>
          <a:xfrm>
            <a:off x="5810250" y="6038850"/>
            <a:ext cx="6477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1 unresolved</a:t>
            </a:r>
            <a:endParaRPr/>
          </a:p>
        </p:txBody>
      </p:sp>
      <p:sp>
        <p:nvSpPr>
          <p:cNvPr id="349" name="TextBox 348" descr="{&quot;isTemplate&quot;:true,&quot;type&quot;:&quot;text&quot;}"/>
          <p:cNvSpPr txBox="1"/>
          <p:nvPr/>
        </p:nvSpPr>
        <p:spPr>
          <a:xfrm>
            <a:off x="8953500" y="5629275"/>
            <a:ext cx="135255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0B981"/>
                </a:solidFill>
                <a:latin typeface="Microsoft YaHei"/>
                <a:ea typeface="Microsoft YaHei"/>
              </a:rPr>
              <a:t>VERDICT</a:t>
            </a:r>
            <a:endParaRPr/>
          </a:p>
        </p:txBody>
      </p:sp>
      <p:sp>
        <p:nvSpPr>
          <p:cNvPr id="350" name="TextBox 349" descr="{&quot;isTemplate&quot;:true,&quot;type&quot;:&quot;text&quot;}"/>
          <p:cNvSpPr txBox="1"/>
          <p:nvPr/>
        </p:nvSpPr>
        <p:spPr>
          <a:xfrm>
            <a:off x="8982075" y="6038850"/>
            <a:ext cx="12954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Microsoft YaHei"/>
                <a:ea typeface="Microsoft YaHei"/>
              </a:rPr>
              <a:t>NOT READY FOR SERVICE</a:t>
            </a:r>
            <a:endParaRPr/>
          </a:p>
        </p:txBody>
      </p:sp>
      <p:sp>
        <p:nvSpPr>
          <p:cNvPr id="351" name="TextBox 350" descr="{&quot;isTemplate&quot;:true,&quot;type&quot;:&quot;text&quot;}"/>
          <p:cNvSpPr txBox="1"/>
          <p:nvPr/>
        </p:nvSpPr>
        <p:spPr>
          <a:xfrm>
            <a:off x="571500" y="6448425"/>
            <a:ext cx="32480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GenBuddy · DORMATHON 2026 · Track 2: Agentic Solutions</a:t>
            </a:r>
            <a:endParaRPr/>
          </a:p>
        </p:txBody>
      </p:sp>
      <p:sp>
        <p:nvSpPr>
          <p:cNvPr id="352" name="TextBox 351" descr="{&quot;isTemplate&quot;:true,&quot;type&quot;:&quot;text&quot;}"/>
          <p:cNvSpPr txBox="1"/>
          <p:nvPr/>
        </p:nvSpPr>
        <p:spPr>
          <a:xfrm>
            <a:off x="11229975" y="644842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07 / 10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8FAFC' }}&gt;&#10;  {/* Top accent bar */}&#10;  &lt;Box style={{ position: 'absolute', top: 0, left: 0, width: '1280px', height: 6, background: 'linear-gradient(90deg, #0B1E3F 0%, #2563EB 100%)' }} /&gt;&#10;&#10;  {/* Section tag */}&#10;  &lt;Box style={{ position: 'absolute', top: 28, left: 60, padding: '4px 12px', borderRadius: 4, background: '#0B1E3F' }}&gt;&#10;    &lt;Text style={{ fontSize: 11, color: '#FFFFFF', fontWeight: 700, letterSpacing: 1.5 }}&gt;08 / DYNAMIC AI PLANNING&lt;/Text&gt;&#10;  &lt;/Box&gt;&#10;&#10;  {/* Title */}&#10;  &lt;Box style={{ position: 'absolute', top: 64, left: 60, width: 1160 }}&gt;&#10;    &lt;Text style={{ fontSize: 28, color: '#0B1E3F', fontWeight: 700, lineHeight: 1.2 }}&gt;&#10;      The agent did NOT reuse the same plan for both investigations&#10;    &lt;/Text&gt;&#10;  &lt;/Box&gt;&#10;&#10;  {/* Two side-by-side panels */}&#10;  &lt;Box style={{ position: 'absolute', top: 134, left: 60, right: 60, flexDirection: 'row', gap: 16 }}&gt;&#10;    {/* LEFT - Investigation 1 */}&#10;    &lt;Box style={{ flex: 1, padding: 16, borderRadius: 12, background: '#FFFFFF', border: '1px solid #E2E8F0', borderLeft: '6px solid #06B6D4' }}&gt;&#10;      &lt;Box style={{ flexDirection: 'row', alignItems: 'center', marginBottom: 12 }}&gt;&#10;        &lt;Box style={{ width: 36, height: 36, borderRadius: 18, background: '#06B6D4', alignItems: 'center', justifyContent: 'center' }}&gt;&#10;          &lt;Text style={{ fontSize: 16, color: '#0B1E3F', fontWeight: 800 }}&gt;1&lt;/Text&gt;&#10;        &lt;/Box&gt;&#10;        &lt;Box style={{ marginLeft: 10 }}&gt;&#10;          &lt;Text style={{ fontSize: 11, color: '#06B6D4', fontWeight: 700, letterSpacing: 1 }}&gt;INVESTIGATION 1&lt;/Text&gt;&#10;          &lt;Text style={{ fontSize: 16, color: '#0F172A', fontWeight: 700 }}&gt;Readiness Assessment&lt;/Text&gt;&#10;        &lt;/Box&gt;&#10;      &lt;/Box&gt;&#10;&#10;      &lt;Text style={{ fontSize: 12, color: '#64748B', fontStyle: 'italic', marginBottom: 14, lineHeight: 1.4 }}&gt;&#10;        &quot;Is my backup generator ready for the next power outage?&quot;&#10;      &lt;/Text&gt;&#10;&#10;      &lt;Box style={{ flexDirection: 'column', gap: 7 }}&gt;&#10;        {[&#10;          { label: 'Question type', value: 'Forward-looking' },&#10;          { label: 'Planned steps', value: '13 steps' },&#10;          { label: 'Data scope', value: 'All 356 records, 3 scenarios' },&#10;          { label: 'Tools', value: 'Scripts + API + direct CSV reads' },&#10;          { label: 'Analysis method', value: 'Cross-scenario comparison' },&#10;          { label: 'Deliverable', value: 'Prioritized work orders' },&#10;          { label: 'Maintenance angle', value: '&quot;Was it serviced recently?&quot;' },&#10;        ].map((row, i) =&gt; (&#10;          &lt;Box key={i} style={{ flexDirection: 'row', paddingBottom: 5 }}&gt;&#10;            &lt;Text style={{ fontSize: 11, color: '#94A3B8', width: 130, fontWeight: 600 }}&gt;{row.label}&lt;/Text&gt;&#10;            &lt;Text style={{ fontSize: 11, color: '#0F172A', fontWeight: 600, flex: 1 }}&gt;{row.value}&lt;/Text&gt;&#10;          &lt;/Box&gt;&#10;        ))}&#10;      &lt;/Box&gt;&#10;&#10;      &lt;Box style={{ marginTop: 12, padding: 8, borderRadius: 6, background: '#F0F9FF' }}&gt;&#10;        &lt;Text style={{ fontSize: 11, color: '#0E7490', fontWeight: 700 }}&gt;&#10;          Key finding: 9.8 percentage points more rated loading → 22.8°C higher temperature&#10;        &lt;/Text&gt;&#10;      &lt;/Box&gt;&#10;    &lt;/Box&gt;&#10;&#10;    {/* RIGHT - Investigation 2 */}&#10;    &lt;Box style={{ flex: 1, padding: 16, borderRadius: 12, background: '#FFFFFF', border: '1px solid #E2E8F0', borderLeft: '6px solid #2563EB' }}&gt;&#10;      &lt;Box style={{ flexDirection: 'row', alignItems: 'center', marginBottom: 12 }}&gt;&#10;        &lt;Box style={{ width: 36, height: 36, borderRadius: 18, background: '#2563EB', alignItems: 'center', justifyContent: 'center' }}&gt;&#10;          &lt;Text style={{ fontSize: 16, color: '#FFFFFF', fontWeight: 800 }}&gt;2&lt;/Text&gt;&#10;        &lt;/Box&gt;&#10;        &lt;Box style={{ marginLeft: 10 }}&gt;&#10;          &lt;Text style={{ fontSize: 11, color: '#2563EB', fontWeight: 700, letterSpacing: 1 }}&gt;INVESTIGATION 2&lt;/Text&gt;&#10;          &lt;Text style={{ fontSize: 16, color: '#0F172A', fontWeight: 700 }}&gt;Root Cause Analysis&lt;/Text&gt;&#10;        &lt;/Box&gt;&#10;      &lt;/Box&gt;&#10;&#10;      &lt;Text style={{ fontSize: 12, color: '#64748B', fontStyle: 'italic', marginBottom: 14, lineHeight: 1.4 }}&gt;&#10;        &quot;Why did my generator shut down during last week's outage?&quot;&#10;      &lt;/Text&gt;&#10;&#10;      &lt;Box style={{ flexDirection: 'column', gap: 7 }}&gt;&#10;        {[&#10;          { label: 'Question type', value: 'Backward-looking' },&#10;          { label: 'Planned steps', value: '8 steps (simplified)' },&#10;          { label: 'Data scope', value: '92 records, failure window only' },&#10;          { label: 'Tools', value: 'Scripts + direct CSV reads (no API)' },&#10;          { label: 'Analysis method', value: 'Timeline reconstruction' },&#10;          { label: 'Deliverable', value: 'Contractor briefing' },&#10;          { label: 'Maintenance angle', value: '&quot;Was the service adequate?&quot;' },&#10;        ].map((row, i) =&gt; (&#10;          &lt;Box key={i} style={{ flexDirection: 'row', paddingBottom: 5 }}&gt;&#10;            &lt;Text style={{ fontSize: 11, color: '#94A3B8', width: 130, fontWeight: 600 }}&gt;{row.label}&lt;/Text&gt;&#10;            &lt;Text style={{ fontSize: 11, color: '#0F172A', fontWeight: 600, flex: 1 }}&gt;{row.value}&lt;/Text&gt;&#10;          &lt;/Box&gt;&#10;        ))}&#10;      &lt;/Box&gt;&#10;&#10;      &lt;Box style={{ marginTop: 12, padding: 8, borderRadius: 6, background: '#EFF6FF' }}&gt;&#10;        &lt;Text style={{ fontSize: 11, color: '#1E40AF', fontWeight: 700 }}&gt;&#10;          Key finding: 0A current + 11 transfers = unsuccessful transfer&#10;        &lt;/Text&gt;&#10;      &lt;/Box&gt;&#10;    &lt;/Box&gt;&#10;  &lt;/Box&gt;&#10;&#10;  {/* Bottom highlight - what changed */}&#10;  &lt;Box style={{ position: 'absolute', bottom: 70, left: 60, right: 60, padding: 12, borderRadius: 12, background: '#0B1E3F' }}&gt;&#10;    &lt;Text style={{ fontSize: 11, color: '#06B6D4', fontWeight: 700, letterSpacing: 1.5, marginBottom: 8, textAlign: 'center' }}&gt;WHAT CHANGED — 7 DIMENSIONS OF ADAPTATION&lt;/Text&gt;&#10;    &lt;Box style={{ flexDirection: 'row', justifyContent: 'space-around', alignItems: 'center' }}&gt;&#10;      &lt;Text style={{ fontSize: 12, color: '#FFFFFF', fontWeight: 700 }}&gt;Plan count&lt;/Text&gt;&#10;      &lt;Text style={{ fontSize: 12, color: '#FFFFFF', fontWeight: 700 }}&gt;Data scope&lt;/Text&gt;&#10;      &lt;Text style={{ fontSize: 12, color: '#FFFFFF', fontWeight: 700 }}&gt;Tool choice&lt;/Text&gt;&#10;      &lt;Text style={{ fontSize: 12, color: '#FFFFFF', fontWeight: 700 }}&gt;Method&lt;/Text&gt;&#10;      &lt;Text style={{ fontSize: 12, color: '#FFFFFF', fontWeight: 700 }}&gt;Format&lt;/Text&gt;&#10;      &lt;Text style={{ fontSize: 12, color: '#FFFFFF', fontWeight: 700 }}&gt;Audience&lt;/Text&gt;&#10;      &lt;Text style={{ fontSize: 12, color: '#FFFFFF', fontWeight: 700 }}&gt;Question framing&lt;/Text&gt;&#10;    &lt;/Box&gt;&#10;  &lt;/Box&gt;&#10;&#10;  {/* Footer */}&#10;  &lt;Box style={{ position: 'absolute', bottom: 28, left: 60, right: 60, flexDirection: 'row', justifyContent: 'space-between', alignItems: 'center' }}&gt;&#10;    &lt;Text style={{ fontSize: 12, color: '#64748B' }}&gt;GenBuddy · DORMATHON 2026 · Track 2: Agentic Solutions&lt;/Text&gt;&#10;    &lt;Text style={{ fontSize: 12, color: '#64748B' }}&gt;08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ectangle 3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5" name="Rectangle 35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1E3F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56" name="Rectangle: Rounded Corners 355"/>
          <p:cNvSpPr/>
          <p:nvPr/>
        </p:nvSpPr>
        <p:spPr>
          <a:xfrm>
            <a:off x="571500" y="266700"/>
            <a:ext cx="2114550" cy="209550"/>
          </a:xfrm>
          <a:prstGeom prst="roundRect">
            <a:avLst>
              <a:gd name="adj" fmla="val 18182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7" name="TextBox 356" descr="{&quot;isTemplate&quot;:true,&quot;type&quot;:&quot;text&quot;}"/>
          <p:cNvSpPr txBox="1"/>
          <p:nvPr/>
        </p:nvSpPr>
        <p:spPr>
          <a:xfrm>
            <a:off x="685800" y="304800"/>
            <a:ext cx="18859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FFFFFF"/>
                </a:solidFill>
                <a:latin typeface="Microsoft YaHei"/>
                <a:ea typeface="Microsoft YaHei"/>
              </a:rPr>
              <a:t>08 / DYNAMIC AI PLANNING</a:t>
            </a:r>
            <a:endParaRPr/>
          </a:p>
        </p:txBody>
      </p:sp>
      <p:sp>
        <p:nvSpPr>
          <p:cNvPr id="358" name="TextBox 357" descr="{&quot;isTemplate&quot;:true,&quot;type&quot;:&quot;text&quot;}"/>
          <p:cNvSpPr txBox="1"/>
          <p:nvPr/>
        </p:nvSpPr>
        <p:spPr>
          <a:xfrm>
            <a:off x="571500" y="609600"/>
            <a:ext cx="110490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0B1E3F"/>
                </a:solidFill>
                <a:latin typeface="Microsoft YaHei"/>
                <a:ea typeface="Microsoft YaHei"/>
              </a:rPr>
              <a:t>The agent did NOT reuse the same plan for both investigations</a:t>
            </a:r>
            <a:endParaRPr/>
          </a:p>
        </p:txBody>
      </p:sp>
      <p:sp>
        <p:nvSpPr>
          <p:cNvPr id="359" name="Rectangle: Rounded Corners 358"/>
          <p:cNvSpPr/>
          <p:nvPr/>
        </p:nvSpPr>
        <p:spPr>
          <a:xfrm>
            <a:off x="628650" y="1276350"/>
            <a:ext cx="5448300" cy="316230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0" name="Freeform: Shape 359"/>
          <p:cNvSpPr/>
          <p:nvPr/>
        </p:nvSpPr>
        <p:spPr>
          <a:xfrm>
            <a:off x="628650" y="1276350"/>
            <a:ext cx="5448300" cy="3162300"/>
          </a:xfrm>
          <a:custGeom>
            <a:avLst/>
            <a:gdLst/>
            <a:ahLst/>
            <a:cxnLst/>
            <a:rect l="0" t="0" r="0" b="0"/>
            <a:pathLst>
              <a:path w="572" h="332">
                <a:moveTo>
                  <a:pt x="11" y="0"/>
                </a:moveTo>
                <a:cubicBezTo>
                  <a:pt x="8" y="0"/>
                  <a:pt x="6" y="3"/>
                  <a:pt x="6" y="6"/>
                </a:cubicBezTo>
                <a:lnTo>
                  <a:pt x="6" y="326"/>
                </a:lnTo>
                <a:cubicBezTo>
                  <a:pt x="6" y="329"/>
                  <a:pt x="8" y="331"/>
                  <a:pt x="11" y="332"/>
                </a:cubicBezTo>
                <a:cubicBezTo>
                  <a:pt x="5" y="331"/>
                  <a:pt x="0" y="326"/>
                  <a:pt x="0" y="320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1" name="Rectangle: Rounded Corners 360"/>
          <p:cNvSpPr/>
          <p:nvPr/>
        </p:nvSpPr>
        <p:spPr>
          <a:xfrm>
            <a:off x="781050" y="14287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2" name="TextBox 361" descr="{&quot;isTemplate&quot;:true,&quot;type&quot;:&quot;text&quot;}"/>
          <p:cNvSpPr txBox="1"/>
          <p:nvPr/>
        </p:nvSpPr>
        <p:spPr>
          <a:xfrm>
            <a:off x="904875" y="1504950"/>
            <a:ext cx="95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B1E3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63" name="TextBox 362" descr="{&quot;isTemplate&quot;:true,&quot;type&quot;:&quot;text&quot;}"/>
          <p:cNvSpPr txBox="1"/>
          <p:nvPr/>
        </p:nvSpPr>
        <p:spPr>
          <a:xfrm>
            <a:off x="1219200" y="1438275"/>
            <a:ext cx="17145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06B6D4"/>
                </a:solidFill>
                <a:latin typeface="Microsoft YaHei"/>
                <a:ea typeface="Microsoft YaHei"/>
              </a:rPr>
              <a:t>INVESTIGATION 1</a:t>
            </a:r>
            <a:endParaRPr/>
          </a:p>
        </p:txBody>
      </p:sp>
      <p:sp>
        <p:nvSpPr>
          <p:cNvPr id="364" name="TextBox 363" descr="{&quot;isTemplate&quot;:true,&quot;type&quot;:&quot;text&quot;}"/>
          <p:cNvSpPr txBox="1"/>
          <p:nvPr/>
        </p:nvSpPr>
        <p:spPr>
          <a:xfrm>
            <a:off x="1219200" y="1571625"/>
            <a:ext cx="17145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Readiness Assessment</a:t>
            </a:r>
            <a:endParaRPr/>
          </a:p>
        </p:txBody>
      </p:sp>
      <p:sp>
        <p:nvSpPr>
          <p:cNvPr id="365" name="TextBox 364" descr="{&quot;isTemplate&quot;:true,&quot;type&quot;:&quot;text&quot;}"/>
          <p:cNvSpPr txBox="1"/>
          <p:nvPr/>
        </p:nvSpPr>
        <p:spPr>
          <a:xfrm>
            <a:off x="781050" y="1885950"/>
            <a:ext cx="50863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"Is my backup generator ready for the next power outage?"</a:t>
            </a:r>
            <a:endParaRPr/>
          </a:p>
        </p:txBody>
      </p:sp>
      <p:sp>
        <p:nvSpPr>
          <p:cNvPr id="366" name="TextBox 365" descr="{&quot;isTemplate&quot;:true,&quot;type&quot;:&quot;text&quot;}"/>
          <p:cNvSpPr txBox="1"/>
          <p:nvPr/>
        </p:nvSpPr>
        <p:spPr>
          <a:xfrm>
            <a:off x="781050" y="221932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Question type</a:t>
            </a:r>
            <a:endParaRPr/>
          </a:p>
        </p:txBody>
      </p:sp>
      <p:sp>
        <p:nvSpPr>
          <p:cNvPr id="367" name="TextBox 366" descr="{&quot;isTemplate&quot;:true,&quot;type&quot;:&quot;text&quot;}"/>
          <p:cNvSpPr txBox="1"/>
          <p:nvPr/>
        </p:nvSpPr>
        <p:spPr>
          <a:xfrm>
            <a:off x="2019300" y="221932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Forward-looking</a:t>
            </a:r>
            <a:endParaRPr/>
          </a:p>
        </p:txBody>
      </p:sp>
      <p:sp>
        <p:nvSpPr>
          <p:cNvPr id="368" name="TextBox 367" descr="{&quot;isTemplate&quot;:true,&quot;type&quot;:&quot;text&quot;}"/>
          <p:cNvSpPr txBox="1"/>
          <p:nvPr/>
        </p:nvSpPr>
        <p:spPr>
          <a:xfrm>
            <a:off x="781050" y="246697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Planned steps</a:t>
            </a:r>
            <a:endParaRPr/>
          </a:p>
        </p:txBody>
      </p:sp>
      <p:sp>
        <p:nvSpPr>
          <p:cNvPr id="369" name="TextBox 368" descr="{&quot;isTemplate&quot;:true,&quot;type&quot;:&quot;text&quot;}"/>
          <p:cNvSpPr txBox="1"/>
          <p:nvPr/>
        </p:nvSpPr>
        <p:spPr>
          <a:xfrm>
            <a:off x="2019300" y="246697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13 steps</a:t>
            </a:r>
            <a:endParaRPr/>
          </a:p>
        </p:txBody>
      </p:sp>
      <p:sp>
        <p:nvSpPr>
          <p:cNvPr id="370" name="TextBox 369" descr="{&quot;isTemplate&quot;:true,&quot;type&quot;:&quot;text&quot;}"/>
          <p:cNvSpPr txBox="1"/>
          <p:nvPr/>
        </p:nvSpPr>
        <p:spPr>
          <a:xfrm>
            <a:off x="781050" y="271462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Data scope</a:t>
            </a:r>
            <a:endParaRPr/>
          </a:p>
        </p:txBody>
      </p:sp>
      <p:sp>
        <p:nvSpPr>
          <p:cNvPr id="371" name="TextBox 370" descr="{&quot;isTemplate&quot;:true,&quot;type&quot;:&quot;text&quot;}"/>
          <p:cNvSpPr txBox="1"/>
          <p:nvPr/>
        </p:nvSpPr>
        <p:spPr>
          <a:xfrm>
            <a:off x="2019300" y="271462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All 356 records, 3 scenarios</a:t>
            </a:r>
            <a:endParaRPr/>
          </a:p>
        </p:txBody>
      </p:sp>
      <p:sp>
        <p:nvSpPr>
          <p:cNvPr id="372" name="TextBox 371" descr="{&quot;isTemplate&quot;:true,&quot;type&quot;:&quot;text&quot;}"/>
          <p:cNvSpPr txBox="1"/>
          <p:nvPr/>
        </p:nvSpPr>
        <p:spPr>
          <a:xfrm>
            <a:off x="781050" y="296227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Tools</a:t>
            </a:r>
            <a:endParaRPr/>
          </a:p>
        </p:txBody>
      </p:sp>
      <p:sp>
        <p:nvSpPr>
          <p:cNvPr id="373" name="TextBox 372" descr="{&quot;isTemplate&quot;:true,&quot;type&quot;:&quot;text&quot;}"/>
          <p:cNvSpPr txBox="1"/>
          <p:nvPr/>
        </p:nvSpPr>
        <p:spPr>
          <a:xfrm>
            <a:off x="2019300" y="296227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Scripts + API + direct CSV reads</a:t>
            </a:r>
            <a:endParaRPr/>
          </a:p>
        </p:txBody>
      </p:sp>
      <p:sp>
        <p:nvSpPr>
          <p:cNvPr id="374" name="TextBox 373" descr="{&quot;isTemplate&quot;:true,&quot;type&quot;:&quot;text&quot;}"/>
          <p:cNvSpPr txBox="1"/>
          <p:nvPr/>
        </p:nvSpPr>
        <p:spPr>
          <a:xfrm>
            <a:off x="781050" y="320992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Analysis method</a:t>
            </a:r>
            <a:endParaRPr/>
          </a:p>
        </p:txBody>
      </p:sp>
      <p:sp>
        <p:nvSpPr>
          <p:cNvPr id="375" name="TextBox 374" descr="{&quot;isTemplate&quot;:true,&quot;type&quot;:&quot;text&quot;}"/>
          <p:cNvSpPr txBox="1"/>
          <p:nvPr/>
        </p:nvSpPr>
        <p:spPr>
          <a:xfrm>
            <a:off x="2019300" y="320992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Cross-scenario comparison</a:t>
            </a:r>
            <a:endParaRPr/>
          </a:p>
        </p:txBody>
      </p:sp>
      <p:sp>
        <p:nvSpPr>
          <p:cNvPr id="376" name="TextBox 375" descr="{&quot;isTemplate&quot;:true,&quot;type&quot;:&quot;text&quot;}"/>
          <p:cNvSpPr txBox="1"/>
          <p:nvPr/>
        </p:nvSpPr>
        <p:spPr>
          <a:xfrm>
            <a:off x="781050" y="345757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Deliverable</a:t>
            </a:r>
            <a:endParaRPr/>
          </a:p>
        </p:txBody>
      </p:sp>
      <p:sp>
        <p:nvSpPr>
          <p:cNvPr id="377" name="TextBox 376" descr="{&quot;isTemplate&quot;:true,&quot;type&quot;:&quot;text&quot;}"/>
          <p:cNvSpPr txBox="1"/>
          <p:nvPr/>
        </p:nvSpPr>
        <p:spPr>
          <a:xfrm>
            <a:off x="2019300" y="345757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Prioritized work orders</a:t>
            </a:r>
            <a:endParaRPr/>
          </a:p>
        </p:txBody>
      </p:sp>
      <p:sp>
        <p:nvSpPr>
          <p:cNvPr id="378" name="TextBox 377" descr="{&quot;isTemplate&quot;:true,&quot;type&quot;:&quot;text&quot;}"/>
          <p:cNvSpPr txBox="1"/>
          <p:nvPr/>
        </p:nvSpPr>
        <p:spPr>
          <a:xfrm>
            <a:off x="781050" y="370522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Maintenance angle</a:t>
            </a:r>
            <a:endParaRPr/>
          </a:p>
        </p:txBody>
      </p:sp>
      <p:sp>
        <p:nvSpPr>
          <p:cNvPr id="379" name="TextBox 378" descr="{&quot;isTemplate&quot;:true,&quot;type&quot;:&quot;text&quot;}"/>
          <p:cNvSpPr txBox="1"/>
          <p:nvPr/>
        </p:nvSpPr>
        <p:spPr>
          <a:xfrm>
            <a:off x="2019300" y="370522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"Was it serviced recently?"</a:t>
            </a:r>
            <a:endParaRPr/>
          </a:p>
        </p:txBody>
      </p:sp>
      <p:sp>
        <p:nvSpPr>
          <p:cNvPr id="380" name="Rectangle: Rounded Corners 379"/>
          <p:cNvSpPr/>
          <p:nvPr/>
        </p:nvSpPr>
        <p:spPr>
          <a:xfrm>
            <a:off x="781050" y="4000500"/>
            <a:ext cx="5086350" cy="285750"/>
          </a:xfrm>
          <a:prstGeom prst="roundRect">
            <a:avLst>
              <a:gd name="adj" fmla="val 20000"/>
            </a:avLst>
          </a:prstGeom>
          <a:solidFill>
            <a:srgbClr val="F0F9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1" name="TextBox 380" descr="{&quot;isTemplate&quot;:true,&quot;type&quot;:&quot;text&quot;}"/>
          <p:cNvSpPr txBox="1"/>
          <p:nvPr/>
        </p:nvSpPr>
        <p:spPr>
          <a:xfrm>
            <a:off x="857250" y="4076700"/>
            <a:ext cx="49339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7490"/>
                </a:solidFill>
                <a:latin typeface="Microsoft YaHei"/>
                <a:ea typeface="Microsoft YaHei"/>
              </a:rPr>
              <a:t>Key finding: 9.8 percentage points more rated loading → 22.8°C higher temperature</a:t>
            </a:r>
            <a:endParaRPr/>
          </a:p>
        </p:txBody>
      </p:sp>
      <p:sp>
        <p:nvSpPr>
          <p:cNvPr id="382" name="Rectangle: Rounded Corners 381"/>
          <p:cNvSpPr/>
          <p:nvPr/>
        </p:nvSpPr>
        <p:spPr>
          <a:xfrm>
            <a:off x="6229350" y="1276350"/>
            <a:ext cx="5448300" cy="316230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3" name="Freeform: Shape 382"/>
          <p:cNvSpPr/>
          <p:nvPr/>
        </p:nvSpPr>
        <p:spPr>
          <a:xfrm>
            <a:off x="6229350" y="1276350"/>
            <a:ext cx="5448300" cy="3162300"/>
          </a:xfrm>
          <a:custGeom>
            <a:avLst/>
            <a:gdLst/>
            <a:ahLst/>
            <a:cxnLst/>
            <a:rect l="0" t="0" r="0" b="0"/>
            <a:pathLst>
              <a:path w="572" h="332">
                <a:moveTo>
                  <a:pt x="11" y="0"/>
                </a:moveTo>
                <a:cubicBezTo>
                  <a:pt x="8" y="0"/>
                  <a:pt x="6" y="3"/>
                  <a:pt x="6" y="6"/>
                </a:cubicBezTo>
                <a:lnTo>
                  <a:pt x="6" y="326"/>
                </a:lnTo>
                <a:cubicBezTo>
                  <a:pt x="6" y="329"/>
                  <a:pt x="8" y="331"/>
                  <a:pt x="11" y="332"/>
                </a:cubicBezTo>
                <a:cubicBezTo>
                  <a:pt x="5" y="331"/>
                  <a:pt x="0" y="326"/>
                  <a:pt x="0" y="320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4" name="Rectangle: Rounded Corners 383"/>
          <p:cNvSpPr/>
          <p:nvPr/>
        </p:nvSpPr>
        <p:spPr>
          <a:xfrm>
            <a:off x="6381750" y="14287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5" name="TextBox 384" descr="{&quot;isTemplate&quot;:true,&quot;type&quot;:&quot;text&quot;}"/>
          <p:cNvSpPr txBox="1"/>
          <p:nvPr/>
        </p:nvSpPr>
        <p:spPr>
          <a:xfrm>
            <a:off x="6505575" y="1504950"/>
            <a:ext cx="952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86" name="TextBox 385" descr="{&quot;isTemplate&quot;:true,&quot;type&quot;:&quot;text&quot;}"/>
          <p:cNvSpPr txBox="1"/>
          <p:nvPr/>
        </p:nvSpPr>
        <p:spPr>
          <a:xfrm>
            <a:off x="6819900" y="1438275"/>
            <a:ext cx="15430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2563EB"/>
                </a:solidFill>
                <a:latin typeface="Microsoft YaHei"/>
                <a:ea typeface="Microsoft YaHei"/>
              </a:rPr>
              <a:t>INVESTIGATION 2</a:t>
            </a:r>
            <a:endParaRPr/>
          </a:p>
        </p:txBody>
      </p:sp>
      <p:sp>
        <p:nvSpPr>
          <p:cNvPr id="387" name="TextBox 386" descr="{&quot;isTemplate&quot;:true,&quot;type&quot;:&quot;text&quot;}"/>
          <p:cNvSpPr txBox="1"/>
          <p:nvPr/>
        </p:nvSpPr>
        <p:spPr>
          <a:xfrm>
            <a:off x="6819900" y="1571625"/>
            <a:ext cx="15430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Microsoft YaHei"/>
                <a:ea typeface="Microsoft YaHei"/>
              </a:rPr>
              <a:t>Root Cause Analysis</a:t>
            </a:r>
            <a:endParaRPr/>
          </a:p>
        </p:txBody>
      </p:sp>
      <p:sp>
        <p:nvSpPr>
          <p:cNvPr id="388" name="TextBox 387" descr="{&quot;isTemplate&quot;:true,&quot;type&quot;:&quot;text&quot;}"/>
          <p:cNvSpPr txBox="1"/>
          <p:nvPr/>
        </p:nvSpPr>
        <p:spPr>
          <a:xfrm>
            <a:off x="6381750" y="1885950"/>
            <a:ext cx="50863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900" i="1">
                <a:solidFill>
                  <a:srgbClr val="64748B"/>
                </a:solidFill>
                <a:latin typeface="Microsoft YaHei"/>
                <a:ea typeface="Microsoft YaHei"/>
              </a:rPr>
              <a:t>"Why did my generator shut down during last week's outage?"</a:t>
            </a:r>
            <a:endParaRPr/>
          </a:p>
        </p:txBody>
      </p:sp>
      <p:sp>
        <p:nvSpPr>
          <p:cNvPr id="389" name="TextBox 388" descr="{&quot;isTemplate&quot;:true,&quot;type&quot;:&quot;text&quot;}"/>
          <p:cNvSpPr txBox="1"/>
          <p:nvPr/>
        </p:nvSpPr>
        <p:spPr>
          <a:xfrm>
            <a:off x="6381750" y="221932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Question type</a:t>
            </a:r>
            <a:endParaRPr/>
          </a:p>
        </p:txBody>
      </p:sp>
      <p:sp>
        <p:nvSpPr>
          <p:cNvPr id="390" name="TextBox 389" descr="{&quot;isTemplate&quot;:true,&quot;type&quot;:&quot;text&quot;}"/>
          <p:cNvSpPr txBox="1"/>
          <p:nvPr/>
        </p:nvSpPr>
        <p:spPr>
          <a:xfrm>
            <a:off x="7620000" y="221932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Backward-looking</a:t>
            </a:r>
            <a:endParaRPr/>
          </a:p>
        </p:txBody>
      </p:sp>
      <p:sp>
        <p:nvSpPr>
          <p:cNvPr id="391" name="TextBox 390" descr="{&quot;isTemplate&quot;:true,&quot;type&quot;:&quot;text&quot;}"/>
          <p:cNvSpPr txBox="1"/>
          <p:nvPr/>
        </p:nvSpPr>
        <p:spPr>
          <a:xfrm>
            <a:off x="6381750" y="246697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Planned steps</a:t>
            </a:r>
            <a:endParaRPr/>
          </a:p>
        </p:txBody>
      </p:sp>
      <p:sp>
        <p:nvSpPr>
          <p:cNvPr id="392" name="TextBox 391" descr="{&quot;isTemplate&quot;:true,&quot;type&quot;:&quot;text&quot;}"/>
          <p:cNvSpPr txBox="1"/>
          <p:nvPr/>
        </p:nvSpPr>
        <p:spPr>
          <a:xfrm>
            <a:off x="7620000" y="246697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8 steps (simplified)</a:t>
            </a:r>
            <a:endParaRPr/>
          </a:p>
        </p:txBody>
      </p:sp>
      <p:sp>
        <p:nvSpPr>
          <p:cNvPr id="393" name="TextBox 392" descr="{&quot;isTemplate&quot;:true,&quot;type&quot;:&quot;text&quot;}"/>
          <p:cNvSpPr txBox="1"/>
          <p:nvPr/>
        </p:nvSpPr>
        <p:spPr>
          <a:xfrm>
            <a:off x="6381750" y="271462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Data scope</a:t>
            </a:r>
            <a:endParaRPr/>
          </a:p>
        </p:txBody>
      </p:sp>
      <p:sp>
        <p:nvSpPr>
          <p:cNvPr id="394" name="TextBox 393" descr="{&quot;isTemplate&quot;:true,&quot;type&quot;:&quot;text&quot;}"/>
          <p:cNvSpPr txBox="1"/>
          <p:nvPr/>
        </p:nvSpPr>
        <p:spPr>
          <a:xfrm>
            <a:off x="7620000" y="271462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92 records, failure window only</a:t>
            </a:r>
            <a:endParaRPr/>
          </a:p>
        </p:txBody>
      </p:sp>
      <p:sp>
        <p:nvSpPr>
          <p:cNvPr id="395" name="TextBox 394" descr="{&quot;isTemplate&quot;:true,&quot;type&quot;:&quot;text&quot;}"/>
          <p:cNvSpPr txBox="1"/>
          <p:nvPr/>
        </p:nvSpPr>
        <p:spPr>
          <a:xfrm>
            <a:off x="6381750" y="296227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Tools</a:t>
            </a:r>
            <a:endParaRPr/>
          </a:p>
        </p:txBody>
      </p:sp>
      <p:sp>
        <p:nvSpPr>
          <p:cNvPr id="396" name="TextBox 395" descr="{&quot;isTemplate&quot;:true,&quot;type&quot;:&quot;text&quot;}"/>
          <p:cNvSpPr txBox="1"/>
          <p:nvPr/>
        </p:nvSpPr>
        <p:spPr>
          <a:xfrm>
            <a:off x="7620000" y="296227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Scripts + direct CSV reads (no API)</a:t>
            </a:r>
            <a:endParaRPr/>
          </a:p>
        </p:txBody>
      </p:sp>
      <p:sp>
        <p:nvSpPr>
          <p:cNvPr id="397" name="TextBox 396" descr="{&quot;isTemplate&quot;:true,&quot;type&quot;:&quot;text&quot;}"/>
          <p:cNvSpPr txBox="1"/>
          <p:nvPr/>
        </p:nvSpPr>
        <p:spPr>
          <a:xfrm>
            <a:off x="6381750" y="320992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Analysis method</a:t>
            </a:r>
            <a:endParaRPr/>
          </a:p>
        </p:txBody>
      </p:sp>
      <p:sp>
        <p:nvSpPr>
          <p:cNvPr id="398" name="TextBox 397" descr="{&quot;isTemplate&quot;:true,&quot;type&quot;:&quot;text&quot;}"/>
          <p:cNvSpPr txBox="1"/>
          <p:nvPr/>
        </p:nvSpPr>
        <p:spPr>
          <a:xfrm>
            <a:off x="7620000" y="320992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Timeline reconstruction</a:t>
            </a:r>
            <a:endParaRPr/>
          </a:p>
        </p:txBody>
      </p:sp>
      <p:sp>
        <p:nvSpPr>
          <p:cNvPr id="399" name="TextBox 398" descr="{&quot;isTemplate&quot;:true,&quot;type&quot;:&quot;text&quot;}"/>
          <p:cNvSpPr txBox="1"/>
          <p:nvPr/>
        </p:nvSpPr>
        <p:spPr>
          <a:xfrm>
            <a:off x="6381750" y="345757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Deliverable</a:t>
            </a:r>
            <a:endParaRPr/>
          </a:p>
        </p:txBody>
      </p:sp>
      <p:sp>
        <p:nvSpPr>
          <p:cNvPr id="400" name="TextBox 399" descr="{&quot;isTemplate&quot;:true,&quot;type&quot;:&quot;text&quot;}"/>
          <p:cNvSpPr txBox="1"/>
          <p:nvPr/>
        </p:nvSpPr>
        <p:spPr>
          <a:xfrm>
            <a:off x="7620000" y="345757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Contractor briefing</a:t>
            </a:r>
            <a:endParaRPr/>
          </a:p>
        </p:txBody>
      </p:sp>
      <p:sp>
        <p:nvSpPr>
          <p:cNvPr id="401" name="TextBox 400" descr="{&quot;isTemplate&quot;:true,&quot;type&quot;:&quot;text&quot;}"/>
          <p:cNvSpPr txBox="1"/>
          <p:nvPr/>
        </p:nvSpPr>
        <p:spPr>
          <a:xfrm>
            <a:off x="6381750" y="3705225"/>
            <a:ext cx="12382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94A3B8"/>
                </a:solidFill>
                <a:latin typeface="Microsoft YaHei"/>
                <a:ea typeface="Microsoft YaHei"/>
              </a:rPr>
              <a:t>Maintenance angle</a:t>
            </a:r>
            <a:endParaRPr/>
          </a:p>
        </p:txBody>
      </p:sp>
      <p:sp>
        <p:nvSpPr>
          <p:cNvPr id="402" name="TextBox 401" descr="{&quot;isTemplate&quot;:true,&quot;type&quot;:&quot;text&quot;}"/>
          <p:cNvSpPr txBox="1"/>
          <p:nvPr/>
        </p:nvSpPr>
        <p:spPr>
          <a:xfrm>
            <a:off x="7620000" y="3705225"/>
            <a:ext cx="3848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F172A"/>
                </a:solidFill>
                <a:latin typeface="Microsoft YaHei"/>
                <a:ea typeface="Microsoft YaHei"/>
              </a:rPr>
              <a:t>"Was the service adequate?"</a:t>
            </a:r>
            <a:endParaRPr/>
          </a:p>
        </p:txBody>
      </p:sp>
      <p:sp>
        <p:nvSpPr>
          <p:cNvPr id="403" name="Rectangle: Rounded Corners 402"/>
          <p:cNvSpPr/>
          <p:nvPr/>
        </p:nvSpPr>
        <p:spPr>
          <a:xfrm>
            <a:off x="6381750" y="4000500"/>
            <a:ext cx="508635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4" name="TextBox 403" descr="{&quot;isTemplate&quot;:true,&quot;type&quot;:&quot;text&quot;}"/>
          <p:cNvSpPr txBox="1"/>
          <p:nvPr/>
        </p:nvSpPr>
        <p:spPr>
          <a:xfrm>
            <a:off x="6457950" y="4076700"/>
            <a:ext cx="49339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E40AF"/>
                </a:solidFill>
                <a:latin typeface="Microsoft YaHei"/>
                <a:ea typeface="Microsoft YaHei"/>
              </a:rPr>
              <a:t>Key finding: 0A current + 11 transfers = unsuccessful transfer</a:t>
            </a:r>
            <a:endParaRPr/>
          </a:p>
        </p:txBody>
      </p:sp>
      <p:sp>
        <p:nvSpPr>
          <p:cNvPr id="405" name="Rectangle: Rounded Corners 404"/>
          <p:cNvSpPr/>
          <p:nvPr/>
        </p:nvSpPr>
        <p:spPr>
          <a:xfrm>
            <a:off x="571500" y="5610225"/>
            <a:ext cx="11049000" cy="581025"/>
          </a:xfrm>
          <a:prstGeom prst="roundRect">
            <a:avLst>
              <a:gd name="adj" fmla="val 19672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6" name="TextBox 405" descr="{&quot;isTemplate&quot;:true,&quot;type&quot;:&quot;text&quot;}"/>
          <p:cNvSpPr txBox="1"/>
          <p:nvPr/>
        </p:nvSpPr>
        <p:spPr>
          <a:xfrm>
            <a:off x="685800" y="5724525"/>
            <a:ext cx="108204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WHAT CHANGED — 7 DIMENSIONS OF ADAPTATION</a:t>
            </a:r>
            <a:endParaRPr/>
          </a:p>
        </p:txBody>
      </p:sp>
      <p:sp>
        <p:nvSpPr>
          <p:cNvPr id="407" name="TextBox 406" descr="{&quot;isTemplate&quot;:true,&quot;type&quot;:&quot;text&quot;}"/>
          <p:cNvSpPr txBox="1"/>
          <p:nvPr/>
        </p:nvSpPr>
        <p:spPr>
          <a:xfrm>
            <a:off x="1152525" y="5934075"/>
            <a:ext cx="6191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Plan count</a:t>
            </a:r>
            <a:endParaRPr/>
          </a:p>
        </p:txBody>
      </p:sp>
      <p:sp>
        <p:nvSpPr>
          <p:cNvPr id="408" name="TextBox 407" descr="{&quot;isTemplate&quot;:true,&quot;type&quot;:&quot;text&quot;}"/>
          <p:cNvSpPr txBox="1"/>
          <p:nvPr/>
        </p:nvSpPr>
        <p:spPr>
          <a:xfrm>
            <a:off x="2695575" y="5934075"/>
            <a:ext cx="6381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Data scope</a:t>
            </a:r>
            <a:endParaRPr/>
          </a:p>
        </p:txBody>
      </p:sp>
      <p:sp>
        <p:nvSpPr>
          <p:cNvPr id="409" name="TextBox 408" descr="{&quot;isTemplate&quot;:true,&quot;type&quot;:&quot;text&quot;}"/>
          <p:cNvSpPr txBox="1"/>
          <p:nvPr/>
        </p:nvSpPr>
        <p:spPr>
          <a:xfrm>
            <a:off x="4257675" y="5934075"/>
            <a:ext cx="6477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Tool choice</a:t>
            </a:r>
            <a:endParaRPr/>
          </a:p>
        </p:txBody>
      </p:sp>
      <p:sp>
        <p:nvSpPr>
          <p:cNvPr id="410" name="TextBox 409" descr="{&quot;isTemplate&quot;:true,&quot;type&quot;:&quot;text&quot;}"/>
          <p:cNvSpPr txBox="1"/>
          <p:nvPr/>
        </p:nvSpPr>
        <p:spPr>
          <a:xfrm>
            <a:off x="5829300" y="5934075"/>
            <a:ext cx="4572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Method</a:t>
            </a:r>
            <a:endParaRPr/>
          </a:p>
        </p:txBody>
      </p:sp>
      <p:sp>
        <p:nvSpPr>
          <p:cNvPr id="411" name="TextBox 410" descr="{&quot;isTemplate&quot;:true,&quot;type&quot;:&quot;text&quot;}"/>
          <p:cNvSpPr txBox="1"/>
          <p:nvPr/>
        </p:nvSpPr>
        <p:spPr>
          <a:xfrm>
            <a:off x="7210425" y="5934075"/>
            <a:ext cx="419100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Format</a:t>
            </a:r>
            <a:endParaRPr/>
          </a:p>
        </p:txBody>
      </p:sp>
      <p:sp>
        <p:nvSpPr>
          <p:cNvPr id="412" name="TextBox 411" descr="{&quot;isTemplate&quot;:true,&quot;type&quot;:&quot;text&quot;}"/>
          <p:cNvSpPr txBox="1"/>
          <p:nvPr/>
        </p:nvSpPr>
        <p:spPr>
          <a:xfrm>
            <a:off x="8553450" y="5934075"/>
            <a:ext cx="5429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Audience</a:t>
            </a:r>
            <a:endParaRPr/>
          </a:p>
        </p:txBody>
      </p:sp>
      <p:sp>
        <p:nvSpPr>
          <p:cNvPr id="413" name="TextBox 412" descr="{&quot;isTemplate&quot;:true,&quot;type&quot;:&quot;text&quot;}"/>
          <p:cNvSpPr txBox="1"/>
          <p:nvPr/>
        </p:nvSpPr>
        <p:spPr>
          <a:xfrm>
            <a:off x="10020300" y="5934075"/>
            <a:ext cx="101917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Question framing</a:t>
            </a:r>
            <a:endParaRPr/>
          </a:p>
        </p:txBody>
      </p:sp>
      <p:sp>
        <p:nvSpPr>
          <p:cNvPr id="414" name="TextBox 413" descr="{&quot;isTemplate&quot;:true,&quot;type&quot;:&quot;text&quot;}"/>
          <p:cNvSpPr txBox="1"/>
          <p:nvPr/>
        </p:nvSpPr>
        <p:spPr>
          <a:xfrm>
            <a:off x="571500" y="6448425"/>
            <a:ext cx="32480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GenBuddy · DORMATHON 2026 · Track 2: Agentic Solutions</a:t>
            </a:r>
            <a:endParaRPr/>
          </a:p>
        </p:txBody>
      </p:sp>
      <p:sp>
        <p:nvSpPr>
          <p:cNvPr id="415" name="TextBox 414" descr="{&quot;isTemplate&quot;:true,&quot;type&quot;:&quot;text&quot;}"/>
          <p:cNvSpPr txBox="1"/>
          <p:nvPr/>
        </p:nvSpPr>
        <p:spPr>
          <a:xfrm>
            <a:off x="11229975" y="644842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08 / 10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F8FAFC' }}&gt;&#10;  {/* Top accent bar */}&#10;  &lt;Box style={{ position: 'absolute', top: 0, left: 0, width: '1280px', height: 6, background: 'linear-gradient(90deg, #0B1E3F 0%, #2563EB 100%)' }} /&gt;&#10;&#10;  {/* Section tag */}&#10;  &lt;Box style={{ position: 'absolute', top: 28, left: 60, padding: '4px 12px', borderRadius: 4, background: '#0B1E3F' }}&gt;&#10;    &lt;Text style={{ fontSize: 11, color: '#FFFFFF', fontWeight: 700, letterSpacing: 1.5 }}&gt;09 / VALUE &amp;amp; LIMITATIONS&lt;/Text&gt;&#10;  &lt;/Box&gt;&#10;&#10;  {/* Title */}&#10;  &lt;Box style={{ position: 'absolute', top: 64, left: 60, width: 1160 }}&gt;&#10;    &lt;Text style={{ fontSize: 28, color: '#0B1E3F', fontWeight: 700, lineHeight: 1.2 }}&gt;&#10;      What we proved — and what we didn't&#10;    &lt;/Text&gt;&#10;  &lt;/Box&gt;&#10;&#10;  {/* LEFT - Value */}&#10;  &lt;Box style={{ position: 'absolute', top: 130, left: 60, width: 580, height: 470, padding: 16, borderRadius: 12, background: '#FFFFFF', border: '1px solid #E2E8F0', borderTop: '6px solid #10B981' }}&gt;&#10;    &lt;Text style={{ fontSize: 11, color: '#10B981', fontWeight: 700, letterSpacing: 1.5, marginBottom: 8 }}&gt;VERIFIED PROTOTYPE RESULTS&lt;/Text&gt;&#10;    &lt;Text style={{ fontSize: 20, color: '#0F172A', fontWeight: 700, marginBottom: 16 }}&gt;What GenBuddy could do&lt;/Text&gt;&#10;&#10;    &lt;Box style={{ flexDirection: 'column', gap: 12 }}&gt;&#10;      {[&#10;        {&#10;          title: 'Translate telemetry into plain-English flags',&#10;          desc: '&quot;11 failed ATS transfers&quot; + &quot;0A load current&quot; → flagged for specialist investigation.',&#10;        },&#10;        {&#10;          title: 'Prioritize maintenance by business impact',&#10;          desc: 'CRITICAL · HIGH · INFORMATIONAL tags based on actual failure modes.',&#10;        },&#10;        {&#10;          title: 'Speak contractor fluently',&#10;          desc: 'Generates plain-language briefings with specific check instructions.',&#10;        },&#10;        {&#10;          title: 'Reason across scenarios',&#10;          desc: 'Cross-scenario comparison that fixed-temperature scripts cannot do.',&#10;        },&#10;        {&#10;          title: 'Self-correct during investigation',&#10;          desc: 'Agent fixed a temperature rise rate error in 3 report files.',&#10;        },&#10;      ].map((v, i) =&gt; (&#10;        &lt;Box key={i} style={{ flexDirection: 'row', alignItems: 'flex-start' }}&gt;&#10;          &lt;Box style={{ width: 24, height: 24, borderRadius: 12, background: '#D1FAE5', alignItems: 'center', justifyContent: 'center', flexShrink: 0 }}&gt;&#10;            &lt;Text style={{ fontSize: 14, color: '#059669', fontWeight: 700 }}&gt;+&lt;/Text&gt;&#10;          &lt;/Box&gt;&#10;          &lt;Box style={{ marginLeft: 12, flex: 1 }}&gt;&#10;            &lt;Text style={{ fontSize: 13, color: '#0F172A', fontWeight: 700 }}&gt;{v.title}&lt;/Text&gt;&#10;            &lt;Text style={{ fontSize: 11, color: '#64748B', marginTop: 2, lineHeight: 1.4 }}&gt;{v.desc}&lt;/Text&gt;&#10;          &lt;/Box&gt;&#10;        &lt;/Box&gt;&#10;      ))}&#10;    &lt;/Box&gt;&#10;  &lt;/Box&gt;&#10;&#10;  {/* RIGHT - Limitations */}&#10;  &lt;Box style={{ position: 'absolute', top: 130, left: 660, width: 560, height: 470, padding: 16, borderRadius: 12, background: '#FFFFFF', border: '1px solid #E2E8F0', borderTop: '6px solid #F59E0B' }}&gt;&#10;    &lt;Text style={{ fontSize: 11, color: '#F59E0B', fontWeight: 700, letterSpacing: 1.5, marginBottom: 8 }}&gt;HONEST LIMITATIONS&lt;/Text&gt;&#10;    &lt;Text style={{ fontSize: 20, color: '#0F172A', fontWeight: 700, marginBottom: 16 }}&gt;What we did not prove&lt;/Text&gt;&#10;&#10;    &lt;Box style={{ flexDirection: 'column', gap: 12 }}&gt;&#10;      {[&#10;        {&#10;          title: 'No physical equipment connection',&#10;          desc: 'All data is simulated. DSE6120 thresholds are UNVERIFIED.',&#10;        },&#10;        {&#10;          title: 'No validated real-world cost savings',&#10;          desc: 'No customer case studies; no measured downtime reduction.',&#10;        },&#10;        {&#10;          title: 'Manual WorkBuddy triggering',&#10;          desc: 'User copies question from dashboard to WorkBuddy. No direct API.',&#10;        },&#10;        {&#10;          title: 'Single-user, local runtime',&#10;          desc: 'File-based request system. No auth, no multi-user isolation.',&#10;        },&#10;        {&#10;          title: 'Open investigation topics remain',&#10;          desc: 'DSE6120 thresholds · ambient temp · ATS manufacturer specs.',&#10;        },&#10;      ].map((v, i) =&gt; (&#10;        &lt;Box key={i} style={{ flexDirection: 'row', alignItems: 'flex-start' }}&gt;&#10;          &lt;Box style={{ width: 24, height: 24, borderRadius: 12, background: '#FEF3C7', alignItems: 'center', justifyContent: 'center', flexShrink: 0 }}&gt;&#10;            &lt;Text style={{ fontSize: 14, color: '#B45309', fontWeight: 700 }}&gt;!&lt;/Text&gt;&#10;          &lt;/Box&gt;&#10;          &lt;Box style={{ marginLeft: 12, flex: 1 }}&gt;&#10;            &lt;Text style={{ fontSize: 13, color: '#0F172A', fontWeight: 700 }}&gt;{v.title}&lt;/Text&gt;&#10;            &lt;Text style={{ fontSize: 11, color: '#64748B', marginTop: 2, lineHeight: 1.4 }}&gt;{v.desc}&lt;/Text&gt;&#10;          &lt;/Box&gt;&#10;        &lt;/Box&gt;&#10;      ))}&#10;    &lt;/Box&gt;&#10;  &lt;/Box&gt;&#10;&#10;  {/* Bottom honesty badge */}&#10;  &lt;Box style={{ position: 'absolute', bottom: 70, left: 60, right: 60, padding: 10, borderRadius: 10, background: '#0B1E3F', flexDirection: 'row', alignItems: 'center', justifyContent: 'center' }}&gt;&#10;    &lt;Text style={{ fontSize: 13, color: '#06B6D4', fontWeight: 700, letterSpacing: 1.5, marginRight: 12 }}&gt;TRACK 2 PRINCIPLE&lt;/Text&gt;&#10;    &lt;Text style={{ fontSize: 13, color: '#FFFFFF', fontWeight: 600 }}&gt;&#10;      Show genuine WorkBuddy usage, not marketing claims.&#10;    &lt;/Text&gt;&#10;  &lt;/Box&gt;&#10;&#10;  {/* Footer */}&#10;  &lt;Box style={{ position: 'absolute', bottom: 28, left: 60, right: 60, flexDirection: 'row', justifyContent: 'space-between', alignItems: 'center' }}&gt;&#10;    &lt;Text style={{ fontSize: 12, color: '#64748B' }}&gt;GenBuddy · DORMATHON 2026 · Track 2: Agentic Solutions&lt;/Text&gt;&#10;    &lt;Text style={{ fontSize: 12, color: '#64748B' }}&gt;09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Rectangle 4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8" name="Rectangle 41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B1E3F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19" name="Rectangle: Rounded Corners 418"/>
          <p:cNvSpPr/>
          <p:nvPr/>
        </p:nvSpPr>
        <p:spPr>
          <a:xfrm>
            <a:off x="571500" y="266700"/>
            <a:ext cx="2047875" cy="209550"/>
          </a:xfrm>
          <a:prstGeom prst="roundRect">
            <a:avLst>
              <a:gd name="adj" fmla="val 18182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0" name="TextBox 419" descr="{&quot;isTemplate&quot;:true,&quot;type&quot;:&quot;text&quot;}"/>
          <p:cNvSpPr txBox="1"/>
          <p:nvPr/>
        </p:nvSpPr>
        <p:spPr>
          <a:xfrm>
            <a:off x="685800" y="304800"/>
            <a:ext cx="181927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FFFFFF"/>
                </a:solidFill>
                <a:latin typeface="Microsoft YaHei"/>
                <a:ea typeface="Microsoft YaHei"/>
              </a:rPr>
              <a:t>09 / VALUE &amp; LIMITATIONS</a:t>
            </a:r>
            <a:endParaRPr/>
          </a:p>
        </p:txBody>
      </p:sp>
      <p:sp>
        <p:nvSpPr>
          <p:cNvPr id="421" name="TextBox 420" descr="{&quot;isTemplate&quot;:true,&quot;type&quot;:&quot;text&quot;}"/>
          <p:cNvSpPr txBox="1"/>
          <p:nvPr/>
        </p:nvSpPr>
        <p:spPr>
          <a:xfrm>
            <a:off x="571500" y="609600"/>
            <a:ext cx="110490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0B1E3F"/>
                </a:solidFill>
                <a:latin typeface="Microsoft YaHei"/>
                <a:ea typeface="Microsoft YaHei"/>
              </a:rPr>
              <a:t>What we proved — and what we didn't</a:t>
            </a:r>
            <a:endParaRPr/>
          </a:p>
        </p:txBody>
      </p:sp>
      <p:sp>
        <p:nvSpPr>
          <p:cNvPr id="422" name="Rectangle: Rounded Corners 421"/>
          <p:cNvSpPr/>
          <p:nvPr/>
        </p:nvSpPr>
        <p:spPr>
          <a:xfrm>
            <a:off x="571500" y="1295400"/>
            <a:ext cx="5524500" cy="44196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3" name="Freeform: Shape 422"/>
          <p:cNvSpPr/>
          <p:nvPr/>
        </p:nvSpPr>
        <p:spPr>
          <a:xfrm>
            <a:off x="571500" y="1295400"/>
            <a:ext cx="5524500" cy="4419600"/>
          </a:xfrm>
          <a:custGeom>
            <a:avLst/>
            <a:gdLst/>
            <a:ahLst/>
            <a:cxnLst/>
            <a:rect l="0" t="0" r="0" b="0"/>
            <a:pathLst>
              <a:path w="580" h="464">
                <a:moveTo>
                  <a:pt x="569" y="0"/>
                </a:moveTo>
                <a:cubicBezTo>
                  <a:pt x="574" y="0"/>
                  <a:pt x="579" y="5"/>
                  <a:pt x="580" y="10"/>
                </a:cubicBezTo>
                <a:cubicBezTo>
                  <a:pt x="579" y="8"/>
                  <a:pt x="577" y="6"/>
                  <a:pt x="574" y="6"/>
                </a:cubicBezTo>
                <a:lnTo>
                  <a:pt x="6" y="6"/>
                </a:lnTo>
                <a:cubicBezTo>
                  <a:pt x="3" y="6"/>
                  <a:pt x="1" y="8"/>
                  <a:pt x="0" y="11"/>
                </a:cubicBezTo>
                <a:cubicBezTo>
                  <a:pt x="1" y="5"/>
                  <a:pt x="6" y="0"/>
                  <a:pt x="12" y="0"/>
                </a:cubicBezTo>
                <a:lnTo>
                  <a:pt x="568" y="0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4" name="TextBox 423" descr="{&quot;isTemplate&quot;:true,&quot;type&quot;:&quot;text&quot;}"/>
          <p:cNvSpPr txBox="1"/>
          <p:nvPr/>
        </p:nvSpPr>
        <p:spPr>
          <a:xfrm>
            <a:off x="723900" y="1447800"/>
            <a:ext cx="52197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10B981"/>
                </a:solidFill>
                <a:latin typeface="Microsoft YaHei"/>
                <a:ea typeface="Microsoft YaHei"/>
              </a:rPr>
              <a:t>VERIFIED PROTOTYPE RESULTS</a:t>
            </a:r>
            <a:endParaRPr/>
          </a:p>
        </p:txBody>
      </p:sp>
      <p:sp>
        <p:nvSpPr>
          <p:cNvPr id="425" name="TextBox 424" descr="{&quot;isTemplate&quot;:true,&quot;type&quot;:&quot;text&quot;}"/>
          <p:cNvSpPr txBox="1"/>
          <p:nvPr/>
        </p:nvSpPr>
        <p:spPr>
          <a:xfrm>
            <a:off x="723900" y="1657350"/>
            <a:ext cx="52197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What GenBuddy could do</a:t>
            </a:r>
            <a:endParaRPr/>
          </a:p>
        </p:txBody>
      </p:sp>
      <p:sp>
        <p:nvSpPr>
          <p:cNvPr id="426" name="Rectangle: Rounded Corners 425"/>
          <p:cNvSpPr/>
          <p:nvPr/>
        </p:nvSpPr>
        <p:spPr>
          <a:xfrm>
            <a:off x="723900" y="2038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7" name="TextBox 426" descr="{&quot;isTemplate&quot;:true,&quot;type&quot;:&quot;text&quot;}"/>
          <p:cNvSpPr txBox="1"/>
          <p:nvPr/>
        </p:nvSpPr>
        <p:spPr>
          <a:xfrm>
            <a:off x="790575" y="2076450"/>
            <a:ext cx="104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59669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428" name="TextBox 427" descr="{&quot;isTemplate&quot;:true,&quot;type&quot;:&quot;text&quot;}"/>
          <p:cNvSpPr txBox="1"/>
          <p:nvPr/>
        </p:nvSpPr>
        <p:spPr>
          <a:xfrm>
            <a:off x="1066800" y="2038350"/>
            <a:ext cx="4876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Translate telemetry into plain-English flags</a:t>
            </a:r>
            <a:endParaRPr/>
          </a:p>
        </p:txBody>
      </p:sp>
      <p:sp>
        <p:nvSpPr>
          <p:cNvPr id="429" name="TextBox 428" descr="{&quot;isTemplate&quot;:true,&quot;type&quot;:&quot;text&quot;}"/>
          <p:cNvSpPr txBox="1"/>
          <p:nvPr/>
        </p:nvSpPr>
        <p:spPr>
          <a:xfrm>
            <a:off x="1066800" y="2209800"/>
            <a:ext cx="48768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"11 failed ATS transfers" + "0A load current" → flagged for specialist investigation.</a:t>
            </a:r>
            <a:endParaRPr/>
          </a:p>
        </p:txBody>
      </p:sp>
      <p:sp>
        <p:nvSpPr>
          <p:cNvPr id="430" name="Rectangle: Rounded Corners 429"/>
          <p:cNvSpPr/>
          <p:nvPr/>
        </p:nvSpPr>
        <p:spPr>
          <a:xfrm>
            <a:off x="723900" y="2505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1" name="TextBox 430" descr="{&quot;isTemplate&quot;:true,&quot;type&quot;:&quot;text&quot;}"/>
          <p:cNvSpPr txBox="1"/>
          <p:nvPr/>
        </p:nvSpPr>
        <p:spPr>
          <a:xfrm>
            <a:off x="790575" y="2543175"/>
            <a:ext cx="104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59669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432" name="TextBox 431" descr="{&quot;isTemplate&quot;:true,&quot;type&quot;:&quot;text&quot;}"/>
          <p:cNvSpPr txBox="1"/>
          <p:nvPr/>
        </p:nvSpPr>
        <p:spPr>
          <a:xfrm>
            <a:off x="1066800" y="2505075"/>
            <a:ext cx="4876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Prioritize maintenance by business impact</a:t>
            </a:r>
            <a:endParaRPr/>
          </a:p>
        </p:txBody>
      </p:sp>
      <p:sp>
        <p:nvSpPr>
          <p:cNvPr id="433" name="TextBox 432" descr="{&quot;isTemplate&quot;:true,&quot;type&quot;:&quot;text&quot;}"/>
          <p:cNvSpPr txBox="1"/>
          <p:nvPr/>
        </p:nvSpPr>
        <p:spPr>
          <a:xfrm>
            <a:off x="1066800" y="2676525"/>
            <a:ext cx="48768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CRITICAL · HIGH · INFORMATIONAL tags based on actual failure modes.</a:t>
            </a:r>
            <a:endParaRPr/>
          </a:p>
        </p:txBody>
      </p:sp>
      <p:sp>
        <p:nvSpPr>
          <p:cNvPr id="434" name="Rectangle: Rounded Corners 433"/>
          <p:cNvSpPr/>
          <p:nvPr/>
        </p:nvSpPr>
        <p:spPr>
          <a:xfrm>
            <a:off x="723900" y="29718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5" name="TextBox 434" descr="{&quot;isTemplate&quot;:true,&quot;type&quot;:&quot;text&quot;}"/>
          <p:cNvSpPr txBox="1"/>
          <p:nvPr/>
        </p:nvSpPr>
        <p:spPr>
          <a:xfrm>
            <a:off x="790575" y="3009900"/>
            <a:ext cx="104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59669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436" name="TextBox 435" descr="{&quot;isTemplate&quot;:true,&quot;type&quot;:&quot;text&quot;}"/>
          <p:cNvSpPr txBox="1"/>
          <p:nvPr/>
        </p:nvSpPr>
        <p:spPr>
          <a:xfrm>
            <a:off x="1066800" y="2971800"/>
            <a:ext cx="4876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Speak contractor fluently</a:t>
            </a:r>
            <a:endParaRPr/>
          </a:p>
        </p:txBody>
      </p:sp>
      <p:sp>
        <p:nvSpPr>
          <p:cNvPr id="437" name="TextBox 436" descr="{&quot;isTemplate&quot;:true,&quot;type&quot;:&quot;text&quot;}"/>
          <p:cNvSpPr txBox="1"/>
          <p:nvPr/>
        </p:nvSpPr>
        <p:spPr>
          <a:xfrm>
            <a:off x="1066800" y="3143250"/>
            <a:ext cx="48768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Generates plain-language briefings with specific check instructions.</a:t>
            </a:r>
            <a:endParaRPr/>
          </a:p>
        </p:txBody>
      </p:sp>
      <p:sp>
        <p:nvSpPr>
          <p:cNvPr id="438" name="Rectangle: Rounded Corners 437"/>
          <p:cNvSpPr/>
          <p:nvPr/>
        </p:nvSpPr>
        <p:spPr>
          <a:xfrm>
            <a:off x="723900" y="34385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9" name="TextBox 438" descr="{&quot;isTemplate&quot;:true,&quot;type&quot;:&quot;text&quot;}"/>
          <p:cNvSpPr txBox="1"/>
          <p:nvPr/>
        </p:nvSpPr>
        <p:spPr>
          <a:xfrm>
            <a:off x="790575" y="3476625"/>
            <a:ext cx="104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59669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440" name="TextBox 439" descr="{&quot;isTemplate&quot;:true,&quot;type&quot;:&quot;text&quot;}"/>
          <p:cNvSpPr txBox="1"/>
          <p:nvPr/>
        </p:nvSpPr>
        <p:spPr>
          <a:xfrm>
            <a:off x="1066800" y="3438525"/>
            <a:ext cx="4876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Reason across scenarios</a:t>
            </a:r>
            <a:endParaRPr/>
          </a:p>
        </p:txBody>
      </p:sp>
      <p:sp>
        <p:nvSpPr>
          <p:cNvPr id="441" name="TextBox 440" descr="{&quot;isTemplate&quot;:true,&quot;type&quot;:&quot;text&quot;}"/>
          <p:cNvSpPr txBox="1"/>
          <p:nvPr/>
        </p:nvSpPr>
        <p:spPr>
          <a:xfrm>
            <a:off x="1066800" y="3609975"/>
            <a:ext cx="48768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Cross-scenario comparison that fixed-temperature scripts cannot do.</a:t>
            </a:r>
            <a:endParaRPr/>
          </a:p>
        </p:txBody>
      </p:sp>
      <p:sp>
        <p:nvSpPr>
          <p:cNvPr id="442" name="Rectangle: Rounded Corners 441"/>
          <p:cNvSpPr/>
          <p:nvPr/>
        </p:nvSpPr>
        <p:spPr>
          <a:xfrm>
            <a:off x="723900" y="39052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3" name="TextBox 442" descr="{&quot;isTemplate&quot;:true,&quot;type&quot;:&quot;text&quot;}"/>
          <p:cNvSpPr txBox="1"/>
          <p:nvPr/>
        </p:nvSpPr>
        <p:spPr>
          <a:xfrm>
            <a:off x="790575" y="3943350"/>
            <a:ext cx="1047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59669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444" name="TextBox 443" descr="{&quot;isTemplate&quot;:true,&quot;type&quot;:&quot;text&quot;}"/>
          <p:cNvSpPr txBox="1"/>
          <p:nvPr/>
        </p:nvSpPr>
        <p:spPr>
          <a:xfrm>
            <a:off x="1066800" y="3905250"/>
            <a:ext cx="4876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Self-correct during investigation</a:t>
            </a:r>
            <a:endParaRPr/>
          </a:p>
        </p:txBody>
      </p:sp>
      <p:sp>
        <p:nvSpPr>
          <p:cNvPr id="445" name="TextBox 444" descr="{&quot;isTemplate&quot;:true,&quot;type&quot;:&quot;text&quot;}"/>
          <p:cNvSpPr txBox="1"/>
          <p:nvPr/>
        </p:nvSpPr>
        <p:spPr>
          <a:xfrm>
            <a:off x="1066800" y="4076700"/>
            <a:ext cx="48768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Agent fixed a temperature rise rate error in 3 report files.</a:t>
            </a:r>
            <a:endParaRPr/>
          </a:p>
        </p:txBody>
      </p:sp>
      <p:sp>
        <p:nvSpPr>
          <p:cNvPr id="446" name="Rectangle: Rounded Corners 445"/>
          <p:cNvSpPr/>
          <p:nvPr/>
        </p:nvSpPr>
        <p:spPr>
          <a:xfrm>
            <a:off x="6286500" y="1295400"/>
            <a:ext cx="5334000" cy="44196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7" name="Freeform: Shape 446"/>
          <p:cNvSpPr/>
          <p:nvPr/>
        </p:nvSpPr>
        <p:spPr>
          <a:xfrm>
            <a:off x="6286500" y="1295400"/>
            <a:ext cx="5334000" cy="4419600"/>
          </a:xfrm>
          <a:custGeom>
            <a:avLst/>
            <a:gdLst/>
            <a:ahLst/>
            <a:cxnLst/>
            <a:rect l="0" t="0" r="0" b="0"/>
            <a:pathLst>
              <a:path w="560" h="464">
                <a:moveTo>
                  <a:pt x="549" y="0"/>
                </a:moveTo>
                <a:cubicBezTo>
                  <a:pt x="554" y="0"/>
                  <a:pt x="559" y="5"/>
                  <a:pt x="560" y="10"/>
                </a:cubicBezTo>
                <a:cubicBezTo>
                  <a:pt x="559" y="8"/>
                  <a:pt x="557" y="6"/>
                  <a:pt x="554" y="6"/>
                </a:cubicBezTo>
                <a:lnTo>
                  <a:pt x="6" y="6"/>
                </a:lnTo>
                <a:cubicBezTo>
                  <a:pt x="3" y="6"/>
                  <a:pt x="1" y="8"/>
                  <a:pt x="0" y="11"/>
                </a:cubicBezTo>
                <a:cubicBezTo>
                  <a:pt x="1" y="5"/>
                  <a:pt x="6" y="0"/>
                  <a:pt x="12" y="0"/>
                </a:cubicBezTo>
                <a:lnTo>
                  <a:pt x="548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8" name="TextBox 447" descr="{&quot;isTemplate&quot;:true,&quot;type&quot;:&quot;text&quot;}"/>
          <p:cNvSpPr txBox="1"/>
          <p:nvPr/>
        </p:nvSpPr>
        <p:spPr>
          <a:xfrm>
            <a:off x="6438900" y="1447800"/>
            <a:ext cx="50292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F59E0B"/>
                </a:solidFill>
                <a:latin typeface="Microsoft YaHei"/>
                <a:ea typeface="Microsoft YaHei"/>
              </a:rPr>
              <a:t>HONEST LIMITATIONS</a:t>
            </a:r>
            <a:endParaRPr/>
          </a:p>
        </p:txBody>
      </p:sp>
      <p:sp>
        <p:nvSpPr>
          <p:cNvPr id="449" name="TextBox 448" descr="{&quot;isTemplate&quot;:true,&quot;type&quot;:&quot;text&quot;}"/>
          <p:cNvSpPr txBox="1"/>
          <p:nvPr/>
        </p:nvSpPr>
        <p:spPr>
          <a:xfrm>
            <a:off x="6438900" y="1657350"/>
            <a:ext cx="5029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Microsoft YaHei"/>
                <a:ea typeface="Microsoft YaHei"/>
              </a:rPr>
              <a:t>What we did not prove</a:t>
            </a:r>
            <a:endParaRPr/>
          </a:p>
        </p:txBody>
      </p:sp>
      <p:sp>
        <p:nvSpPr>
          <p:cNvPr id="450" name="Rectangle: Rounded Corners 449"/>
          <p:cNvSpPr/>
          <p:nvPr/>
        </p:nvSpPr>
        <p:spPr>
          <a:xfrm>
            <a:off x="6438900" y="2038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1" name="TextBox 450" descr="{&quot;isTemplate&quot;:true,&quot;type&quot;:&quot;text&quot;}"/>
          <p:cNvSpPr txBox="1"/>
          <p:nvPr/>
        </p:nvSpPr>
        <p:spPr>
          <a:xfrm>
            <a:off x="6534150" y="2076450"/>
            <a:ext cx="47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B45309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452" name="TextBox 451" descr="{&quot;isTemplate&quot;:true,&quot;type&quot;:&quot;text&quot;}"/>
          <p:cNvSpPr txBox="1"/>
          <p:nvPr/>
        </p:nvSpPr>
        <p:spPr>
          <a:xfrm>
            <a:off x="6781800" y="2038350"/>
            <a:ext cx="4686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No physical equipment connection</a:t>
            </a:r>
            <a:endParaRPr/>
          </a:p>
        </p:txBody>
      </p:sp>
      <p:sp>
        <p:nvSpPr>
          <p:cNvPr id="453" name="TextBox 452" descr="{&quot;isTemplate&quot;:true,&quot;type&quot;:&quot;text&quot;}"/>
          <p:cNvSpPr txBox="1"/>
          <p:nvPr/>
        </p:nvSpPr>
        <p:spPr>
          <a:xfrm>
            <a:off x="6781800" y="2209800"/>
            <a:ext cx="46863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All data is simulated. DSE6120 thresholds are UNVERIFIED.</a:t>
            </a:r>
            <a:endParaRPr/>
          </a:p>
        </p:txBody>
      </p:sp>
      <p:sp>
        <p:nvSpPr>
          <p:cNvPr id="454" name="Rectangle: Rounded Corners 453"/>
          <p:cNvSpPr/>
          <p:nvPr/>
        </p:nvSpPr>
        <p:spPr>
          <a:xfrm>
            <a:off x="6438900" y="2505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5" name="TextBox 454" descr="{&quot;isTemplate&quot;:true,&quot;type&quot;:&quot;text&quot;}"/>
          <p:cNvSpPr txBox="1"/>
          <p:nvPr/>
        </p:nvSpPr>
        <p:spPr>
          <a:xfrm>
            <a:off x="6534150" y="2543175"/>
            <a:ext cx="47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B45309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456" name="TextBox 455" descr="{&quot;isTemplate&quot;:true,&quot;type&quot;:&quot;text&quot;}"/>
          <p:cNvSpPr txBox="1"/>
          <p:nvPr/>
        </p:nvSpPr>
        <p:spPr>
          <a:xfrm>
            <a:off x="6781800" y="2505075"/>
            <a:ext cx="4686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No validated real-world cost savings</a:t>
            </a:r>
            <a:endParaRPr/>
          </a:p>
        </p:txBody>
      </p:sp>
      <p:sp>
        <p:nvSpPr>
          <p:cNvPr id="457" name="TextBox 456" descr="{&quot;isTemplate&quot;:true,&quot;type&quot;:&quot;text&quot;}"/>
          <p:cNvSpPr txBox="1"/>
          <p:nvPr/>
        </p:nvSpPr>
        <p:spPr>
          <a:xfrm>
            <a:off x="6781800" y="2676525"/>
            <a:ext cx="46863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No customer case studies; no measured downtime reduction.</a:t>
            </a:r>
            <a:endParaRPr/>
          </a:p>
        </p:txBody>
      </p:sp>
      <p:sp>
        <p:nvSpPr>
          <p:cNvPr id="458" name="Rectangle: Rounded Corners 457"/>
          <p:cNvSpPr/>
          <p:nvPr/>
        </p:nvSpPr>
        <p:spPr>
          <a:xfrm>
            <a:off x="6438900" y="29718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59" name="TextBox 458" descr="{&quot;isTemplate&quot;:true,&quot;type&quot;:&quot;text&quot;}"/>
          <p:cNvSpPr txBox="1"/>
          <p:nvPr/>
        </p:nvSpPr>
        <p:spPr>
          <a:xfrm>
            <a:off x="6534150" y="3009900"/>
            <a:ext cx="47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B45309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460" name="TextBox 459" descr="{&quot;isTemplate&quot;:true,&quot;type&quot;:&quot;text&quot;}"/>
          <p:cNvSpPr txBox="1"/>
          <p:nvPr/>
        </p:nvSpPr>
        <p:spPr>
          <a:xfrm>
            <a:off x="6781800" y="2971800"/>
            <a:ext cx="4686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Manual WorkBuddy triggering</a:t>
            </a:r>
            <a:endParaRPr/>
          </a:p>
        </p:txBody>
      </p:sp>
      <p:sp>
        <p:nvSpPr>
          <p:cNvPr id="461" name="TextBox 460" descr="{&quot;isTemplate&quot;:true,&quot;type&quot;:&quot;text&quot;}"/>
          <p:cNvSpPr txBox="1"/>
          <p:nvPr/>
        </p:nvSpPr>
        <p:spPr>
          <a:xfrm>
            <a:off x="6781800" y="3143250"/>
            <a:ext cx="46863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User copies question from dashboard to WorkBuddy. No direct API.</a:t>
            </a:r>
            <a:endParaRPr/>
          </a:p>
        </p:txBody>
      </p:sp>
      <p:sp>
        <p:nvSpPr>
          <p:cNvPr id="462" name="Rectangle: Rounded Corners 461"/>
          <p:cNvSpPr/>
          <p:nvPr/>
        </p:nvSpPr>
        <p:spPr>
          <a:xfrm>
            <a:off x="6438900" y="343852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3" name="TextBox 462" descr="{&quot;isTemplate&quot;:true,&quot;type&quot;:&quot;text&quot;}"/>
          <p:cNvSpPr txBox="1"/>
          <p:nvPr/>
        </p:nvSpPr>
        <p:spPr>
          <a:xfrm>
            <a:off x="6534150" y="3476625"/>
            <a:ext cx="47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B45309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464" name="TextBox 463" descr="{&quot;isTemplate&quot;:true,&quot;type&quot;:&quot;text&quot;}"/>
          <p:cNvSpPr txBox="1"/>
          <p:nvPr/>
        </p:nvSpPr>
        <p:spPr>
          <a:xfrm>
            <a:off x="6781800" y="3438525"/>
            <a:ext cx="4686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Single-user, local runtime</a:t>
            </a:r>
            <a:endParaRPr/>
          </a:p>
        </p:txBody>
      </p:sp>
      <p:sp>
        <p:nvSpPr>
          <p:cNvPr id="465" name="TextBox 464" descr="{&quot;isTemplate&quot;:true,&quot;type&quot;:&quot;text&quot;}"/>
          <p:cNvSpPr txBox="1"/>
          <p:nvPr/>
        </p:nvSpPr>
        <p:spPr>
          <a:xfrm>
            <a:off x="6781800" y="3609975"/>
            <a:ext cx="46863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File-based request system. No auth, no multi-user isolation.</a:t>
            </a:r>
            <a:endParaRPr/>
          </a:p>
        </p:txBody>
      </p:sp>
      <p:sp>
        <p:nvSpPr>
          <p:cNvPr id="466" name="Rectangle: Rounded Corners 465"/>
          <p:cNvSpPr/>
          <p:nvPr/>
        </p:nvSpPr>
        <p:spPr>
          <a:xfrm>
            <a:off x="6438900" y="39052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7" name="TextBox 466" descr="{&quot;isTemplate&quot;:true,&quot;type&quot;:&quot;text&quot;}"/>
          <p:cNvSpPr txBox="1"/>
          <p:nvPr/>
        </p:nvSpPr>
        <p:spPr>
          <a:xfrm>
            <a:off x="6534150" y="3943350"/>
            <a:ext cx="47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B45309"/>
                </a:solidFill>
                <a:latin typeface="Microsoft YaHei"/>
                <a:ea typeface="Microsoft YaHei"/>
              </a:rPr>
              <a:t>!</a:t>
            </a:r>
            <a:endParaRPr/>
          </a:p>
        </p:txBody>
      </p:sp>
      <p:sp>
        <p:nvSpPr>
          <p:cNvPr id="468" name="TextBox 467" descr="{&quot;isTemplate&quot;:true,&quot;type&quot;:&quot;text&quot;}"/>
          <p:cNvSpPr txBox="1"/>
          <p:nvPr/>
        </p:nvSpPr>
        <p:spPr>
          <a:xfrm>
            <a:off x="6781800" y="3905250"/>
            <a:ext cx="46863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F172A"/>
                </a:solidFill>
                <a:latin typeface="Microsoft YaHei"/>
                <a:ea typeface="Microsoft YaHei"/>
              </a:rPr>
              <a:t>Open investigation topics remain</a:t>
            </a:r>
            <a:endParaRPr/>
          </a:p>
        </p:txBody>
      </p:sp>
      <p:sp>
        <p:nvSpPr>
          <p:cNvPr id="469" name="TextBox 468" descr="{&quot;isTemplate&quot;:true,&quot;type&quot;:&quot;text&quot;}"/>
          <p:cNvSpPr txBox="1"/>
          <p:nvPr/>
        </p:nvSpPr>
        <p:spPr>
          <a:xfrm>
            <a:off x="6781800" y="4076700"/>
            <a:ext cx="4686300" cy="1809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0000"/>
              </a:lnSpc>
            </a:pPr>
            <a:r>
              <a:rPr lang="en-US" sz="825">
                <a:solidFill>
                  <a:srgbClr val="64748B"/>
                </a:solidFill>
                <a:latin typeface="Microsoft YaHei"/>
                <a:ea typeface="Microsoft YaHei"/>
              </a:rPr>
              <a:t>DSE6120 thresholds · ambient temp · ATS manufacturer specs.</a:t>
            </a:r>
            <a:endParaRPr/>
          </a:p>
        </p:txBody>
      </p:sp>
      <p:sp>
        <p:nvSpPr>
          <p:cNvPr id="470" name="Rectangle: Rounded Corners 469"/>
          <p:cNvSpPr/>
          <p:nvPr/>
        </p:nvSpPr>
        <p:spPr>
          <a:xfrm>
            <a:off x="571500" y="5848350"/>
            <a:ext cx="11049000" cy="342900"/>
          </a:xfrm>
          <a:prstGeom prst="roundRect">
            <a:avLst>
              <a:gd name="adj" fmla="val 27778"/>
            </a:avLst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1" name="TextBox 470" descr="{&quot;isTemplate&quot;:true,&quot;type&quot;:&quot;text&quot;}"/>
          <p:cNvSpPr txBox="1"/>
          <p:nvPr/>
        </p:nvSpPr>
        <p:spPr>
          <a:xfrm>
            <a:off x="3552825" y="5943600"/>
            <a:ext cx="14859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spc="113">
                <a:solidFill>
                  <a:srgbClr val="06B6D4"/>
                </a:solidFill>
                <a:latin typeface="Microsoft YaHei"/>
                <a:ea typeface="Microsoft YaHei"/>
              </a:rPr>
              <a:t>TRACK 2 PRINCIPLE</a:t>
            </a:r>
            <a:endParaRPr/>
          </a:p>
        </p:txBody>
      </p:sp>
      <p:sp>
        <p:nvSpPr>
          <p:cNvPr id="472" name="TextBox 471" descr="{&quot;isTemplate&quot;:true,&quot;type&quot;:&quot;text&quot;}"/>
          <p:cNvSpPr txBox="1"/>
          <p:nvPr/>
        </p:nvSpPr>
        <p:spPr>
          <a:xfrm>
            <a:off x="5153025" y="5943600"/>
            <a:ext cx="34956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Show genuine WorkBuddy usage, not marketing claims.</a:t>
            </a:r>
            <a:endParaRPr/>
          </a:p>
        </p:txBody>
      </p:sp>
      <p:sp>
        <p:nvSpPr>
          <p:cNvPr id="473" name="TextBox 472" descr="{&quot;isTemplate&quot;:true,&quot;type&quot;:&quot;text&quot;}"/>
          <p:cNvSpPr txBox="1"/>
          <p:nvPr/>
        </p:nvSpPr>
        <p:spPr>
          <a:xfrm>
            <a:off x="571500" y="6448425"/>
            <a:ext cx="32480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GenBuddy · DORMATHON 2026 · Track 2: Agentic Solutions</a:t>
            </a:r>
            <a:endParaRPr/>
          </a:p>
        </p:txBody>
      </p:sp>
      <p:sp>
        <p:nvSpPr>
          <p:cNvPr id="474" name="TextBox 473" descr="{&quot;isTemplate&quot;:true,&quot;type&quot;:&quot;text&quot;}"/>
          <p:cNvSpPr txBox="1"/>
          <p:nvPr/>
        </p:nvSpPr>
        <p:spPr>
          <a:xfrm>
            <a:off x="11229975" y="644842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09 / 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padding: 0, background: '#0B1E3F' }}&gt;&#10;  {/* Top accent bar */}&#10;  &lt;Box style={{ position: 'absolute', top: 0, left: 0, width: '1280px', height: 6, background: 'linear-gradient(90deg, #06B6D4 0%, #2563EB 100%)' }} /&gt;&#10;&#10;  {/* Section tag */}&#10;  &lt;Box style={{ position: 'absolute', top: 28, left: 60, padding: '4px 12px', borderRadius: 4, background: '#06B6D4' }}&gt;&#10;    &lt;Text style={{ fontSize: 11, color: '#0B1E3F', fontWeight: 700, letterSpacing: 1.5 }}&gt;10 / CONCLUSION&lt;/Text&gt;&#10;  &lt;/Box&gt;&#10;&#10;  {/* Title */}&#10;  &lt;Box style={{ position: 'absolute', top: 64, left: 60, width: 1160 }}&gt;&#10;    &lt;Text style={{ fontSize: 28, color: '#FFFFFF', fontWeight: 700, lineHeight: 1.2 }}&gt;&#10;      GenBuddy = a backup generator that thinks with you&#10;    &lt;/Text&gt;&#10;  &lt;/Box&gt;&#10;&#10;  {/* Three takeaway cards */}&#10;  &lt;Box style={{ position: 'absolute', top: 130, left: 60, right: 60, flexDirection: 'row', gap: 16 }}&gt;&#10;    {[&#10;      {&#10;        icon: '01',&#10;        title: 'Plans before acting',&#10;        desc: 'The agent builds a multi-step plan, then executes tools and reads evidence independently.',&#10;        color: '#06B6D4',&#10;      },&#10;      {&#10;        icon: '02',&#10;        title: 'Reasons, not just matches',&#10;        desc: 'Cross-scenario thermal comparison and timeline reconstruction go beyond pattern matching.',&#10;        color: '#2563EB',&#10;      },&#10;      {&#10;        icon: '03',&#10;        title: 'Adapts per question',&#10;        desc: 'Different plans, tools, scopes, and deliverables for readiness vs root cause investigations.',&#10;        color: '#7C3AED',&#10;      },&#10;    ].map((card, i) =&gt; (&#10;      &lt;Box key={i} style={{ flex: 1, padding: 18, borderRadius: 12, background: 'rgba(255,255,255,0.04)', border: '1px solid rgba(6,182,212,0.25)' }}&gt;&#10;        &lt;Text style={{ fontSize: 32, color: card.color, fontWeight: 800, lineHeight: 1, marginBottom: 12 }}&gt;{card.icon}&lt;/Text&gt;&#10;        &lt;Text style={{ fontSize: 18, color: '#FFFFFF', fontWeight: 700, marginBottom: 8 }}&gt;{card.title}&lt;/Text&gt;&#10;        &lt;Text style={{ fontSize: 12, color: '#CBD5E1', lineHeight: 1.5 }}&gt;{card.desc}&lt;/Text&gt;&#10;      &lt;/Box&gt;&#10;    ))}&#10;  &lt;/Box&gt;&#10;&#10;  {/* Demo access block */}&#10;  &lt;Box style={{ position: 'absolute', top: 320, left: 60, right: 60, padding: 18, borderRadius: 12, background: 'rgba(6,182,212,0.08)', border: '1px solid rgba(6,182,212,0.3)' }}&gt;&#10;    &lt;Text style={{ fontSize: 11, color: '#06B6D4', fontWeight: 700, letterSpacing: 1.5, marginBottom: 14 }}&gt;DEMO ACCESS · PLACEHOLDERS&lt;/Text&gt;&#10;&#10;    &lt;Box style={{ flexDirection: 'row', gap: 16 }}&gt;&#10;      {/* GitHub */}&#10;      &lt;Box style={{ flex: 1, padding: 14, borderRadius: 8, background: '#0F172A', border: '1px dashed #475569' }}&gt;&#10;        &lt;Text style={{ fontSize: 11, color: '#94A3B8', fontWeight: 700, letterSpacing: 1, marginBottom: 4 }}&gt;GITHUB&lt;/Text&gt;&#10;        &lt;Text style={{ fontSize: 13, color: '#06B6D4', fontWeight: 600, fontFamily: 'monospace' }}&gt;https://github.com/[your-org]/GenBuddy_Hackathon&lt;/Text&gt;&#10;        &lt;Text style={{ fontSize: 10, color: '#64748B', marginTop: 4 }}&gt;↳ Replace with actual repo URL before publishing&lt;/Text&gt;&#10;      &lt;/Box&gt;&#10;&#10;      {/* Deployed app */}&#10;      &lt;Box style={{ flex: 1, padding: 14, borderRadius: 8, background: '#0F172A', border: '1px dashed #475569' }}&gt;&#10;        &lt;Text style={{ fontSize: 11, color: '#94A3B8', fontWeight: 700, letterSpacing: 1, marginBottom: 4 }}&gt;DEPLOYED APP&lt;/Text&gt;&#10;        &lt;Text style={{ fontSize: 13, color: '#F59E0B', fontWeight: 600, fontFamily: 'monospace' }}&gt;PENDING DEPLOYMENT&lt;/Text&gt;&#10;        &lt;Text style={{ fontSize: 10, color: '#64748B', marginTop: 4 }}&gt;↳ Public URL will be added once deployed&lt;/Text&gt;&#10;      &lt;/Box&gt;&#10;    &lt;/Box&gt;&#10;  &lt;/Box&gt;&#10;&#10;  {/* Closing statement */}&#10;  &lt;Box style={{ position: 'absolute', top: 520, left: 60, right: 60, alignItems: 'center' }}&gt;&#10;    &lt;Text style={{ fontSize: 20, color: '#FFFFFF', fontWeight: 600, textAlign: 'center', lineHeight: 1.4 }}&gt;&#10;      Thank you.&#10;    &lt;/Text&gt;&#10;    &lt;Text style={{ fontSize: 13, color: '#06B6D4', fontWeight: 500, textAlign: 'center', marginTop: 6 }}&gt;&#10;      Questions welcome. All evidence files are open in the repo: docs/workbuddy_usage_evidence.md · reports/ai_*.md&#10;    &lt;/Text&gt;&#10;  &lt;/Box&gt;&#10;&#10;  {/* Footer */}&#10;  &lt;Box style={{ position: 'absolute', bottom: 28, left: 60, right: 60, flexDirection: 'row', justifyContent: 'space-between', alignItems: 'center' }}&gt;&#10;    &lt;Text style={{ fontSize: 12, color: '#64748B' }}&gt;GenBuddy · DORMATHON 2026 · Track 2: Agentic Solutions&lt;/Text&gt;&#10;    &lt;Text style={{ fontSize: 12, color: '#64748B' }}&gt;10 / 1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E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06B6D4"/>
              </a:gs>
              <a:gs pos="100000">
                <a:srgbClr val="2563EB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7" name="Rectangle: Rounded Corners 26"/>
          <p:cNvSpPr/>
          <p:nvPr/>
        </p:nvSpPr>
        <p:spPr>
          <a:xfrm>
            <a:off x="571500" y="266700"/>
            <a:ext cx="1419225" cy="209550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Box 27" descr="{&quot;isTemplate&quot;:true,&quot;type&quot;:&quot;text&quot;}"/>
          <p:cNvSpPr txBox="1"/>
          <p:nvPr/>
        </p:nvSpPr>
        <p:spPr>
          <a:xfrm>
            <a:off x="685800" y="304800"/>
            <a:ext cx="1190625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B1E3F"/>
                </a:solidFill>
                <a:latin typeface="Microsoft YaHei"/>
                <a:ea typeface="Microsoft YaHei"/>
              </a:rPr>
              <a:t>10 / CONCLUSION</a:t>
            </a:r>
            <a:endParaRPr/>
          </a:p>
        </p:txBody>
      </p:sp>
      <p:sp>
        <p:nvSpPr>
          <p:cNvPr id="29" name="TextBox 28" descr="{&quot;isTemplate&quot;:true,&quot;type&quot;:&quot;text&quot;}"/>
          <p:cNvSpPr txBox="1"/>
          <p:nvPr/>
        </p:nvSpPr>
        <p:spPr>
          <a:xfrm>
            <a:off x="571500" y="609600"/>
            <a:ext cx="110490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2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GenBuddy = a backup generator that thinks with you</a:t>
            </a:r>
            <a:endParaRPr/>
          </a:p>
        </p:txBody>
      </p:sp>
      <p:sp>
        <p:nvSpPr>
          <p:cNvPr id="30" name="Rectangle: Rounded Corners 29"/>
          <p:cNvSpPr/>
          <p:nvPr/>
        </p:nvSpPr>
        <p:spPr>
          <a:xfrm>
            <a:off x="571500" y="1238250"/>
            <a:ext cx="3581400" cy="1533525"/>
          </a:xfrm>
          <a:prstGeom prst="roundRect">
            <a:avLst>
              <a:gd name="adj" fmla="val 745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Box 30" descr="{&quot;isTemplate&quot;:true,&quot;type&quot;:&quot;text&quot;}"/>
          <p:cNvSpPr txBox="1"/>
          <p:nvPr/>
        </p:nvSpPr>
        <p:spPr>
          <a:xfrm>
            <a:off x="742950" y="1409700"/>
            <a:ext cx="32385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6B6D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" name="TextBox 31" descr="{&quot;isTemplate&quot;:true,&quot;type&quot;:&quot;text&quot;}"/>
          <p:cNvSpPr txBox="1"/>
          <p:nvPr/>
        </p:nvSpPr>
        <p:spPr>
          <a:xfrm>
            <a:off x="742950" y="1895475"/>
            <a:ext cx="3238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Plans before acting</a:t>
            </a:r>
            <a:endParaRPr/>
          </a:p>
        </p:txBody>
      </p:sp>
      <p:sp>
        <p:nvSpPr>
          <p:cNvPr id="33" name="TextBox 32" descr="{&quot;isTemplate&quot;:true,&quot;type&quot;:&quot;text&quot;}"/>
          <p:cNvSpPr txBox="1"/>
          <p:nvPr/>
        </p:nvSpPr>
        <p:spPr>
          <a:xfrm>
            <a:off x="742950" y="2181225"/>
            <a:ext cx="32385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The agent builds a multi-step plan, then executes tools and reads evidence independently.</a:t>
            </a:r>
            <a:endParaRPr/>
          </a:p>
        </p:txBody>
      </p:sp>
      <p:sp>
        <p:nvSpPr>
          <p:cNvPr id="34" name="Rectangle: Rounded Corners 33"/>
          <p:cNvSpPr/>
          <p:nvPr/>
        </p:nvSpPr>
        <p:spPr>
          <a:xfrm>
            <a:off x="4305300" y="1238250"/>
            <a:ext cx="3581400" cy="1533525"/>
          </a:xfrm>
          <a:prstGeom prst="roundRect">
            <a:avLst>
              <a:gd name="adj" fmla="val 745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Box 34" descr="{&quot;isTemplate&quot;:true,&quot;type&quot;:&quot;text&quot;}"/>
          <p:cNvSpPr txBox="1"/>
          <p:nvPr/>
        </p:nvSpPr>
        <p:spPr>
          <a:xfrm>
            <a:off x="4476750" y="1409700"/>
            <a:ext cx="32385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2563EB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6" name="TextBox 35" descr="{&quot;isTemplate&quot;:true,&quot;type&quot;:&quot;text&quot;}"/>
          <p:cNvSpPr txBox="1"/>
          <p:nvPr/>
        </p:nvSpPr>
        <p:spPr>
          <a:xfrm>
            <a:off x="4476750" y="1895475"/>
            <a:ext cx="3238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Reasons, not just matches</a:t>
            </a:r>
            <a:endParaRPr/>
          </a:p>
        </p:txBody>
      </p:sp>
      <p:sp>
        <p:nvSpPr>
          <p:cNvPr id="37" name="TextBox 36" descr="{&quot;isTemplate&quot;:true,&quot;type&quot;:&quot;text&quot;}"/>
          <p:cNvSpPr txBox="1"/>
          <p:nvPr/>
        </p:nvSpPr>
        <p:spPr>
          <a:xfrm>
            <a:off x="4476750" y="2181225"/>
            <a:ext cx="32385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Cross-scenario thermal comparison and timeline reconstruction go beyond pattern matching.</a:t>
            </a:r>
            <a:endParaRPr/>
          </a:p>
        </p:txBody>
      </p:sp>
      <p:sp>
        <p:nvSpPr>
          <p:cNvPr id="38" name="Rectangle: Rounded Corners 37"/>
          <p:cNvSpPr/>
          <p:nvPr/>
        </p:nvSpPr>
        <p:spPr>
          <a:xfrm>
            <a:off x="8039100" y="1238250"/>
            <a:ext cx="3581400" cy="1533525"/>
          </a:xfrm>
          <a:prstGeom prst="roundRect">
            <a:avLst>
              <a:gd name="adj" fmla="val 745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Box 38" descr="{&quot;isTemplate&quot;:true,&quot;type&quot;:&quot;text&quot;}"/>
          <p:cNvSpPr txBox="1"/>
          <p:nvPr/>
        </p:nvSpPr>
        <p:spPr>
          <a:xfrm>
            <a:off x="8210550" y="1409700"/>
            <a:ext cx="3238500" cy="3714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7C3AED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0" name="TextBox 39" descr="{&quot;isTemplate&quot;:true,&quot;type&quot;:&quot;text&quot;}"/>
          <p:cNvSpPr txBox="1"/>
          <p:nvPr/>
        </p:nvSpPr>
        <p:spPr>
          <a:xfrm>
            <a:off x="8210550" y="1895475"/>
            <a:ext cx="3238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Adapts per question</a:t>
            </a:r>
            <a:endParaRPr/>
          </a:p>
        </p:txBody>
      </p:sp>
      <p:sp>
        <p:nvSpPr>
          <p:cNvPr id="41" name="TextBox 40" descr="{&quot;isTemplate&quot;:true,&quot;type&quot;:&quot;text&quot;}"/>
          <p:cNvSpPr txBox="1"/>
          <p:nvPr/>
        </p:nvSpPr>
        <p:spPr>
          <a:xfrm>
            <a:off x="8210550" y="2181225"/>
            <a:ext cx="323850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900">
                <a:solidFill>
                  <a:srgbClr val="CBD5E1"/>
                </a:solidFill>
                <a:latin typeface="Microsoft YaHei"/>
                <a:ea typeface="Microsoft YaHei"/>
              </a:rPr>
              <a:t>Different plans, tools, scopes, and deliverables for readiness vs root cause investigations.</a:t>
            </a:r>
            <a:endParaRPr/>
          </a:p>
        </p:txBody>
      </p:sp>
      <p:sp>
        <p:nvSpPr>
          <p:cNvPr id="42" name="Rectangle: Rounded Corners 41"/>
          <p:cNvSpPr/>
          <p:nvPr/>
        </p:nvSpPr>
        <p:spPr>
          <a:xfrm>
            <a:off x="571500" y="3048000"/>
            <a:ext cx="11049000" cy="1352550"/>
          </a:xfrm>
          <a:prstGeom prst="roundRect">
            <a:avLst>
              <a:gd name="adj" fmla="val 8451"/>
            </a:avLst>
          </a:prstGeom>
          <a:solidFill>
            <a:srgbClr val="06B6D4">
              <a:alpha val="8000"/>
            </a:srgbClr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Box 42" descr="{&quot;isTemplate&quot;:true,&quot;type&quot;:&quot;text&quot;}"/>
          <p:cNvSpPr txBox="1"/>
          <p:nvPr/>
        </p:nvSpPr>
        <p:spPr>
          <a:xfrm>
            <a:off x="742950" y="3219450"/>
            <a:ext cx="1070610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113">
                <a:solidFill>
                  <a:srgbClr val="06B6D4"/>
                </a:solidFill>
                <a:latin typeface="Microsoft YaHei"/>
                <a:ea typeface="Microsoft YaHei"/>
              </a:rPr>
              <a:t>DEMO ACCESS · PLACEHOLDERS</a:t>
            </a:r>
            <a:endParaRPr/>
          </a:p>
        </p:txBody>
      </p:sp>
      <p:sp>
        <p:nvSpPr>
          <p:cNvPr id="44" name="Rectangle: Rounded Corners 43"/>
          <p:cNvSpPr/>
          <p:nvPr/>
        </p:nvSpPr>
        <p:spPr>
          <a:xfrm>
            <a:off x="742950" y="3486150"/>
            <a:ext cx="5276850" cy="742950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5" name="TextBox 44" descr="{&quot;isTemplate&quot;:true,&quot;type&quot;:&quot;text&quot;}"/>
          <p:cNvSpPr txBox="1"/>
          <p:nvPr/>
        </p:nvSpPr>
        <p:spPr>
          <a:xfrm>
            <a:off x="876300" y="3619500"/>
            <a:ext cx="50101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75">
                <a:solidFill>
                  <a:srgbClr val="94A3B8"/>
                </a:solidFill>
                <a:latin typeface="Microsoft YaHei"/>
                <a:ea typeface="Microsoft YaHei"/>
              </a:rPr>
              <a:t>GITHUB</a:t>
            </a:r>
            <a:endParaRPr/>
          </a:p>
        </p:txBody>
      </p:sp>
      <p:sp>
        <p:nvSpPr>
          <p:cNvPr id="46" name="TextBox 45" descr="{&quot;isTemplate&quot;:true,&quot;type&quot;:&quot;text&quot;}"/>
          <p:cNvSpPr txBox="1"/>
          <p:nvPr/>
        </p:nvSpPr>
        <p:spPr>
          <a:xfrm>
            <a:off x="876300" y="3790950"/>
            <a:ext cx="5010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dirty="0">
                <a:solidFill>
                  <a:srgbClr val="06B6D4"/>
                </a:solidFill>
                <a:latin typeface="monospace"/>
                <a:ea typeface="monospace"/>
              </a:rPr>
              <a:t>https://github.com/cleo-blayea/Dormathon_Hackathon_Cleo.git</a:t>
            </a:r>
            <a:endParaRPr dirty="0"/>
          </a:p>
        </p:txBody>
      </p:sp>
      <p:sp>
        <p:nvSpPr>
          <p:cNvPr id="48" name="Rectangle: Rounded Corners 47"/>
          <p:cNvSpPr/>
          <p:nvPr/>
        </p:nvSpPr>
        <p:spPr>
          <a:xfrm>
            <a:off x="6172200" y="3486150"/>
            <a:ext cx="5276850" cy="742950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12700">
            <a:solidFill>
              <a:srgbClr val="47556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9" name="TextBox 48" descr="{&quot;isTemplate&quot;:true,&quot;type&quot;:&quot;text&quot;}"/>
          <p:cNvSpPr txBox="1"/>
          <p:nvPr/>
        </p:nvSpPr>
        <p:spPr>
          <a:xfrm>
            <a:off x="6305550" y="3619500"/>
            <a:ext cx="5010150" cy="133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825" b="1" spc="75" dirty="0">
                <a:solidFill>
                  <a:srgbClr val="94A3B8"/>
                </a:solidFill>
                <a:latin typeface="Microsoft YaHei"/>
                <a:ea typeface="Microsoft YaHei"/>
              </a:rPr>
              <a:t>DEPLOYED APP</a:t>
            </a:r>
            <a:endParaRPr dirty="0"/>
          </a:p>
        </p:txBody>
      </p:sp>
      <p:sp>
        <p:nvSpPr>
          <p:cNvPr id="50" name="TextBox 49" descr="{&quot;isTemplate&quot;:true,&quot;type&quot;:&quot;text&quot;}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05550" y="3790950"/>
            <a:ext cx="50101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MY" sz="1000" dirty="0">
                <a:hlinkClick r:id="rId2"/>
              </a:rPr>
              <a:t>http://127.0.0.1:5000/</a:t>
            </a:r>
            <a:endParaRPr dirty="0"/>
          </a:p>
        </p:txBody>
      </p:sp>
      <p:sp>
        <p:nvSpPr>
          <p:cNvPr id="52" name="TextBox 51" descr="{&quot;isTemplate&quot;:true,&quot;type&quot;:&quot;text&quot;}"/>
          <p:cNvSpPr txBox="1"/>
          <p:nvPr/>
        </p:nvSpPr>
        <p:spPr>
          <a:xfrm>
            <a:off x="5572125" y="4953000"/>
            <a:ext cx="10572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Microsoft YaHei"/>
                <a:ea typeface="Microsoft YaHei"/>
              </a:rPr>
              <a:t>Thank you.</a:t>
            </a:r>
            <a:endParaRPr dirty="0"/>
          </a:p>
        </p:txBody>
      </p:sp>
      <p:sp>
        <p:nvSpPr>
          <p:cNvPr id="53" name="TextBox 52" descr="{&quot;isTemplate&quot;:true,&quot;type&quot;:&quot;text&quot;}"/>
          <p:cNvSpPr txBox="1"/>
          <p:nvPr/>
        </p:nvSpPr>
        <p:spPr>
          <a:xfrm>
            <a:off x="2714625" y="5334000"/>
            <a:ext cx="67722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06B6D4"/>
                </a:solidFill>
                <a:latin typeface="Microsoft YaHei"/>
                <a:ea typeface="Microsoft YaHei"/>
              </a:rPr>
              <a:t>Questions welcome. All evidence files are open in the repo: docs/workbuddy_usage_evidence.md · reports/ai_*.md</a:t>
            </a:r>
            <a:endParaRPr/>
          </a:p>
        </p:txBody>
      </p:sp>
      <p:sp>
        <p:nvSpPr>
          <p:cNvPr id="54" name="TextBox 53" descr="{&quot;isTemplate&quot;:true,&quot;type&quot;:&quot;text&quot;}"/>
          <p:cNvSpPr txBox="1"/>
          <p:nvPr/>
        </p:nvSpPr>
        <p:spPr>
          <a:xfrm>
            <a:off x="571500" y="6448425"/>
            <a:ext cx="32480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GenBuddy · DORMATHON 2026 · Track 2: Agentic Solutions</a:t>
            </a:r>
            <a:endParaRPr/>
          </a:p>
        </p:txBody>
      </p:sp>
      <p:sp>
        <p:nvSpPr>
          <p:cNvPr id="55" name="TextBox 54" descr="{&quot;isTemplate&quot;:true,&quot;type&quot;:&quot;text&quot;}"/>
          <p:cNvSpPr txBox="1"/>
          <p:nvPr/>
        </p:nvSpPr>
        <p:spPr>
          <a:xfrm>
            <a:off x="11229975" y="6448425"/>
            <a:ext cx="390525" cy="1428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00">
                <a:solidFill>
                  <a:srgbClr val="64748B"/>
                </a:solidFill>
                <a:latin typeface="Microsoft YaHei"/>
                <a:ea typeface="Microsoft YaHei"/>
              </a:rPr>
              <a:t>10 / 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1633</Words>
  <Application>Microsoft Office PowerPoint</Application>
  <PresentationFormat>Widescreen</PresentationFormat>
  <Paragraphs>336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monospace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Cleo Eng Yee LAW</cp:lastModifiedBy>
  <cp:revision>1</cp:revision>
  <dcterms:created xsi:type="dcterms:W3CDTF">2026-10-10T21:08:10Z</dcterms:created>
  <dcterms:modified xsi:type="dcterms:W3CDTF">2026-10-10T13:57:56Z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{"AIGC":{"Label":"1","ContentProducer":"00119111010856365494821B355","ProduceID":"01a125bcadd07e36829a40eefc5e7708","ReservedCode1":"","ContentPropagator":"00119111010856365494821B355","PropagateID":"01a125bcadd07e36829a40eefc5e7708","ReservedCode2":""}}</vt:lpwstr>
  </property>
</Properties>
</file>